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6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 wrap="square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B2C4A"/>
                </a:solidFill>
                <a:latin typeface="Calibri"/>
              </a:rPr>
              <a:t>TITLE PAGE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47B20"/>
                </a:solidFill>
                <a:latin typeface="Calibri"/>
              </a:rPr>
              <a:t>MOLE  ·  Mine Observation &amp; Live-alert Engine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F47B20"/>
                </a:solidFill>
                <a:latin typeface="Calibri"/>
              </a:rPr>
              <a:t>Problem Statement ID   </a:t>
            </a:r>
            <a:r>
              <a:rPr sz="1300" b="0">
                <a:solidFill>
                  <a:srgbClr val="0B2C4A"/>
                </a:solidFill>
                <a:latin typeface="Calibri"/>
              </a:rPr>
              <a:t>SIH26025</a:t>
            </a:r>
            <a:endParaRPr lang="en-US" dirty="0"/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F47B20"/>
                </a:solidFill>
                <a:latin typeface="Calibri"/>
              </a:rPr>
              <a:t>Problem Statement Title   </a:t>
            </a:r>
            <a:r>
              <a:rPr sz="1300" b="0">
                <a:solidFill>
                  <a:srgbClr val="0B2C4A"/>
                </a:solidFill>
                <a:latin typeface="Calibri"/>
              </a:rPr>
              <a:t>Development of an AI-enabled Low Cost Real Time Mine Subsidence Monitoring, Prediction and Early Warning System for Underground Coal Mines in India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F47B20"/>
                </a:solidFill>
                <a:latin typeface="Calibri"/>
              </a:rPr>
              <a:t>Theme   </a:t>
            </a:r>
            <a:r>
              <a:rPr sz="1300" b="0">
                <a:solidFill>
                  <a:srgbClr val="0B2C4A"/>
                </a:solidFill>
                <a:latin typeface="Calibri"/>
              </a:rPr>
              <a:t>Disaster Management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F47B20"/>
                </a:solidFill>
                <a:latin typeface="Calibri"/>
              </a:rPr>
              <a:t>PS Category   </a:t>
            </a:r>
            <a:r>
              <a:rPr sz="1300" b="0">
                <a:solidFill>
                  <a:srgbClr val="0B2C4A"/>
                </a:solidFill>
                <a:latin typeface="Calibri"/>
              </a:rPr>
              <a:t>Hardware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F47B20"/>
                </a:solidFill>
                <a:latin typeface="Calibri"/>
              </a:rPr>
              <a:t>Organisation   </a:t>
            </a:r>
            <a:r>
              <a:rPr sz="1300" b="0">
                <a:solidFill>
                  <a:srgbClr val="0B2C4A"/>
                </a:solidFill>
                <a:latin typeface="Calibri"/>
              </a:rPr>
              <a:t>Ministry of Coal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F47B20"/>
                </a:solidFill>
                <a:latin typeface="Calibri"/>
              </a:rPr>
              <a:t>Team ID   </a:t>
            </a:r>
            <a:r>
              <a:rPr sz="1300" b="0">
                <a:solidFill>
                  <a:srgbClr val="0B2C4A"/>
                </a:solidFill>
                <a:latin typeface="Calibri"/>
              </a:rPr>
              <a:t>To be filled on the SIH portal after college shortlist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F47B20"/>
                </a:solidFill>
                <a:latin typeface="Calibri"/>
              </a:rPr>
              <a:t>Team Name   </a:t>
            </a:r>
            <a:r>
              <a:rPr sz="1300" b="0">
                <a:solidFill>
                  <a:srgbClr val="0B2C4A"/>
                </a:solidFill>
                <a:latin typeface="Calibri"/>
              </a:rPr>
              <a:t>WE COOK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F47B20"/>
                </a:solidFill>
                <a:latin typeface="Calibri"/>
              </a:rPr>
              <a:t>Idea   </a:t>
            </a:r>
            <a:r>
              <a:rPr sz="1300" b="0">
                <a:solidFill>
                  <a:srgbClr val="0B2C4A"/>
                </a:solidFill>
                <a:latin typeface="Calibri"/>
              </a:rPr>
              <a:t>MOLE — monitor the model, warn from evidence, inspect on command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19072" y="91440"/>
            <a:ext cx="7818120" cy="804672"/>
          </a:xfrm>
        </p:spPr>
        <p:txBody>
          <a:bodyPr wrap="square"/>
          <a:lstStyle/>
          <a:p>
            <a:pPr eaLnBrk="1" hangingPunct="1" algn="l">
              <a:spcAft>
                <a:spcPts val="0"/>
              </a:spcAft>
            </a:pPr>
            <a:r>
              <a:rPr sz="2600" b="1">
                <a:solidFill>
                  <a:srgbClr val="0B2C4A"/>
                </a:solidFill>
                <a:latin typeface="Calibri"/>
              </a:rPr>
              <a:t>MOLE — Proposed Solution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0" y="0"/>
            <a:ext cx="1" cy="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47B2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WE COOK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320040" y="9875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C4A"/>
                </a:solidFill>
                <a:latin typeface="Calibri"/>
              </a:rPr>
              <a:t>Two fixed nodes watch the model. Laptop rules + sklearn explain. Rover inspects only after the officer decides.</a:t>
            </a:r>
          </a:p>
        </p:txBody>
      </p:sp>
      <p:pic>
        <p:nvPicPr>
          <p:cNvPr id="15364" name="Picture 15363" descr="solution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298448"/>
            <a:ext cx="11521440" cy="2029968"/>
          </a:xfrm>
          <a:prstGeom prst="rect">
            <a:avLst/>
          </a:prstGeom>
        </p:spPr>
      </p:pic>
      <p:sp>
        <p:nvSpPr>
          <p:cNvPr id="15365" name="TextBox 15364"/>
          <p:cNvSpPr txBox="1"/>
          <p:nvPr/>
        </p:nvSpPr>
        <p:spPr>
          <a:xfrm>
            <a:off x="320040" y="3383280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B2C4A"/>
                </a:solidFill>
                <a:latin typeface="Calibri"/>
              </a:rPr>
              <a:t>How this addresses SIH26025  ·  innovation = honest mapping, not a bigger claim</a:t>
            </a:r>
          </a:p>
        </p:txBody>
      </p:sp>
      <p:graphicFrame>
        <p:nvGraphicFramePr>
          <p:cNvPr id="15366" name="Table 15365"/>
          <p:cNvGraphicFramePr>
            <a:graphicFrameLocks noGrp="1"/>
          </p:cNvGraphicFramePr>
          <p:nvPr/>
        </p:nvGraphicFramePr>
        <p:xfrm>
          <a:off x="320040" y="3621024"/>
          <a:ext cx="1152143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074"/>
                <a:gridCol w="4816339"/>
                <a:gridCol w="4533025"/>
              </a:tblGrid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PS word</a:t>
                      </a:r>
                    </a:p>
                  </a:txBody>
                  <a:tcPr anchor="ctr"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MOLE actually does</a:t>
                      </a:r>
                    </a:p>
                  </a:txBody>
                  <a:tcPr anchor="ctr"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we do not claim</a:t>
                      </a:r>
                    </a:p>
                  </a:txBody>
                  <a:tcPr anchor="ctr">
                    <a:solidFill>
                      <a:srgbClr val="0B2C4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Live Node A + Node B, source-tagged and timed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Rover IMU is not Node 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Early warning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Rules: 3 samples → WATCH/ALERT; stale &gt;5 s → UNKNOWN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Green = healthy data, not a certified-safe mine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AI-enabled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Isolation Forest + LOF vs this rig’s NORMAL; score + top feature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No LLM, no camera vision, no collapse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Prediction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Holdout-selected Ridge: next 30 s of the same signals + MAE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Not a mine-subsidence or roof-fall forecast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Uniqueness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ML cannot clear a rule latch. A vs B residual. Rover only after a warning.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Not a gas-car maze robot; not LoRa; not autonomous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19072" y="91440"/>
            <a:ext cx="7818120" cy="804672"/>
          </a:xfrm>
        </p:spPr>
        <p:txBody>
          <a:bodyPr wrap="square"/>
          <a:lstStyle/>
          <a:p>
            <a:pPr eaLnBrk="1" hangingPunct="1" algn="l">
              <a:spcAft>
                <a:spcPts val="0"/>
              </a:spcAft>
            </a:pPr>
            <a:r>
              <a:rPr sz="2600" b="1">
                <a:solidFill>
                  <a:srgbClr val="0B2C4A"/>
                </a:solidFill>
                <a:latin typeface="Calibri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1" cy="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47B2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WE COOK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20040" y="932688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B2C4A"/>
                </a:solidFill>
                <a:latin typeface="Calibri"/>
              </a:rPr>
              <a:t>Technologies + method  ·  two radios  ·  one local laptop  ·  rover is not step 6 of USB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188720"/>
            <a:ext cx="2788920" cy="107899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Rectangle 17412"/>
          <p:cNvSpPr/>
          <p:nvPr/>
        </p:nvSpPr>
        <p:spPr>
          <a:xfrm>
            <a:off x="320040" y="1188720"/>
            <a:ext cx="91440" cy="107899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4" name="Picture 17413" descr="icon_no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1280160"/>
            <a:ext cx="347472" cy="347472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886968" y="126187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C4A"/>
                </a:solidFill>
                <a:latin typeface="Calibri"/>
              </a:rPr>
              <a:t>NODES A + B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84632" y="1645920"/>
            <a:ext cx="2505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ESP32-WROOM-32 · MPU 0x68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A5563"/>
                </a:solidFill>
                <a:latin typeface="Calibri"/>
              </a:rPr>
              <a:t>A: slider GPIO34   B: no slider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46120" y="1188720"/>
            <a:ext cx="2788920" cy="107899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3246120" y="1188720"/>
            <a:ext cx="91440" cy="1078992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9" name="Picture 17418" descr="icon_us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1280160"/>
            <a:ext cx="347472" cy="347472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3813048" y="126187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C4A"/>
                </a:solidFill>
                <a:latin typeface="Calibri"/>
              </a:rPr>
              <a:t>RECEIVER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410712" y="1645920"/>
            <a:ext cx="2505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Waveshare ESP32-S3-Zero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A5563"/>
                </a:solidFill>
                <a:latin typeface="Calibri"/>
              </a:rPr>
              <a:t>ESP-NOW ch1 → USB JSON · no ML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6172200" y="1188720"/>
            <a:ext cx="2788920" cy="107899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ectangle 17422"/>
          <p:cNvSpPr/>
          <p:nvPr/>
        </p:nvSpPr>
        <p:spPr>
          <a:xfrm>
            <a:off x="6172200" y="1188720"/>
            <a:ext cx="91440" cy="1078992"/>
          </a:xfrm>
          <a:prstGeom prst="rect">
            <a:avLst/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4" name="Picture 17423" descr="icon_m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1280160"/>
            <a:ext cx="347472" cy="347472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6739128" y="126187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47B20"/>
                </a:solidFill>
                <a:latin typeface="Calibri"/>
              </a:rPr>
              <a:t>LAPTOP ML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336792" y="1645920"/>
            <a:ext cx="2505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Flask · SQLite · scikit-learn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A5563"/>
                </a:solidFill>
                <a:latin typeface="Calibri"/>
              </a:rPr>
              <a:t>Isolation Forest + Ridge 30 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9098280" y="1188720"/>
            <a:ext cx="2788920" cy="107899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Rectangle 17427"/>
          <p:cNvSpPr/>
          <p:nvPr/>
        </p:nvSpPr>
        <p:spPr>
          <a:xfrm>
            <a:off x="9098280" y="1188720"/>
            <a:ext cx="91440" cy="107899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9" name="Picture 17428" descr="icon_insp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2872" y="1280160"/>
            <a:ext cx="347472" cy="347472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9665208" y="126187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E7C7B"/>
                </a:solidFill>
                <a:latin typeface="Calibri"/>
              </a:rPr>
              <a:t>ROVER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9262872" y="1645920"/>
            <a:ext cx="25054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A1A1A"/>
                </a:solidFill>
                <a:latin typeface="Calibri"/>
              </a:rPr>
              <a:t>L298N · HC-SR04 · IR GPIO19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A5563"/>
                </a:solidFill>
                <a:latin typeface="Calibri"/>
              </a:rPr>
              <a:t>MQ-7 raw · AP Mine-Rover-AP</a:t>
            </a:r>
          </a:p>
        </p:txBody>
      </p:sp>
      <p:pic>
        <p:nvPicPr>
          <p:cNvPr id="17432" name="Picture 17431" descr="architecture_lane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340864"/>
            <a:ext cx="11521440" cy="2267712"/>
          </a:xfrm>
          <a:prstGeom prst="rect">
            <a:avLst/>
          </a:prstGeom>
        </p:spPr>
      </p:pic>
      <p:sp>
        <p:nvSpPr>
          <p:cNvPr id="17433" name="Rounded Rectangle 17432"/>
          <p:cNvSpPr/>
          <p:nvPr/>
        </p:nvSpPr>
        <p:spPr>
          <a:xfrm>
            <a:off x="320040" y="4681728"/>
            <a:ext cx="3730752" cy="1481328"/>
          </a:xfrm>
          <a:prstGeom prst="roundRect">
            <a:avLst>
              <a:gd name="adj" fmla="val 8000"/>
            </a:avLst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TextBox 17433"/>
          <p:cNvSpPr txBox="1"/>
          <p:nvPr/>
        </p:nvSpPr>
        <p:spPr>
          <a:xfrm>
            <a:off x="429768" y="4718304"/>
            <a:ext cx="3511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RULES  (latch)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29768" y="4992624"/>
            <a:ext cx="351129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3 consecutive samples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WATCH  3° or 2 mm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ALERT  6° or 4 mm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Stale &gt;5 s → UNKNOWN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215384" y="4681728"/>
            <a:ext cx="3730752" cy="1481328"/>
          </a:xfrm>
          <a:prstGeom prst="roundRect">
            <a:avLst>
              <a:gd name="adj" fmla="val 8000"/>
            </a:avLst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TextBox 17436"/>
          <p:cNvSpPr txBox="1"/>
          <p:nvPr/>
        </p:nvSpPr>
        <p:spPr>
          <a:xfrm>
            <a:off x="4325112" y="4718304"/>
            <a:ext cx="3511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ISOLATION FOREST + LOF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25112" y="4992624"/>
            <a:ext cx="351129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Unusual vs this rig’s NORMAL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Prior READY, or 120 live samples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Score + top feature on screen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Cannot clear a rule latch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8110728" y="4681728"/>
            <a:ext cx="3730752" cy="1481328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8220456" y="4718304"/>
            <a:ext cx="35112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30 s FORECAST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8220456" y="4992624"/>
            <a:ext cx="351129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Holdout-selected Ridge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Next 30 s of same signals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MAE shown on the chart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•  Not a collapse prediction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19072" y="91440"/>
            <a:ext cx="7818120" cy="804672"/>
          </a:xfrm>
        </p:spPr>
        <p:txBody>
          <a:bodyPr wrap="square"/>
          <a:lstStyle/>
          <a:p>
            <a:pPr eaLnBrk="1" hangingPunct="1" algn="l">
              <a:spcAft>
                <a:spcPts val="0"/>
              </a:spcAft>
            </a:pPr>
            <a:r>
              <a:rPr sz="2600" b="1">
                <a:solidFill>
                  <a:srgbClr val="0B2C4A"/>
                </a:solidFill>
                <a:latin typeface="Calibri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1" cy="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47B2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WE COOK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20040" y="932688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2C4A"/>
                </a:solidFill>
                <a:latin typeface="Calibri"/>
              </a:rPr>
              <a:t>We can run this on a table this week. It is not a real mine system.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188720"/>
            <a:ext cx="2788920" cy="98755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3" name="Picture 17412" descr="icon_o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384048" cy="38404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850392" y="1243584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E7C7B"/>
                </a:solidFill>
                <a:latin typeface="Calibri"/>
              </a:rPr>
              <a:t>Parts are with us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29768" y="16642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Node A, Node B, rover, USB board.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46120" y="1188720"/>
            <a:ext cx="2788920" cy="98755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7" name="Picture 17416" descr="icon_da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1280160"/>
            <a:ext cx="384048" cy="384048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776472" y="1243584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2C4A"/>
                </a:solidFill>
                <a:latin typeface="Calibri"/>
              </a:rPr>
              <a:t>One laptop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355848" y="16642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Local website. No login. No cloud.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72200" y="1188720"/>
            <a:ext cx="2788920" cy="98755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1" name="Picture 17420" descr="icon_m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280160"/>
            <a:ext cx="384048" cy="384048"/>
          </a:xfrm>
          <a:prstGeom prst="rect">
            <a:avLst/>
          </a:prstGeom>
        </p:spPr>
      </p:pic>
      <p:sp>
        <p:nvSpPr>
          <p:cNvPr id="17422" name="TextBox 17421"/>
          <p:cNvSpPr txBox="1"/>
          <p:nvPr/>
        </p:nvSpPr>
        <p:spPr>
          <a:xfrm>
            <a:off x="6702552" y="1243584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47B20"/>
                </a:solidFill>
                <a:latin typeface="Calibri"/>
              </a:rPr>
              <a:t>AI is ready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281928" y="16642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Loaded already. No long wait.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9098280" y="1188720"/>
            <a:ext cx="2788920" cy="987552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5" name="Picture 17424" descr="icon_wif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1280160"/>
            <a:ext cx="384048" cy="384048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628632" y="1243584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2C4A"/>
                </a:solidFill>
                <a:latin typeface="Calibri"/>
              </a:rPr>
              <a:t>Short-range radio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9208008" y="16642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Works across the table. Not through rock.</a:t>
            </a:r>
          </a:p>
        </p:txBody>
      </p:sp>
      <p:pic>
        <p:nvPicPr>
          <p:cNvPr id="17428" name="Picture 17427" descr="demo_loo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249424"/>
            <a:ext cx="11521440" cy="1389888"/>
          </a:xfrm>
          <a:prstGeom prst="rect">
            <a:avLst/>
          </a:prstGeom>
        </p:spPr>
      </p:pic>
      <p:pic>
        <p:nvPicPr>
          <p:cNvPr id="17429" name="Picture 17428" descr="threshold_grap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" y="3712463"/>
            <a:ext cx="5623560" cy="2395728"/>
          </a:xfrm>
          <a:prstGeom prst="rect">
            <a:avLst/>
          </a:prstGeom>
        </p:spPr>
      </p:pic>
      <p:sp>
        <p:nvSpPr>
          <p:cNvPr id="17430" name="Rounded Rectangle 17429"/>
          <p:cNvSpPr/>
          <p:nvPr/>
        </p:nvSpPr>
        <p:spPr>
          <a:xfrm>
            <a:off x="6080760" y="3712463"/>
            <a:ext cx="2834640" cy="115214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1" name="Picture 17430" descr="icon_sto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0488" y="3840479"/>
            <a:ext cx="384048" cy="384048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6647688" y="3822191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C4A"/>
                </a:solidFill>
                <a:latin typeface="Calibri"/>
              </a:rPr>
              <a:t>Cable dies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190488" y="4297679"/>
            <a:ext cx="26151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Show UNKNOWN. Never fake a green light.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9006840" y="3712463"/>
            <a:ext cx="2834640" cy="115214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5" name="Picture 17434" descr="icon_wif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6568" y="3840479"/>
            <a:ext cx="384048" cy="384048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9573768" y="3822191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C4A"/>
                </a:solidFill>
                <a:latin typeface="Calibri"/>
              </a:rPr>
              <a:t>Rover Wi-Fi dies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116568" y="4297679"/>
            <a:ext cx="26151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Motors stop on their own in ~0.4 s.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6080760" y="4956048"/>
            <a:ext cx="2834640" cy="115214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9" name="Picture 17438" descr="icon_war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0488" y="5084064"/>
            <a:ext cx="384048" cy="384048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6647688" y="5065776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C4A"/>
                </a:solidFill>
                <a:latin typeface="Calibri"/>
              </a:rPr>
              <a:t>Easy to over-claim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190488" y="5541264"/>
            <a:ext cx="26151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No collapse %. Tilt is not ground sink.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9006840" y="4956048"/>
            <a:ext cx="2834640" cy="115214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3" name="Picture 17442" descr="icon_inspec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16568" y="5084064"/>
            <a:ext cx="384048" cy="384048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9573768" y="5065776"/>
            <a:ext cx="21579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C4A"/>
                </a:solidFill>
                <a:latin typeface="Calibri"/>
              </a:rPr>
              <a:t>Toy electronics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9116568" y="5541264"/>
            <a:ext cx="2615184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Table model only. Not mine-approved gear.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19072" y="91440"/>
            <a:ext cx="7818120" cy="804672"/>
          </a:xfrm>
        </p:spPr>
        <p:txBody>
          <a:bodyPr wrap="square"/>
          <a:lstStyle/>
          <a:p>
            <a:pPr eaLnBrk="1" hangingPunct="1" algn="l">
              <a:spcAft>
                <a:spcPts val="0"/>
              </a:spcAft>
            </a:pPr>
            <a:r>
              <a:rPr sz="2600" b="1">
                <a:solidFill>
                  <a:srgbClr val="0B2C4A"/>
                </a:solidFill>
                <a:latin typeface="Calibri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1" cy="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47B2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WE COOK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20040" y="987552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C4A"/>
                </a:solidFill>
                <a:latin typeface="Calibri"/>
              </a:rPr>
              <a:t>Target on demo day: a mine safety officer on a tabletop model. Ministry of Coal owns the PS. Impact = notice + evidence + remote look — not disaster-prevention numbers we cannot prove.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1408176"/>
            <a:ext cx="2788920" cy="2212848"/>
          </a:xfrm>
          <a:prstGeom prst="roundRect">
            <a:avLst>
              <a:gd name="adj" fmla="val 8000"/>
            </a:avLst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29768" y="148132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Who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29768" y="1828800"/>
            <a:ext cx="2560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Officer sees A vs B, rule reason, AI score, forecast MAE, then drives the rover because a warning appeared.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46120" y="1408176"/>
            <a:ext cx="2788920" cy="2212848"/>
          </a:xfrm>
          <a:prstGeom prst="roundRect">
            <a:avLst>
              <a:gd name="adj" fmla="val 8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3355848" y="148132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Social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355848" y="1828800"/>
            <a:ext cx="2560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Fewer unnecessary entries into the model tunnel. Decision stays human. Ack records awareness; it does not wipe history.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408176"/>
            <a:ext cx="2788920" cy="2212848"/>
          </a:xfrm>
          <a:prstGeom prst="roundRect">
            <a:avLst>
              <a:gd name="adj" fmla="val 8000"/>
            </a:avLst>
          </a:prstGeom>
          <a:solidFill>
            <a:srgbClr val="F47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281928" y="148132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Economic / ops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281928" y="1828800"/>
            <a:ext cx="2560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Standing ESP32-class watch vs waiting for a specialist survey. One laptop site. USB still works if venue Wi-Fi is bad.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9098280" y="1408176"/>
            <a:ext cx="2788920" cy="2212848"/>
          </a:xfrm>
          <a:prstGeom prst="roundRect">
            <a:avLst>
              <a:gd name="adj" fmla="val 8000"/>
            </a:avLst>
          </a:prstGeom>
          <a:solidFill>
            <a:srgbClr val="C48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9208008" y="148132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Environment / limit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208008" y="1828800"/>
            <a:ext cx="25603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Hobby electronics on a model. Not intrinsically safe, not DGMS-approved, not a real underground vehicle.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20040" y="37307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B2C4A"/>
                </a:solidFill>
                <a:latin typeface="Calibri"/>
              </a:rPr>
              <a:t>Benefits a judge can verify on the table  ·  nothing we invent</a:t>
            </a:r>
          </a:p>
        </p:txBody>
      </p:sp>
      <p:graphicFrame>
        <p:nvGraphicFramePr>
          <p:cNvPr id="17425" name="Table 17424"/>
          <p:cNvGraphicFramePr>
            <a:graphicFrameLocks noGrp="1"/>
          </p:cNvGraphicFramePr>
          <p:nvPr/>
        </p:nvGraphicFramePr>
        <p:xfrm>
          <a:off x="320040" y="3968496"/>
          <a:ext cx="11521438" cy="2212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9682"/>
                <a:gridCol w="4568846"/>
                <a:gridCol w="3972910"/>
              </a:tblGrid>
              <a:tr h="44256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Benefit we can show</a:t>
                      </a:r>
                    </a:p>
                  </a:txBody>
                  <a:tcPr anchor="ctr"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How a judge verifies it</a:t>
                      </a:r>
                    </a:p>
                  </a:txBody>
                  <a:tcPr anchor="ctr"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 a benefit we invent</a:t>
                      </a:r>
                    </a:p>
                  </a:txBody>
                  <a:tcPr anchor="ctr">
                    <a:solidFill>
                      <a:srgbClr val="0B2C4A"/>
                    </a:solidFill>
                  </a:tcPr>
                </a:tc>
              </a:tr>
              <a:tr h="44256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Earlier notice of disturbance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Controlled tilt/slider → WATCH then latched ALERT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Lives saved / disasters averted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256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Evidence, not a vibe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Charts + A-vs-B + IF feature + Ridge MAE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87% collapse risk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44256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Inspect without replacing monitors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Rover telemetry while A/B keep streaming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Autonomous rescue robot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256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Honest scale path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Same workflow later with surveyed mounts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This prototype already predicts subsidence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19072" y="91440"/>
            <a:ext cx="7818120" cy="804672"/>
          </a:xfrm>
        </p:spPr>
        <p:txBody>
          <a:bodyPr wrap="square"/>
          <a:lstStyle/>
          <a:p>
            <a:pPr eaLnBrk="1" hangingPunct="1" algn="l">
              <a:spcAft>
                <a:spcPts val="0"/>
              </a:spcAft>
            </a:pPr>
            <a:r>
              <a:rPr sz="2600" b="1">
                <a:solidFill>
                  <a:srgbClr val="0B2C4A"/>
                </a:solidFill>
                <a:latin typeface="Calibri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0" y="0"/>
            <a:ext cx="1" cy="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F47B20"/>
          </a:solidFill>
          <a:ln>
            <a:noFill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WE COOK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320040" y="9875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B2C4A"/>
                </a:solidFill>
                <a:latin typeface="Calibri"/>
              </a:rPr>
              <a:t>References used to design the demo — not proof that MOLE is a certified mine instrument.</a:t>
            </a:r>
          </a:p>
        </p:txBody>
      </p:sp>
      <p:graphicFrame>
        <p:nvGraphicFramePr>
          <p:cNvPr id="17412" name="Table 17411"/>
          <p:cNvGraphicFramePr>
            <a:graphicFrameLocks noGrp="1"/>
          </p:cNvGraphicFramePr>
          <p:nvPr/>
        </p:nvGraphicFramePr>
        <p:xfrm>
          <a:off x="320040" y="1298448"/>
          <a:ext cx="1152143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1464"/>
                <a:gridCol w="3572539"/>
                <a:gridCol w="5537436"/>
              </a:tblGrid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is here</a:t>
                      </a:r>
                    </a:p>
                  </a:txBody>
                  <a:tcPr anchor="ctr"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Citation / link (no invented stats)</a:t>
                      </a:r>
                    </a:p>
                  </a:txBody>
                  <a:tcPr anchor="ctr">
                    <a:solidFill>
                      <a:srgbClr val="0B2C4A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PS SIH26025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Official catalogue ID — never SIH2026025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SIH 2026 portal · Ministry of Coal · Hardware · Disaster Management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Isolation Forest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Anomaly vs this rig’s normal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Liu, Ting, Zhou — Isolation Forest, IEEE ICDM 2008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30 s forecast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Short-horizon prediction of measured signals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scikit-learn Ridge / holdout MAE on a recent window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MPU6050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Gravity tilt + RMS vibration proxy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InvenSense MPU-6000/6050 Product Specification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ESP-NOW + ADC1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Node radio ch1; slider on GPIO34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Espressif ESP-NOW User Guide; ESP32 ADC notes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ESP32-S3-Zero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USB CDC receiver, no sensors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Waveshare ESP32-S3-Zero wiki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MQ-7 / IR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Rover inspect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MQ-7 datasheet — raw ADC, not ppm. IR = digital LOW flag, not ranging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Implementation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Partial working software + firmware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https://github.com/Rithvik-7/WECOOK-MOLE</a:t>
                      </a:r>
                    </a:p>
                  </a:txBody>
                  <a:tcPr anchor="ctr">
                    <a:solidFill>
                      <a:srgbClr val="F4F7FA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Domain context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Why mines care about movement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Coal Mines Regulations, 2017; DGMS (S&amp;T) Circ. 01/2017 cl. 6.1 — not implemented here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3" name="Rounded Rectangle 17412"/>
          <p:cNvSpPr/>
          <p:nvPr/>
        </p:nvSpPr>
        <p:spPr>
          <a:xfrm>
            <a:off x="320040" y="553212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438912" y="5577840"/>
            <a:ext cx="11292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B2C4A"/>
                </a:solidFill>
                <a:latin typeface="Calibri"/>
              </a:rPr>
              <a:t>Close: nodes detect → rules latch → Isolation Forest + Ridge explain → rover inspects.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B2C4A"/>
                </a:solidFill>
                <a:latin typeface="Calibri"/>
              </a:rPr>
              <a:t>Upload PDF of these 6 slides only. Team ID: fill on portal. No extra slide.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
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Problem Statement ID  </a:t>
            </a:r>
            <a:r>
              <a:rPr sz="1300" b="0">
                <a:solidFill>
                  <a:srgbClr val="FFFFFF"/>
                </a:solidFill>
                <a:latin typeface="Calibri"/>
              </a:rPr>
              <a:t>SIH26025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Problem Statement Title  </a:t>
            </a:r>
            <a:r>
              <a:rPr sz="1300" b="0">
                <a:solidFill>
                  <a:srgbClr val="FFFFFF"/>
                </a:solidFill>
                <a:latin typeface="Calibri"/>
              </a:rPr>
              <a:t>Development of an AI-enabled Low Cost Real Time Mine Subsidence Monitoring, Prediction and Early Warning System for Underground Coal Mines in India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Theme  </a:t>
            </a:r>
            <a:r>
              <a:rPr sz="1300" b="0">
                <a:solidFill>
                  <a:srgbClr val="FFFFFF"/>
                </a:solidFill>
                <a:latin typeface="Calibri"/>
              </a:rPr>
              <a:t>Disaster Management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PS Category  </a:t>
            </a:r>
            <a:r>
              <a:rPr sz="1300" b="0">
                <a:solidFill>
                  <a:srgbClr val="FFFFFF"/>
                </a:solidFill>
                <a:latin typeface="Calibri"/>
              </a:rPr>
              <a:t>Hardware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Organisation  </a:t>
            </a:r>
            <a:r>
              <a:rPr sz="1300" b="0">
                <a:solidFill>
                  <a:srgbClr val="FFFFFF"/>
                </a:solidFill>
                <a:latin typeface="Calibri"/>
              </a:rPr>
              <a:t>Ministry of Coal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Team ID  </a:t>
            </a:r>
            <a:r>
              <a:rPr sz="1300" b="0">
                <a:solidFill>
                  <a:srgbClr val="FFFFFF"/>
                </a:solidFill>
                <a:latin typeface="Calibri"/>
              </a:rPr>
              <a:t>[fill after SIH portal]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Team Name  </a:t>
            </a:r>
            <a:r>
              <a:rPr sz="1300" b="0">
                <a:solidFill>
                  <a:srgbClr val="FFFFFF"/>
                </a:solidFill>
                <a:latin typeface="Calibri"/>
              </a:rPr>
              <a:t>WE COOK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B20"/>
                </a:solidFill>
                <a:latin typeface="Calibri"/>
              </a:rPr>
              <a:t>Idea  </a:t>
            </a:r>
            <a:r>
              <a:rPr sz="1300" b="0">
                <a:solidFill>
                  <a:srgbClr val="FFFFFF"/>
                </a:solidFill>
                <a:latin typeface="Calibri"/>
              </a:rPr>
              <a:t>MOLE — monitor the model, warn from evidence, inspect on command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" cy="1"/>
          </a:xfrm>
        </p:spPr>
        <p:txBody>
          <a:bodyPr wrap="square"/>
          <a:lstStyle/>
          <a:p>
            <a:pPr eaLnBrk="1" hangingPunct="1" algn="l">
              <a:spcAft>
                <a:spcPts val="400"/>
              </a:spcAft>
            </a:p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1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20040" y="1051560"/>
            <a:ext cx="11521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C4A"/>
                </a:solidFill>
                <a:latin typeface="Calibri"/>
              </a:rPr>
              <a:t>One product: two fixed nodes + laptop ML + one dashboard + a remote rover. Officer sees a change, understands the numbers, then inspects.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0040" y="14173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0B2C4A"/>
          </a:solidFill>
          <a:ln w="9525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429768" y="1463040"/>
            <a:ext cx="3474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MONITOR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29768" y="1755648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Node A: tilt + crack slider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Node B: comparison IMU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ESP-NOW → S3-Zero USB JSON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60520" y="14173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4270248" y="1463040"/>
            <a:ext cx="3474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WARN + PREDICT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270248" y="1755648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Rules latch WATCH / ALERT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Isolation Forest = unusual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Ridge = next 30 s of signals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001000" y="14173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 w="9525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8110728" y="1463040"/>
            <a:ext cx="3474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INSPECT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8110728" y="1755648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Operator decides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Rover: FWD REV LEFT RIGHT STOP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Distance, IR, MQ-7 raw, rover IMU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320040" y="2907792"/>
            <a:ext cx="11521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2C4A"/>
                </a:solidFill>
                <a:latin typeface="Calibri"/>
              </a:rPr>
              <a:t>How this maps the PS (honest, tabletop)</a:t>
            </a:r>
          </a:p>
        </p:txBody>
      </p:sp>
      <p:graphicFrame>
        <p:nvGraphicFramePr>
          <p:cNvPr id="15374" name="Table 15373"/>
          <p:cNvGraphicFramePr>
            <a:graphicFrameLocks noGrp="1"/>
          </p:cNvGraphicFramePr>
          <p:nvPr/>
        </p:nvGraphicFramePr>
        <p:xfrm>
          <a:off x="320040" y="3163824"/>
          <a:ext cx="11521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PS word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MOLE actually does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do not claim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Live Node A + Node B, source-tagged, timed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Rover IMU is not Node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Early warning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Rules: 3 samples → WATCH/ALERT; stale → UNKNOWN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Green = healthy data, not a certified-safe mine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AI-enabled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Isolation Forest on this rig’s NORMAL samples; score + top feature on screen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 LLM, no collapse %, no camera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Ridge: next 30 s of tilt/vibration/crack + MAE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Not a mine-subsidence or roof-fall forecast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Rules cannot be cleared by ML. A vs B residual = local vs whole-table motion. Rover only after a warning.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Not a gas-car maze robot; not LoRa; not autonomous drive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1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1024128"/>
            <a:ext cx="115214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2C4A"/>
                </a:solidFill>
                <a:latin typeface="Calibri"/>
              </a:rPr>
              <a:t>Technologies + method (what is built vs what is claimed)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20040" y="1261872"/>
          <a:ext cx="115214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Nodes A/B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Classic ESP32-WROOM-32, MPU6050 I²C 0x68, Node A 10 kΩ slider GPIO34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Measure tilt, vibration proxy, crack ADC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Receiver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Waveshare ESP32-S3-Zero, ESP-NOW ch1, USB-C JSON 115200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Bridge only — no sensors, no ML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Laptop 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Python, Flask, SQLite, scikit-learn IsolationForest + Ridge, joblib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Validate, store, warn, explain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Rover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Classic ESP32, L298N, HC-SR04, IR, MQ-7 raw, Wi-Fi AP Mine-Rover-AP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Remote inspect; separate radio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320040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0B2C4A"/>
          </a:solidFill>
          <a:ln w="9525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Node A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Node B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801368" y="2980944"/>
            <a:ext cx="2560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194559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194559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S3-Zero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USB JSON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75887" y="2980944"/>
            <a:ext cx="2560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069078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0B2C4A"/>
          </a:solidFill>
          <a:ln w="9525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069078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+ features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550406" y="2980944"/>
            <a:ext cx="2560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43597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943597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Rules +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IF + Ridge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424925" y="2980944"/>
            <a:ext cx="2560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818116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 w="9525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818116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127.0.0.1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299444" y="2980944"/>
            <a:ext cx="2560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692635" y="281635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C48A12"/>
          </a:solidFill>
          <a:ln w="9525">
            <a:solidFill>
              <a:srgbClr val="C48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9692635" y="2889504"/>
            <a:ext cx="1554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Rover AP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inspect</a:t>
            </a:r>
          </a:p>
        </p:txBody>
      </p:sp>
      <p:graphicFrame>
        <p:nvGraphicFramePr>
          <p:cNvPr id="17430" name="Table 17429"/>
          <p:cNvGraphicFramePr>
            <a:graphicFrameLocks noGrp="1"/>
          </p:cNvGraphicFramePr>
          <p:nvPr/>
        </p:nvGraphicFramePr>
        <p:xfrm>
          <a:off x="320040" y="3584448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Input (after validation)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Output shown to officer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Rules (latch)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tilt_change, crack mm, freshness, 3 consecutive samples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NORMAL / WATCH (3° or 2 mm) / ALERT (6° or 4 mm) / UNKNOWN (&gt;5 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≥120 live NORMAL samples/node; tilt, vib, d_tilt, optional mm, A–B residual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INACTIVE | READY | UNUSUAL + score + top feature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Ridge 30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Last ~30 accepted points of the same series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Dashed forecast + MAE. Label: Sensor forecast (30 s). Not a collapse prediction.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1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1024128"/>
            <a:ext cx="11521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C4A"/>
                </a:solidFill>
                <a:latin typeface="Calibri"/>
              </a:rPr>
              <a:t>Feasible as a tabletop SIH hardware demo: parts in hand, firmware + local website in repo. Field mine certification is out of scope.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20040" y="1417320"/>
          <a:ext cx="56235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Feasibility check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Boards + sensors for A, B, rover, S3-Zero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Node radio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ESP-NOW ch1, tabletop range only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ML on venue laptop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Train 2 min quiet NORMAL before judges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Operator UI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Local Flask, no cloud, no login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Demo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 → disturb → WATCH/ALERT → rover → 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6126480" y="1417320"/>
          <a:ext cx="57150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If this happens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Fallback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ESP-NOW / USB drop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UNKNOWN, never fake-green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Not enough NORMAL samples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AI stays INACTIVE; rules still run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Need UI without 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--mode simulate, banner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Rover page dies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Firmware STOP if no cmd ~400 ms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Slider uncalibrated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Node A mm omitted; no fake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320040" y="3657600"/>
            <a:ext cx="115214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2C4A"/>
                </a:solidFill>
                <a:latin typeface="Calibri"/>
              </a:rPr>
              <a:t>Risks and how we contain them (no budget theatre)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320040" y="3913632"/>
          <a:ext cx="11521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it is real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Over-claiming the 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Tilt ≠ settlement in cm; IF ≠ collapse probability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Fixed honesty table on dashboard + this PPT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Mixing rover with nodes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Moving IMU would poison Node B / IF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device_id rover; never in node models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False comfort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Disconnected sensor looking healthy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Stale &gt;5 s → UNKNOWN; ML cannot clear a latch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Radio is unencrypted broadcast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Fine for a model; not a mine network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Say tabletop only; no LoRa / mesh claim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1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1024128"/>
            <a:ext cx="11521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C4A"/>
                </a:solidFill>
                <a:latin typeface="Calibri"/>
              </a:rPr>
              <a:t>Target on demo day: a mine safety officer on a tabletop model. Ministry of Coal is the PS owner. Impact = better notice + evidence + remote look — not disaster prevention numbers we cannot prove.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5087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0B2C4A"/>
          </a:solidFill>
          <a:ln w="9525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9768" y="15727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Who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9768" y="1938528"/>
            <a:ext cx="25603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Officer sees Node A vs Node B, rule reason, AI score, forecast MAE, then drives the rover because a warning appeared.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46120" y="15087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355848" y="15727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355848" y="1938528"/>
            <a:ext cx="25603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Fewer unnecessary entries into the model tunnel; decision stays with the human. Ack records awareness; it does not wipe history.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72200" y="15087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 w="9525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281928" y="15727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281928" y="1938528"/>
            <a:ext cx="25603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One laptop website. USB nodes still work if venue Wi-Fi is bad. Rover uses its own AP.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98280" y="15087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 w="9525">
            <a:solidFill>
              <a:srgbClr val="1E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9208008" y="15727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Environment / limits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208008" y="1938528"/>
            <a:ext cx="25603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Hobby electronics on a model. Not intrinsically safe, not DGMS-approved, not a real underground vehicle.</a:t>
            </a:r>
          </a:p>
        </p:txBody>
      </p:sp>
      <p:graphicFrame>
        <p:nvGraphicFramePr>
          <p:cNvPr id="17424" name="Table 17423"/>
          <p:cNvGraphicFramePr>
            <a:graphicFrameLocks noGrp="1"/>
          </p:cNvGraphicFramePr>
          <p:nvPr/>
        </p:nvGraphicFramePr>
        <p:xfrm>
          <a:off x="320040" y="379476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Benefit we can show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a judge verifies it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 a benefit we invent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Earlier notice of disturbance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Tilt/slider move → WATCH then latched ALERT in ~3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Lives saved / disasters averted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Evidence, not a vibe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Charts + A-vs-B sentence + IF feature + Ridge MAE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87% collapse risk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Inspect without replacing monitors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Rover telemetry while A/B keep 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Autonomous rescue robot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Honest scale path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Same workflow; surveyed mounts + labelled events later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This prototype already predicts subsidence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1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COOK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1024128"/>
            <a:ext cx="11521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C4A"/>
                </a:solidFill>
                <a:latin typeface="Calibri"/>
              </a:rPr>
              <a:t>References used to design the demo — not proof that MOLE is a certified mine instrument.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20040" y="1389888"/>
          <a:ext cx="115214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it is here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Link / citation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PS SIH26025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Official catalogue ID (not SIH2026025)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SIH 2026 portal / Ministry of Coal, Hardware, Disaster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Anomaly vs this rig’s normal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Liu, Ting, Zhou — Isolation Forest, IEEE ICDM 2008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Ridge forecast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Short-horizon prediction of measured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scikit-learn Ridge; MAE on a held recent 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MPU6050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Gravity tilt + RMS vibration proxy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InvenSense MPU-6000/6050 Product Specification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ESP-NOW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Node radio on channel 1, tabletop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Espressif ESP-NOW User 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ESP32-S3-Zero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USB CDC receiver, no sensors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Waveshare ESP32-S3-Zero wiki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MQ-7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Rover inspection only, raw ADC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Winsen/Hanwei MQ-7 datasheet — we do not output ppm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Problem domain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Why coal mines care about movement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Ministry of Coal / DGMS published guidance on subsidence &amp; strata — context only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320040" y="4736592"/>
            <a:ext cx="11521440" cy="777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4800600"/>
            <a:ext cx="11247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C4A"/>
                </a:solidFill>
                <a:latin typeface="Calibri"/>
              </a:rPr>
              <a:t>One-line close: MOLE is a working tabletop loop — nodes detect, rules latch, Isolation Forest + Ridge explain, rover inspects.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C4A"/>
                </a:solidFill>
                <a:latin typeface="Calibri"/>
              </a:rPr>
              <a:t>Upload as PDF. Team ID: fill after portal. Delete no extra slides — this file is already 6.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
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497D"/>
                </a:solidFill>
                <a:latin typeface="Calibri"/>
              </a:rPr>
              <a:t>TITLE PAGE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79646"/>
                </a:solidFill>
                <a:latin typeface="Calibri"/>
              </a:rPr>
              <a:t>MOLE  ·  Mine Observation &amp; Live-alert Engine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F497D"/>
                </a:solidFill>
                <a:latin typeface="Calibri"/>
              </a:rPr>
              <a:t>Problem Statement ID – SIH26025</a:t>
            </a:r>
            <a:endParaRPr lang="en-US" dirty="0"/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Problem Statement Title – Development of an AI-enabled Low Cost Real Time Mine Subsidence Monitoring, Prediction and Early Warning System for Underground Coal Mines in India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F497D"/>
                </a:solidFill>
                <a:latin typeface="Calibri"/>
              </a:rPr>
              <a:t>Theme – Disaster Management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F497D"/>
                </a:solidFill>
                <a:latin typeface="Calibri"/>
              </a:rPr>
              <a:t>PS Category – Hardware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C232D"/>
                </a:solidFill>
                <a:latin typeface="Calibri"/>
              </a:rPr>
              <a:t>Team ID – To be assigned on the SIH portal after college shortlist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F497D"/>
                </a:solidFill>
                <a:latin typeface="Calibri"/>
              </a:rPr>
              <a:t>Team Name – WE COOK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/>
          <a:lstStyle/>
          <a:p>
            <a:pPr eaLnBrk="1" hangingPunct="1" algn="l">
              <a:spcAft>
                <a:spcPts val="600"/>
              </a:spcAft>
            </a:pPr>
            <a:r>
              <a:rPr sz="2800" b="1">
                <a:solidFill>
                  <a:srgbClr val="1F497D"/>
                </a:solidFill>
                <a:latin typeface="Calibri"/>
              </a:rPr>
              <a:t>MOLE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65760" y="1078992"/>
            <a:ext cx="11338560" cy="29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l"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sz="1200" b="0">
                <a:solidFill>
                  <a:srgbClr val="5A6470"/>
                </a:solidFill>
                <a:latin typeface="Calibri"/>
              </a:rPr>
              <a:t>Proposed solution  ·  how it addresses SIH26025  ·  what is unique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F497D"/>
                </a:solidFill>
                <a:latin typeface="Calibri"/>
              </a:rPr>
              <a:t>WE COOK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365760" y="1389888"/>
            <a:ext cx="2011680" cy="960120"/>
          </a:xfrm>
          <a:prstGeom prst="round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TextBox 15363"/>
          <p:cNvSpPr txBox="1"/>
          <p:nvPr/>
        </p:nvSpPr>
        <p:spPr>
          <a:xfrm>
            <a:off x="475488" y="1481328"/>
            <a:ext cx="1792224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  Nodes A + B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Watch continuously</a:t>
            </a:r>
          </a:p>
        </p:txBody>
      </p:sp>
      <p:sp>
        <p:nvSpPr>
          <p:cNvPr id="15365" name="Right Arrow 15364"/>
          <p:cNvSpPr/>
          <p:nvPr/>
        </p:nvSpPr>
        <p:spPr>
          <a:xfrm>
            <a:off x="2395728" y="1737360"/>
            <a:ext cx="128016" cy="201168"/>
          </a:xfrm>
          <a:prstGeom prst="rightArrow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Rounded Rectangle 15365"/>
          <p:cNvSpPr/>
          <p:nvPr/>
        </p:nvSpPr>
        <p:spPr>
          <a:xfrm>
            <a:off x="2542032" y="1389888"/>
            <a:ext cx="2011680" cy="960120"/>
          </a:xfrm>
          <a:prstGeom prst="round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7" name="TextBox 15366"/>
          <p:cNvSpPr txBox="1"/>
          <p:nvPr/>
        </p:nvSpPr>
        <p:spPr>
          <a:xfrm>
            <a:off x="2651760" y="1481328"/>
            <a:ext cx="1792224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  Rules + AI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Flag unusual change</a:t>
            </a:r>
          </a:p>
        </p:txBody>
      </p:sp>
      <p:sp>
        <p:nvSpPr>
          <p:cNvPr id="15368" name="Right Arrow 15367"/>
          <p:cNvSpPr/>
          <p:nvPr/>
        </p:nvSpPr>
        <p:spPr>
          <a:xfrm>
            <a:off x="4572000" y="1737360"/>
            <a:ext cx="128016" cy="201168"/>
          </a:xfrm>
          <a:prstGeom prst="rightArrow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Rounded Rectangle 15368"/>
          <p:cNvSpPr/>
          <p:nvPr/>
        </p:nvSpPr>
        <p:spPr>
          <a:xfrm>
            <a:off x="4718304" y="1389888"/>
            <a:ext cx="2011680" cy="960120"/>
          </a:xfrm>
          <a:prstGeom prst="round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TextBox 15369"/>
          <p:cNvSpPr txBox="1"/>
          <p:nvPr/>
        </p:nvSpPr>
        <p:spPr>
          <a:xfrm>
            <a:off x="4828032" y="1481328"/>
            <a:ext cx="1792224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  Dashboard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Show the evidence</a:t>
            </a:r>
          </a:p>
        </p:txBody>
      </p:sp>
      <p:sp>
        <p:nvSpPr>
          <p:cNvPr id="15371" name="Right Arrow 15370"/>
          <p:cNvSpPr/>
          <p:nvPr/>
        </p:nvSpPr>
        <p:spPr>
          <a:xfrm>
            <a:off x="6748272" y="1737360"/>
            <a:ext cx="128016" cy="201168"/>
          </a:xfrm>
          <a:prstGeom prst="rightArrow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Rounded Rectangle 15371"/>
          <p:cNvSpPr/>
          <p:nvPr/>
        </p:nvSpPr>
        <p:spPr>
          <a:xfrm>
            <a:off x="6894576" y="1389888"/>
            <a:ext cx="2011680" cy="960120"/>
          </a:xfrm>
          <a:prstGeom prst="roundRect">
            <a:avLst/>
          </a:prstGeom>
          <a:solidFill>
            <a:srgbClr val="143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3" name="TextBox 15372"/>
          <p:cNvSpPr txBox="1"/>
          <p:nvPr/>
        </p:nvSpPr>
        <p:spPr>
          <a:xfrm>
            <a:off x="7004304" y="1481328"/>
            <a:ext cx="1792224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  Operator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Decide to inspect</a:t>
            </a:r>
          </a:p>
        </p:txBody>
      </p:sp>
      <p:sp>
        <p:nvSpPr>
          <p:cNvPr id="15374" name="Right Arrow 15373"/>
          <p:cNvSpPr/>
          <p:nvPr/>
        </p:nvSpPr>
        <p:spPr>
          <a:xfrm>
            <a:off x="8924544" y="1737360"/>
            <a:ext cx="128016" cy="201168"/>
          </a:xfrm>
          <a:prstGeom prst="rightArrow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5" name="Rounded Rectangle 15374"/>
          <p:cNvSpPr/>
          <p:nvPr/>
        </p:nvSpPr>
        <p:spPr>
          <a:xfrm>
            <a:off x="9070848" y="1389888"/>
            <a:ext cx="2011680" cy="960120"/>
          </a:xfrm>
          <a:prstGeom prst="roundRect">
            <a:avLst/>
          </a:prstGeom>
          <a:solidFill>
            <a:srgbClr val="4BA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6" name="TextBox 15375"/>
          <p:cNvSpPr txBox="1"/>
          <p:nvPr/>
        </p:nvSpPr>
        <p:spPr>
          <a:xfrm>
            <a:off x="9180576" y="1481328"/>
            <a:ext cx="1792224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5  Rover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Look, then report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365760" y="2414016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497D"/>
                </a:solidFill>
                <a:latin typeface="Calibri"/>
              </a:rPr>
              <a:t>Isolation Forest is early anomaly detection — a precursor stage toward prediction. It does not output a collapse probability.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365760" y="2761488"/>
            <a:ext cx="5577840" cy="214884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9" name="Rectangle 15378"/>
          <p:cNvSpPr/>
          <p:nvPr/>
        </p:nvSpPr>
        <p:spPr>
          <a:xfrm>
            <a:off x="365760" y="2761488"/>
            <a:ext cx="91440" cy="2148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0" name="TextBox 15379"/>
          <p:cNvSpPr txBox="1"/>
          <p:nvPr/>
        </p:nvSpPr>
        <p:spPr>
          <a:xfrm>
            <a:off x="566928" y="2852928"/>
            <a:ext cx="5285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497D"/>
                </a:solidFill>
                <a:latin typeface="Calibri"/>
              </a:rPr>
              <a:t>What MOLE does for SIH26025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530352" y="3145536"/>
            <a:ext cx="5303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Node A watches surface tilt vs a captured baseline.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Node B watches vibration / disturbance at a second point.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Watch / Alert latch with a written reason and history.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Rover inspects only after the operator decides — it is not the monitor.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One local dashboard. Rover vibration is never treated as Node B.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6126480" y="2761488"/>
            <a:ext cx="5669280" cy="214884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3" name="Rectangle 15382"/>
          <p:cNvSpPr/>
          <p:nvPr/>
        </p:nvSpPr>
        <p:spPr>
          <a:xfrm>
            <a:off x="6126480" y="2761488"/>
            <a:ext cx="91440" cy="214884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4" name="TextBox 15383"/>
          <p:cNvSpPr txBox="1"/>
          <p:nvPr/>
        </p:nvSpPr>
        <p:spPr>
          <a:xfrm>
            <a:off x="6327648" y="2852928"/>
            <a:ext cx="5376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497D"/>
                </a:solidFill>
                <a:latin typeface="Calibri"/>
              </a:rPr>
              <a:t>Why this is not a copy of other student kits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6291072" y="3145536"/>
            <a:ext cx="5394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Walk-in checks send a person in first. Nodes keep watching.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InSAR / surveys are slow for a heading. This is a live tabletop loop.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Rover-only kits have no standing surface watch.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Unexplained AI scores hide the reason. Rules and AI are shown separately.</a:t>
            </a:r>
          </a:p>
        </p:txBody>
      </p:sp>
      <p:sp>
        <p:nvSpPr>
          <p:cNvPr id="15386" name="TextBox 15385"/>
          <p:cNvSpPr txBox="1"/>
          <p:nvPr/>
        </p:nvSpPr>
        <p:spPr>
          <a:xfrm>
            <a:off x="365760" y="4974336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97D"/>
                </a:solidFill>
                <a:latin typeface="Calibri"/>
              </a:rPr>
              <a:t>Scientific basis  (proxy, not a geophone)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MPU6050 tilt and vibration are low-cost proxies for mounting-surface micro-movement. They are not professional microseismic arrays.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Published Indian longwall work: microseismic event-rate changes can precede roof / ground failure (Sivakumar et al., 2005, Rajendra / SECL).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DGMS (S&amp;T) Tech. Circular 01 of 2017, cl. 6.1 asks longwall mines for surface geophones. That is field-grade method — not this tabletop prototype.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470"/>
                </a:solidFill>
                <a:latin typeface="Calibri"/>
              </a:rPr>
              <a:t>Stakes: CIL recorded 22 fatal accidents and 24 fatalities in 2024 up to November (MoC Annual Report 2024-25, Ch.14, Table 2; subject to DGMS reconciliation). Strata / roof control remains a named underground safety focus.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65760" y="1078992"/>
            <a:ext cx="11338560" cy="29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200" b="0">
                <a:solidFill>
                  <a:srgbClr val="5A6470"/>
                </a:solidFill>
                <a:latin typeface="Calibri"/>
              </a:rPr>
              <a:t>Technologies  ·  methodology  ·  working prototype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F497D"/>
                </a:solidFill>
                <a:latin typeface="Calibri"/>
              </a:rPr>
              <a:t>WE COOK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365760" y="1389888"/>
            <a:ext cx="5577840" cy="242316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365760" y="1389888"/>
            <a:ext cx="91440" cy="24231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566928" y="1481328"/>
            <a:ext cx="5285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497D"/>
                </a:solidFill>
                <a:latin typeface="Calibri"/>
              </a:rPr>
              <a:t>Hardware  (tabletop prototype)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30352" y="1773936"/>
            <a:ext cx="53035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Node A: ESP32-WROOM-32 + MPU6050 for tilt / movement.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Node B: ESP32-WROOM-32 + MPU6050 for vibration.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Rover: motors + driver, remote FWD / REV / LEFT / RIGHT / STOP.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USB ESP32 gateway: radio/serial infrastructure, not a fourth node.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Parts are already with the team. This is a demonstration rig, not mine-certified gear.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126480" y="1389888"/>
            <a:ext cx="5669280" cy="242316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ectangle 17415"/>
          <p:cNvSpPr/>
          <p:nvPr/>
        </p:nvSpPr>
        <p:spPr>
          <a:xfrm>
            <a:off x="6126480" y="1389888"/>
            <a:ext cx="91440" cy="242316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6327648" y="1481328"/>
            <a:ext cx="5376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497D"/>
                </a:solidFill>
                <a:latin typeface="Calibri"/>
              </a:rPr>
              <a:t>Software  (one laptop)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291072" y="1773936"/>
            <a:ext cx="53949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Python dashboard. SQLite event history.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Rules: Watch / Alert after 3 consecutive samples; 5 s stale → UNKNOWN.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AI: scikit-learn Isolation Forest vs learned normal. Anomaly detector only.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AI cannot clear a rule alert. If untrained, show INACTIVE.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Every reading is source-tagged and timed.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365760" y="3913632"/>
            <a:ext cx="5577840" cy="233172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ectangle 17419"/>
          <p:cNvSpPr/>
          <p:nvPr/>
        </p:nvSpPr>
        <p:spPr>
          <a:xfrm>
            <a:off x="365760" y="3913632"/>
            <a:ext cx="91440" cy="233172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566928" y="4005072"/>
            <a:ext cx="5285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497D"/>
                </a:solidFill>
                <a:latin typeface="Calibri"/>
              </a:rPr>
              <a:t>Communication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530352" y="4297680"/>
            <a:ext cx="53035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Prototype, surface nodes: ESP-NOW to the USB gateway.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Rover commands use a separate control path. Not the node radio.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Not claimed: underground Wi-Fi / ESP-NOW range through rock or coal.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Field path (after an RF survey): LoRa, mesh, repeater, leaky-feeder, or mine-approved infrastructure — future work, not this demo.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6126480" y="3913632"/>
            <a:ext cx="5669280" cy="233172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ectangle 17423"/>
          <p:cNvSpPr/>
          <p:nvPr/>
        </p:nvSpPr>
        <p:spPr>
          <a:xfrm>
            <a:off x="6126480" y="3913632"/>
            <a:ext cx="91440" cy="2331720"/>
          </a:xfrm>
          <a:prstGeom prst="rect">
            <a:avLst/>
          </a:prstGeom>
          <a:solidFill>
            <a:srgbClr val="4BA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6327648" y="4005072"/>
            <a:ext cx="5376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497D"/>
                </a:solidFill>
                <a:latin typeface="Calibri"/>
              </a:rPr>
              <a:t>Method, every accepted reading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6291072" y="4297680"/>
            <a:ext cx="53949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Is the packet fresh, valid, and from a known device ID?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Compute change from the captured baseline (tilt / vibration).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Demand persistence — one tap is not an alert.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Run rules and Isolation Forest. Never let AI override a rule.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Show the reason. If the officer decides, send the rover and log it.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1 Hz firmware design. Latency and radio range: TBD — test pending.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65760" y="1078992"/>
            <a:ext cx="11338560" cy="29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200" b="0">
                <a:solidFill>
                  <a:srgbClr val="5A6470"/>
                </a:solidFill>
                <a:latin typeface="Calibri"/>
              </a:rPr>
              <a:t>Feasibility  ·  challenges and risks  ·  how we handle them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F497D"/>
                </a:solidFill>
                <a:latin typeface="Calibri"/>
              </a:rPr>
              <a:t>WE COOK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365760" y="1389888"/>
            <a:ext cx="3657600" cy="1691640"/>
          </a:xfrm>
          <a:prstGeom prst="round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475488" y="1481328"/>
            <a:ext cx="3438144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Build now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Two surface nodes, USB gateway, laptop dashboard, remote rover.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Isolation Forest on live baseline samples.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Local only — no cloud dependency for the demo.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206240" y="1389888"/>
            <a:ext cx="3657600" cy="1691640"/>
          </a:xfrm>
          <a:prstGeom prst="round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4315968" y="1481328"/>
            <a:ext cx="3438144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Honest limit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A tabletop model is not a mine.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Tilt is orientation, not centimetres of settlement.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Green means healthy data, not a certified-safe mine.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8046720" y="1389888"/>
            <a:ext cx="3749039" cy="1691640"/>
          </a:xfrm>
          <a:prstGeom prst="roundRect">
            <a:avLst/>
          </a:prstGeom>
          <a:solidFill>
            <a:srgbClr val="4BA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8156448" y="1481328"/>
            <a:ext cx="3529583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Field path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Surveyed mounts and site-calibrated thresholds.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DGMS-approved / certified sensing and comms.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Collapse models need geotech / InSAR labels we do not have.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65760" y="318211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497D"/>
                </a:solidFill>
                <a:latin typeface="Calibri"/>
              </a:rPr>
              <a:t>Risks we already design for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365760" y="347472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1C232D"/>
                </a:solidFill>
                <a:latin typeface="Calibri"/>
              </a:rPr>
              <a:t>•  False green: a missing packet can look fine. After 5 s stale → UNKNOWN, never NORMAL.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C232D"/>
                </a:solidFill>
                <a:latin typeface="Calibri"/>
              </a:rPr>
              <a:t>•  One noisy sample (tap, wire tug): require 3 consecutive samples before Watch / Alert.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C232D"/>
                </a:solidFill>
                <a:latin typeface="Calibri"/>
              </a:rPr>
              <a:t>•  Rover IMU mistaken for Node B: same sensor family, different job. Device ID on every reading.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C232D"/>
                </a:solidFill>
                <a:latin typeface="Calibri"/>
              </a:rPr>
              <a:t>•  ESP32 ADC2 fights wireless: crack slider only on GPIO34 / ADC1, or drop millimetre claims.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217920" y="3474720"/>
            <a:ext cx="5577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1C232D"/>
                </a:solidFill>
                <a:latin typeface="Calibri"/>
              </a:rPr>
              <a:t>•  AI over-claim on a short tabletop set: Isolation Forest cannot clear a rule alert.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C232D"/>
                </a:solidFill>
                <a:latin typeface="Calibri"/>
              </a:rPr>
              <a:t>•  Unlinked crack knob is not a gap: two-point ruler scale, or do not quote millimetres.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C232D"/>
                </a:solidFill>
                <a:latin typeface="Calibri"/>
              </a:rPr>
              <a:t>•  Venue Wi-Fi / cloud demos die: laptop-local dashboard; backup video ready.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C232D"/>
                </a:solidFill>
                <a:latin typeface="Calibri"/>
              </a:rPr>
              <a:t>•  COTS ESP32 / MPU6050 are not intrinsically safe. Tabletop only. Underground use needs DGMS-approved equipment for that hazardous area.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65760" y="1078992"/>
            <a:ext cx="11338560" cy="29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200" b="0">
                <a:solidFill>
                  <a:srgbClr val="5A6470"/>
                </a:solidFill>
                <a:latin typeface="Calibri"/>
              </a:rPr>
              <a:t>Who it is for  ·  what we can honestly claim  ·  what comes next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F497D"/>
                </a:solidFill>
                <a:latin typeface="Calibri"/>
              </a:rPr>
              <a:t>WE COOK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365760" y="1389888"/>
            <a:ext cx="5577840" cy="246888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365760" y="1389888"/>
            <a:ext cx="91440" cy="24688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566928" y="1481328"/>
            <a:ext cx="5285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497D"/>
                </a:solidFill>
                <a:latin typeface="Calibri"/>
              </a:rPr>
              <a:t>Who this helps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30352" y="1773936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Mine safety officer: evidence, written reason, and history — not a serial dump.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Inspection crew: rover goes in after Watch / Alert; nodes keep watching.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College / SIH judges: live loop — disturb → warn → inspect → log.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Later mine operator: same dashboard language; certified sensors can replace hobby heads.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126480" y="1389888"/>
            <a:ext cx="5669280" cy="246888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ectangle 17415"/>
          <p:cNvSpPr/>
          <p:nvPr/>
        </p:nvSpPr>
        <p:spPr>
          <a:xfrm>
            <a:off x="6126480" y="1389888"/>
            <a:ext cx="91440" cy="246888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6327648" y="1481328"/>
            <a:ext cx="5376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497D"/>
                </a:solidFill>
                <a:latin typeface="Calibri"/>
              </a:rPr>
              <a:t>Benefits we will actually stand behind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291072" y="1773936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Social: fewer unnecessary entries into a disturbed heading on the demo analogue.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Economic: a standing ESP32-class watch vs waiting for a specialist survey.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Disaster: earlier notice of surface tilt and vibration — the PS proxy for subsidence, not proof of collapse.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32D"/>
                </a:solidFill>
                <a:latin typeface="Calibri"/>
              </a:rPr>
              <a:t>•  User experience: colour status, charts, written reason, rover pad. Acknowledging an alert does not erase the event.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365760" y="395020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97D"/>
                </a:solidFill>
                <a:latin typeface="Calibri"/>
              </a:rPr>
              <a:t>Status discipline on the dashboard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C232D"/>
                </a:solidFill>
                <a:latin typeface="Calibri"/>
              </a:rPr>
              <a:t>NORMAL / WATCH / ALERT / UNKNOWN. Stale or missing telemetry → UNKNOWN, never false NORMAL. Green means healthy data. It does not mean a certified-safe mine. Rover is secondary inspection, idle until requested.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65760" y="4681728"/>
            <a:ext cx="3657600" cy="1417320"/>
          </a:xfrm>
          <a:prstGeom prst="round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475488" y="4773168"/>
            <a:ext cx="3438144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NOW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Tabletop nodes + rover + local dashboard.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4206240" y="4681728"/>
            <a:ext cx="3657600" cy="1417320"/>
          </a:xfrm>
          <a:prstGeom prst="round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4315968" y="4773168"/>
            <a:ext cx="3438144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NEXT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More calibrated nodes, spatial view, extended validation.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8046720" y="4681728"/>
            <a:ext cx="3749039" cy="1417320"/>
          </a:xfrm>
          <a:prstGeom prst="round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8156448" y="4773168"/>
            <a:ext cx="3529583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FIELD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Surveyed mounts, site thresholds, DGMS-approved sensing / comms, mine monitoring integration.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65760" y="1078992"/>
            <a:ext cx="11338560" cy="29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200" b="0">
                <a:solidFill>
                  <a:srgbClr val="5A6470"/>
                </a:solidFill>
                <a:latin typeface="Calibri"/>
              </a:rPr>
              <a:t>References  ·  what we will show on 10 September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F497D"/>
                </a:solidFill>
                <a:latin typeface="Calibri"/>
              </a:rPr>
              <a:t>WE COOK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365760" y="1371600"/>
            <a:ext cx="114300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F497D"/>
                </a:solidFill>
                <a:latin typeface="Calibri"/>
              </a:rPr>
              <a:t>Sources actually used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C232D"/>
                </a:solidFill>
                <a:latin typeface="Calibri"/>
              </a:rPr>
              <a:t>1.  Coal Mines Regulations, 2017 · DGMS — duty to report dangerous occurrences.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C232D"/>
                </a:solidFill>
                <a:latin typeface="Calibri"/>
              </a:rPr>
              <a:t>2.  SIH 2026 · SIH26025 · Ministry of Coal · Hardware.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C232D"/>
                </a:solidFill>
                <a:latin typeface="Calibri"/>
              </a:rPr>
              <a:t>3.  MoC Annual Report 2024-25, Ch.14, Table 2 — CIL accident counts to Nov 2024 (not a cause-share %).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C232D"/>
                </a:solidFill>
                <a:latin typeface="Calibri"/>
              </a:rPr>
              <a:t>4.  Liu, Ting, Zhou — Isolation Forest, ICDM 2008. Library: scikit-learn IsolationForest.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C232D"/>
                </a:solidFill>
                <a:latin typeface="Calibri"/>
              </a:rPr>
              <a:t>5.  TDK / InvenSense MPU-6000/6050 datasheet — tilt / vibration sensor limits.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C232D"/>
                </a:solidFill>
                <a:latin typeface="Calibri"/>
              </a:rPr>
              <a:t>6.  Espressif ESP-NOW and ESP32 ADC docs — node radio; ADC1 vs wireless wiring.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C232D"/>
                </a:solidFill>
                <a:latin typeface="Calibri"/>
              </a:rPr>
              <a:t>7.  Sivakumar C., Srinivasan C., Gupta R.N. (2005) RaSiM 6 — Rajendra Colliery / SECL microseismic case.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C232D"/>
                </a:solidFill>
                <a:latin typeface="Calibri"/>
              </a:rPr>
              <a:t>8.  DGMS (S&amp;T) Tech. Circular No. 01 of 2017, cl. 6.1 — longwall geophones; not implemented here.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C232D"/>
                </a:solidFill>
                <a:latin typeface="Calibri"/>
              </a:rPr>
              <a:t>9.  SBAS-InSAR literature — later fusion path only, not claimed as built.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365760" y="4663440"/>
            <a:ext cx="11430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97D"/>
                </a:solidFill>
                <a:latin typeface="Calibri"/>
              </a:rPr>
              <a:t>If a judge has seen bigger claims on other SIH decks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C232D"/>
                </a:solidFill>
                <a:latin typeface="Calibri"/>
              </a:rPr>
              <a:t>•  “AI predicts mine collapse %” → Isolation Forest on tabletop normal data + rule thresholds.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C232D"/>
                </a:solidFill>
                <a:latin typeface="Calibri"/>
              </a:rPr>
              <a:t>•  “LoRa mesh across a colliery” → ESP-NOW on the tabletop. LoRa is not demonstrated.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C232D"/>
                </a:solidFill>
                <a:latin typeface="Calibri"/>
              </a:rPr>
              <a:t>•  “Autonomous rover / AI vision” → remote drive. Camera only if shown live.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C232D"/>
                </a:solidFill>
                <a:latin typeface="Calibri"/>
              </a:rPr>
              <a:t>•  “Green = the mine is safe” → green = healthy data, no configured trigger.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
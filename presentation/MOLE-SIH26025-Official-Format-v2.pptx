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a6fc7a8e8349cf" /><Relationship Type="http://schemas.openxmlformats.org/officeDocument/2006/relationships/extended-properties" Target="/docProps/app.xml" Id="R4fd9e138082d4be9" /><Relationship Type="http://schemas.openxmlformats.org/officeDocument/2006/relationships/officeDocument" Target="/ppt/presentation.xml" Id="R4621c66fa54145ac" /></Relationships>
</file>

<file path=ppt/presentation.xml><?xml version="1.0" encoding="utf-8"?>
<p:presentation xmlns:p="http://schemas.openxmlformats.org/presentationml/2006/main">
  <p:sldMasterIdLst>
    <p:sldMasterId xmlns:r="http://schemas.openxmlformats.org/officeDocument/2006/relationships" id="2147483648" r:id="Rbc3e701cdc424a64"/>
  </p:sldMasterIdLst>
  <p:notesMasterIdLst>
    <p:notesMasterId xmlns:r="http://schemas.openxmlformats.org/officeDocument/2006/relationships" r:id="R5df469403c644a7c"/>
  </p:notesMasterIdLst>
  <p:sldIdLst>
    <p:sldId xmlns:r="http://schemas.openxmlformats.org/officeDocument/2006/relationships" id="256" r:id="R4ebeff8dabce4d54"/>
    <p:sldId xmlns:r="http://schemas.openxmlformats.org/officeDocument/2006/relationships" id="257" r:id="R98f1033ef0b341c1"/>
    <p:sldId xmlns:r="http://schemas.openxmlformats.org/officeDocument/2006/relationships" id="258" r:id="R5f632b852f824ed1"/>
    <p:sldId xmlns:r="http://schemas.openxmlformats.org/officeDocument/2006/relationships" id="259" r:id="Rfcf1cd972b1d425d"/>
    <p:sldId xmlns:r="http://schemas.openxmlformats.org/officeDocument/2006/relationships" id="260" r:id="Re4c66877dcf84e83"/>
    <p:sldId xmlns:r="http://schemas.openxmlformats.org/officeDocument/2006/relationships" id="261" r:id="R975e456ea6b04c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a699a02a4634dc7" /><Relationship Type="http://schemas.openxmlformats.org/officeDocument/2006/relationships/slideMaster" Target="/ppt/slideMasters/slideMaster1.xml" Id="Rbc3e701cdc424a64" /><Relationship Type="http://schemas.openxmlformats.org/officeDocument/2006/relationships/notesMaster" Target="/ppt/notesMasters/notesMaster1.xml" Id="R5df469403c644a7c" /><Relationship Type="http://schemas.openxmlformats.org/officeDocument/2006/relationships/presProps" Target="/ppt/presProps.xml" Id="R60c668a10f0444da" /><Relationship Type="http://schemas.openxmlformats.org/officeDocument/2006/relationships/viewProps" Target="/ppt/viewProps.xml" Id="Rb51608dbbf284ce0" /><Relationship Type="http://schemas.openxmlformats.org/officeDocument/2006/relationships/tableStyles" Target="/ppt/tableStyles.xml" Id="R9b4c1c8ac3fb4232" /><Relationship Type="http://schemas.openxmlformats.org/officeDocument/2006/relationships/slide" Target="/ppt/slides/slide1.xml" Id="R4ebeff8dabce4d54" /><Relationship Type="http://schemas.openxmlformats.org/officeDocument/2006/relationships/slide" Target="/ppt/slides/slide2.xml" Id="R98f1033ef0b341c1" /><Relationship Type="http://schemas.openxmlformats.org/officeDocument/2006/relationships/slide" Target="/ppt/slides/slide3.xml" Id="R5f632b852f824ed1" /><Relationship Type="http://schemas.openxmlformats.org/officeDocument/2006/relationships/slide" Target="/ppt/slides/slide4.xml" Id="Rfcf1cd972b1d425d" /><Relationship Type="http://schemas.openxmlformats.org/officeDocument/2006/relationships/slide" Target="/ppt/slides/slide5.xml" Id="Re4c66877dcf84e83" /><Relationship Type="http://schemas.openxmlformats.org/officeDocument/2006/relationships/slide" Target="/ppt/slides/slide6.xml" Id="R975e456ea6b04c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740ad0138b41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9c2f675e3e4e0a" /><Relationship Type="http://schemas.openxmlformats.org/officeDocument/2006/relationships/notesMaster" Target="/ppt/notesMasters/notesMaster1.xml" Id="R6fa585ecab7a4d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c2966cef014ebb" /><Relationship Type="http://schemas.openxmlformats.org/officeDocument/2006/relationships/notesMaster" Target="/ppt/notesMasters/notesMaster1.xml" Id="R40fac4a1643c44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b8cddc4c214596" /><Relationship Type="http://schemas.openxmlformats.org/officeDocument/2006/relationships/notesMaster" Target="/ppt/notesMasters/notesMaster1.xml" Id="Radcc7ed8b87d4c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e4da61e6e344d7" /><Relationship Type="http://schemas.openxmlformats.org/officeDocument/2006/relationships/notesMaster" Target="/ppt/notesMasters/notesMaster1.xml" Id="R954f318098bb43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808eda52d64af2" /><Relationship Type="http://schemas.openxmlformats.org/officeDocument/2006/relationships/notesMaster" Target="/ppt/notesMasters/notesMaster1.xml" Id="R31e3309b295346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5acdc987e340a1" /><Relationship Type="http://schemas.openxmlformats.org/officeDocument/2006/relationships/notesMaster" Target="/ppt/notesMasters/notesMaster1.xml" Id="R4d56479e69924f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inventory and current deterministic-engine scope: user-supplied request, 29 September 2026. The supplied brief is the authority for the four-node prototype. No physical mine deployment, measurement accuracy, calibration curve or prediction accuracy is asserted. Current ESP-NOW star topology is consistent with firmware/receiver/receiver.ino. Field software labels refer to the proposed field deployment, not a claim that no demo software exists.</a:t>
            </a:r>
          </a:p>
          <a:p xmlns:a="http://schemas.openxmlformats.org/drawingml/2006/main">
            <a:r>
              <a:t>The exact SIH26025 problem title and mandatory cover fields are retained from the supplied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Hardware inventory and current deterministic-engine scope: user-supplied request, 29 September 2026. The supplied brief is the authority for the four-node prototype. No physical mine deployment, measurement accuracy, calibration curve or prediction accuracy is asserted. Current ESP-NOW star topology is consistent with firmware/receiver/receiver.ino. Field software labels refer to the proposed field deployment, not a claim that no demo software exists.</a:t>
            </a:r>
            <a:endParaRPr/>
          </a:p>
          <a:p xmlns:a="http://schemas.openxmlformats.org/drawingml/2006/main">
            <a:pPr>
              <a:spcBef>
                <a:spcPct val="0"/>
              </a:spcBef>
              <a:buNone/>
            </a:pPr>
            <a:r>
              <a:t>MOLE continuously observes localized movement above or near underground workings using distributed sensor nodes and converts abnormal change into traceable early-warning events. N1: ESP32, MPU-class IMU, slide potentiometer, moisture. N2: ESP32, MPU-class IMU, temperature. N3: ESP32, slide potentiometer/linear mechanism, MQ-2. N4: ESP32, MPU-class IMU, BME280, LCD and buzzer. Neighbour agreement remains planned.</a:t>
            </a:r>
            <a:endParaRPr/>
          </a:p>
          <a:p xmlns:a="http://schemas.openxmlformats.org/drawingml/2006/main">
            <a:pPr>
              <a:spcBef>
                <a:spcPct val="0"/>
              </a:spcBef>
              <a:buNone/>
            </a:pPr>
            <a:r>
              <a:t>Surveying context: https://cimfr.res.in/division/mine-planning-and-surveying.html</a:t>
            </a:r>
            <a:endParaRPr/>
          </a:p>
          <a:p xmlns:a="http://schemas.openxmlformats.org/drawingml/2006/main">
            <a:pPr>
              <a:spcBef>
                <a:spcPct val="0"/>
              </a:spcBef>
              <a:buNone/>
            </a:pPr>
            <a:r>
              <a:t>Satellite monitoring context: https://www.isro.gov.in/ISRO_EN/NRSC_ISRO_MoU_BCCL_CMPDI.html</a:t>
            </a:r>
            <a:endParaRPr/>
          </a:p>
          <a:p xmlns:a="http://schemas.openxmlformats.org/drawingml/2006/main">
            <a:pPr>
              <a:spcBef>
                <a:spcPct val="0"/>
              </a:spcBef>
              <a:buNone/>
            </a:pPr>
            <a:r>
              <a:t>MQ-2 is a prototype context channel and does not establish certified mine-gas safety.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Hardware inventory and current deterministic-engine scope: user-supplied request, 29 September 2026. The supplied brief is the authority for the four-node prototype. No physical mine deployment, measurement accuracy, calibration curve or prediction accuracy is asserted. Current ESP-NOW star topology is consistent with firmware/receiver/receiver.ino. Field software labels refer to the proposed field deployment, not a claim that no demo software exists.</a:t>
            </a:r>
            <a:endParaRPr/>
          </a:p>
          <a:p xmlns:a="http://schemas.openxmlformats.org/drawingml/2006/main">
            <a:pPr>
              <a:spcBef>
                <a:spcPct val="0"/>
              </a:spcBef>
              <a:buNone/>
            </a:pPr>
            <a:r>
              <a:t>CURRENT: ESP32 / Espressif, Arduino / Embedded C++, actual sensors specified on slide 2. Rule engine: baseline, filtering, thresholds, persistence, rate-of-change, fault/stale detection. Gateway timestamps must distinguish acquisition time from receipt time and record clock quality.</a:t>
            </a:r>
            <a:endParaRPr/>
          </a:p>
          <a:p xmlns:a="http://schemas.openxmlformats.org/drawingml/2006/main">
            <a:pPr>
              <a:spcBef>
                <a:spcPct val="0"/>
              </a:spcBef>
              <a:buNone/>
            </a:pPr>
            <a:r>
              <a:t>PLANNED: precision displacement sensors, long-range low-data-rate LoRa, Raspberry Pi-class gateway, battery/solar, local durable storage, database, incident history, maintenance diagnostics, dashboard/GIS and SMS/app alerts where suitable. Candidate field stack: FastAPI, PostgreSQL / TimescaleDB, React, Leaflet / OpenStreetMap. These are candidates, not field-deployment claims.</a:t>
            </a:r>
            <a:endParaRPr/>
          </a:p>
          <a:p xmlns:a="http://schemas.openxmlformats.org/drawingml/2006/main">
            <a:pPr>
              <a:spcBef>
                <a:spcPct val="0"/>
              </a:spcBef>
              <a:buNone/>
            </a:pPr>
            <a:r>
              <a:t>AI: extract tilt rate, vibration RMS/intensity, relative-displacement rate, persistence, cross-node correlation and environmental context. Run an anomaly model in shadow mode before any decision authority. Future predictive models require prototype datasets, historical mine data, field pilot data and independent survey/reference measurements. Validate on held-out sites/events, report missed events, false alarms, lead time and uncertainty without inventing performance.</a:t>
            </a:r>
            <a:endParaRPr/>
          </a:p>
          <a:p xmlns:a="http://schemas.openxmlformats.org/drawingml/2006/main">
            <a:pPr>
              <a:spcBef>
                <a:spcPct val="0"/>
              </a:spcBef>
              <a:buNone/>
            </a:pPr>
            <a:r>
              <a:t>Future rover sequence: detection, localization of a suspicious zone, authorized verification, then possible rover assistance.</a:t>
            </a:r>
            <a:endParaRPr/>
          </a:p>
          <a:p xmlns:a="http://schemas.openxmlformats.org/drawingml/2006/main">
            <a:pPr>
              <a:spcBef>
                <a:spcPct val="0"/>
              </a:spcBef>
              <a:buNone/>
            </a:pPr>
            <a:r>
              <a:t>ESP-NOW reference: https://docs.espressif.com/projects/esp-idf/en/stable/esp32/api-reference/network/esp_now.html</a:t>
            </a:r>
            <a:endParaRPr/>
          </a:p>
          <a:p xmlns:a="http://schemas.openxmlformats.org/drawingml/2006/main">
            <a:pPr>
              <a:spcBef>
                <a:spcPct val="0"/>
              </a:spcBef>
              <a:buNone/>
            </a:pPr>
            <a:r>
              <a:t>LoRaWAN architecture reference (LoRaWAN is a possible network choice, not synonymous with LoRa radio): https://lora-alliance.org/about-lorawan/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Hardware inventory and current deterministic-engine scope: user-supplied request, 29 September 2026. The supplied brief is the authority for the four-node prototype. No physical mine deployment, measurement accuracy, calibration curve or prediction accuracy is asserted. Current ESP-NOW star topology is consistent with firmware/receiver/receiver.ino. Field software labels refer to the proposed field deployment, not a claim that no demo software exists.</a:t>
            </a:r>
            <a:endParaRPr/>
          </a:p>
          <a:p xmlns:a="http://schemas.openxmlformats.org/drawingml/2006/main">
            <a:pPr>
              <a:spcBef>
                <a:spcPct val="0"/>
              </a:spcBef>
              <a:buNone/>
            </a:pPr>
            <a:r>
              <a:t>Evidence gates are acceptance requirements, not claimed completed tests. Commodity components support staged deployment; no bill-of-materials cost, savings percentage or mine approval is asserted. Surface-mounted prototype placement is distinct from equipment approval for a mine operating environment.</a:t>
            </a:r>
            <a:endParaRPr/>
          </a:p>
          <a:p xmlns:a="http://schemas.openxmlformats.org/drawingml/2006/main">
            <a:pPr>
              <a:spcBef>
                <a:spcPct val="0"/>
              </a:spcBef>
              <a:buNone/>
            </a:pPr>
            <a:r>
              <a:t>DGMS equipment approval context: https://www.dgms.gov.in/writereaddata/UploadFile/APPROVALPOLICY2025_07112025.pdf</a:t>
            </a:r>
            <a:endParaRPr/>
          </a:p>
          <a:p xmlns:a="http://schemas.openxmlformats.org/drawingml/2006/main">
            <a:pPr>
              <a:spcBef>
                <a:spcPct val="0"/>
              </a:spcBef>
              <a:buNone/>
            </a:pPr>
            <a:r>
              <a:t>BME280 documentation: https://www.bosch-sensortec.com/media/boschsensortec/downloads/datasheets/bst-bme280-ds002.pdf</a:t>
            </a:r>
            <a:endParaRPr/>
          </a:p>
          <a:p xmlns:a="http://schemas.openxmlformats.org/drawingml/2006/main">
            <a:pPr>
              <a:spcBef>
                <a:spcPct val="0"/>
              </a:spcBef>
              <a:buNone/>
            </a:pPr>
            <a:r>
              <a:t>Professional subsidence and reference surveying: https://cimfr.res.in/division/mine-planning-and-surveying.html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Hardware inventory and current deterministic-engine scope: user-supplied request, 29 September 2026. The supplied brief is the authority for the four-node prototype. No physical mine deployment, measurement accuracy, calibration curve or prediction accuracy is asserted. Current ESP-NOW star topology is consistent with firmware/receiver/receiver.ino. Field software labels refer to the proposed field deployment, not a claim that no demo software exists.</a:t>
            </a:r>
            <a:endParaRPr/>
          </a:p>
          <a:p xmlns:a="http://schemas.openxmlformats.org/drawingml/2006/main">
            <a:pPr>
              <a:spcBef>
                <a:spcPct val="0"/>
              </a:spcBef>
              <a:buNone/>
            </a:pPr>
            <a:r>
              <a:t>Benefits describe the intended operational value, not measured field outcomes. No claim of preventing all incidents, predicting collapse accurately, eliminating accidents, or quantified savings. The central response workflow describes human decision support. Planned field capabilities include maintenance diagnostics, durable incident history and surveyed GIS positions. Rover inspection and remote-sensing fusion remain future R&amp;D.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Hardware inventory and current deterministic-engine scope: user-supplied request, 29 September 2026. The supplied brief is the authority for the four-node prototype. No physical mine deployment, measurement accuracy, calibration curve or prediction accuracy is asserted. Current ESP-NOW star topology is consistent with firmware/receiver/receiver.ino. Field software labels refer to the proposed field deployment, not a claim that no demo software exists.</a:t>
            </a:r>
            <a:endParaRPr/>
          </a:p>
          <a:p xmlns:a="http://schemas.openxmlformats.org/drawingml/2006/main">
            <a:pPr>
              <a:spcBef>
                <a:spcPct val="0"/>
              </a:spcBef>
              <a:buNone/>
            </a:pPr>
            <a:r>
              <a:t>Sources inspected on 29 September 2026:</a:t>
            </a:r>
            <a:endParaRPr/>
          </a:p>
          <a:p xmlns:a="http://schemas.openxmlformats.org/drawingml/2006/main">
            <a:pPr>
              <a:spcBef>
                <a:spcPct val="0"/>
              </a:spcBef>
              <a:buNone/>
            </a:pPr>
            <a:r>
              <a:t>sih: https://sih.gov.in/</a:t>
            </a:r>
            <a:endParaRPr/>
          </a:p>
          <a:p xmlns:a="http://schemas.openxmlformats.org/drawingml/2006/main">
            <a:pPr>
              <a:spcBef>
                <a:spcPct val="0"/>
              </a:spcBef>
              <a:buNone/>
            </a:pPr>
            <a:r>
              <a:t>cimfr: https://cimfr.res.in/division/mine-planning-and-surveying.html</a:t>
            </a:r>
            <a:endParaRPr/>
          </a:p>
          <a:p xmlns:a="http://schemas.openxmlformats.org/drawingml/2006/main">
            <a:pPr>
              <a:spcBef>
                <a:spcPct val="0"/>
              </a:spcBef>
              <a:buNone/>
            </a:pPr>
            <a:r>
              <a:t>isro: https://www.isro.gov.in/ISRO_EN/NRSC_ISRO_MoU_BCCL_CMPDI.html</a:t>
            </a:r>
            <a:endParaRPr/>
          </a:p>
          <a:p xmlns:a="http://schemas.openxmlformats.org/drawingml/2006/main">
            <a:pPr>
              <a:spcBef>
                <a:spcPct val="0"/>
              </a:spcBef>
              <a:buNone/>
            </a:pPr>
            <a:r>
              <a:t>dgms: https://www.dgms.gov.in/writereaddata/UploadFile/APPROVALPOLICY2025_07112025.pdf</a:t>
            </a:r>
            <a:endParaRPr/>
          </a:p>
          <a:p xmlns:a="http://schemas.openxmlformats.org/drawingml/2006/main">
            <a:pPr>
              <a:spcBef>
                <a:spcPct val="0"/>
              </a:spcBef>
              <a:buNone/>
            </a:pPr>
            <a:r>
              <a:t>esp: https://docs.espressif.com/projects/esp-idf/en/stable/esp32/api-reference/network/esp_now.html</a:t>
            </a:r>
            <a:endParaRPr/>
          </a:p>
          <a:p xmlns:a="http://schemas.openxmlformats.org/drawingml/2006/main">
            <a:pPr>
              <a:spcBef>
                <a:spcPct val="0"/>
              </a:spcBef>
              <a:buNone/>
            </a:pPr>
            <a:r>
              <a:t>bosch: https://www.bosch-sensortec.com/media/boschsensortec/downloads/datasheets/bst-bme280-ds002.pdf</a:t>
            </a:r>
            <a:endParaRPr/>
          </a:p>
          <a:p xmlns:a="http://schemas.openxmlformats.org/drawingml/2006/main">
            <a:pPr>
              <a:spcBef>
                <a:spcPct val="0"/>
              </a:spcBef>
              <a:buNone/>
            </a:pPr>
            <a:r>
              <a:t>lora: https://lora-alliance.org/about-lorawan/</a:t>
            </a:r>
            <a:endParaRPr/>
          </a:p>
          <a:p xmlns:a="http://schemas.openxmlformats.org/drawingml/2006/main">
            <a:pPr>
              <a:spcBef>
                <a:spcPct val="0"/>
              </a:spcBef>
              <a:buNone/>
            </a:pPr>
            <a:r>
              <a:t>SIH problem-statement wording comes from the supplied brief. The portal link is general; the exact 2026 entry was not independently located. LoRa Alliance describes LoRaWAN network architecture; selecting LoRa radio does not automatically mean adopting LoRaWAN.</a:t>
            </a:r>
            <a:endParaRPr/>
          </a:p>
          <a:p xmlns:a="http://schemas.openxmlformats.org/drawingml/2006/main">
            <a:pPr>
              <a:spcBef>
                <a:spcPct val="0"/>
              </a:spcBef>
              <a:buNone/>
            </a:pPr>
            <a:r>
              <a:t>No peer-reviewed papers are attributed to the team without confirmation that they have read them. No fabricated calibration plots, logs, footage, QR destinations or physical tests.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acdcf14edb46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6f0be47d734f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ed6191f2c641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45d2cc09064f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29b64ac9474b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928fe7534b4ef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c6cfe669fad4fa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f166778d2bc46e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dc479a48c3a4bd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a58e945ddd340b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a6f2bb204df4d2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CC1E79-8180-4250-B4F9-FC01F4A73CF1}"/>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7D9CD61-2A94-45D3-92DA-5BAC84EE3E3C}"/>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DABB71C-2185-4883-AF6A-4E027F5836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0D57D204-8979-4166-AA86-42902BB387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FF5F71F-D025-4F5F-B372-958375FCC4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23D889-1A5F-407F-B300-FF2B4EFA43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0E67FBA-CF75-41BC-9CC3-D3482FD6F78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A9BAE62-8EFB-44C3-9B45-EA47A6BE53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92564015-E49E-47F2-ABFD-5DF1135E0A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5240F44-3611-45D1-A544-A719FD9045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806BA0-55E3-4A3C-8304-6005C7CAED4C}"/>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A436C77-6011-4B89-A412-BAF36FA40BF1}"/>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F06CB04-C344-4CE3-BC76-67BF2E03E9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2A6BF127-AAE8-442A-A030-511E58FD81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B1EB447-007E-4995-8B99-26D2574DE0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019005-6FC0-4574-B7AA-BE0A6665B8E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03F415D-C0E7-4C8C-91CF-2F27A44C989E}"/>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20DB8A3-1DCF-4667-A056-63BE0C596B45}"/>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1D93CE2E-DFFD-4FEF-B016-FF4A553A5D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2A291F01-95BE-43A8-8D25-5E0B058DF7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3B74605-6188-4D60-B329-FCD7177C89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8A09DB-0399-41C3-B673-CCF4EF06B5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FDF7DDC-0227-4923-B31B-BBDDF92AC9E4}"/>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A961555-895C-4897-BB23-7F961AEBA3CE}"/>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4ABAB158-0E3E-4337-95B9-281C568DA6BC}"/>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D27E72D-3C46-493E-847E-25ECF9DE5993}"/>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CA987551-C3B9-4B07-9139-4BFC47B0C3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8EF1FF3B-5361-4594-A8A7-96A00485CE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DCD61607-3033-4BE2-B1C2-173D806B43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B76838-E84A-4626-BCDD-9F44EF33FD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DAEBE23D-99B5-42BD-846C-3420592C98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680477B6-63A3-4945-BFC7-E8C38CB1D2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4C60DF61-3F9E-4865-A36D-9D9143E2F7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53C598E2-6D7B-4B13-A2DC-D274CBE72C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731B15BF-214E-4B50-A09D-8DA6F59984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07D8F454-E2DA-428B-9F1F-F71C3E5319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B517FC-C944-4A6A-8560-28D6203A5066}"/>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DEFE98D-62B4-4E8C-AAA3-79423894C926}"/>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F6DEA5D-9F61-462B-AA25-E20EC0947310}"/>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9D2C5A4-8243-4C17-A2B6-C86F183E4B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5F074F25-38C6-4940-ACFB-0A2A2C2540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E7DA5109-E73A-400F-BDB1-7560B8CD2C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52ED15-C8A8-46B9-BC4B-B5EED79E7AA2}"/>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68232E8-B865-4F4C-8478-0B1DA832249A}"/>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866CCEBE-E5D0-438E-9BA1-708D144EC541}"/>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C4B06FA-87E2-4990-A9D3-2911C26280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9ADF8C98-7B3F-41EF-9DC8-A9F7E52393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25944004-E645-49D4-A979-65F94CD876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7681C9-C9BB-460A-A219-ED5AA36977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FA6F503-DA25-455C-81B1-ADD9DC1B1F2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B67C09D-52AE-4D1F-AF41-37456E173D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B49CD556-BD31-427D-8427-ADA0D634CC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CB1756B-3973-4A20-801D-7CABD88BFF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77FBC17-B862-4CA6-964D-DA1C204D59A0}"/>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C5561CA-B88E-418D-884A-919570E5862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FBC0979-C63E-439E-BB26-9DA6EACA59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9B9FB480-4155-4F2C-BC47-11A2678390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EFBD66C-EED0-4F67-AA92-9EA006C37A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323543db6740c7" /><Relationship Type="http://schemas.openxmlformats.org/officeDocument/2006/relationships/slideLayout" Target="/ppt/slideLayouts/slideLayout1.xml" Id="Rc60c7e38a62e4744" /><Relationship Type="http://schemas.openxmlformats.org/officeDocument/2006/relationships/slideLayout" Target="/ppt/slideLayouts/slideLayout2.xml" Id="R9fcb71387b384924" /><Relationship Type="http://schemas.openxmlformats.org/officeDocument/2006/relationships/slideLayout" Target="/ppt/slideLayouts/slideLayout3.xml" Id="R497b370d459f4dad" /><Relationship Type="http://schemas.openxmlformats.org/officeDocument/2006/relationships/slideLayout" Target="/ppt/slideLayouts/slideLayout4.xml" Id="R61e2f9d5cfeb45e5" /><Relationship Type="http://schemas.openxmlformats.org/officeDocument/2006/relationships/slideLayout" Target="/ppt/slideLayouts/slideLayout5.xml" Id="R94713ae4e4614359" /><Relationship Type="http://schemas.openxmlformats.org/officeDocument/2006/relationships/slideLayout" Target="/ppt/slideLayouts/slideLayout6.xml" Id="R7c759a2e7ff249e5" /><Relationship Type="http://schemas.openxmlformats.org/officeDocument/2006/relationships/slideLayout" Target="/ppt/slideLayouts/slideLayout7.xml" Id="Ra8bd1512ed254d3e" /><Relationship Type="http://schemas.openxmlformats.org/officeDocument/2006/relationships/slideLayout" Target="/ppt/slideLayouts/slideLayout8.xml" Id="Rb0f9273a115c4934" /><Relationship Type="http://schemas.openxmlformats.org/officeDocument/2006/relationships/slideLayout" Target="/ppt/slideLayouts/slideLayout9.xml" Id="Rdc00473190394567" /><Relationship Type="http://schemas.openxmlformats.org/officeDocument/2006/relationships/slideLayout" Target="/ppt/slideLayouts/slideLayout10.xml" Id="R39df3233bc7445d9" /><Relationship Type="http://schemas.openxmlformats.org/officeDocument/2006/relationships/slideLayout" Target="/ppt/slideLayouts/slideLayout11.xml" Id="R0733ac3f0d33485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04F64D82-D33A-4520-B0DF-3D5F400FD0D5}"/>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D2545AED-5593-4A01-A5C7-5A69DD32BA09}"/>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E39EAA1-A9C5-4AEB-B8EF-570D4D4A8E01}"/>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8993FC37-DBB4-423F-8649-811C4C276D2A}"/>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5EF1A3A-9E37-4004-AC5B-7A46B2F1EC7D}"/>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0c7e38a62e4744"/>
    <p:sldLayoutId xmlns:r="http://schemas.openxmlformats.org/officeDocument/2006/relationships" id="2147483650" r:id="R9fcb71387b384924"/>
    <p:sldLayoutId xmlns:r="http://schemas.openxmlformats.org/officeDocument/2006/relationships" id="2147483651" r:id="R497b370d459f4dad"/>
    <p:sldLayoutId xmlns:r="http://schemas.openxmlformats.org/officeDocument/2006/relationships" id="2147483652" r:id="R61e2f9d5cfeb45e5"/>
    <p:sldLayoutId xmlns:r="http://schemas.openxmlformats.org/officeDocument/2006/relationships" id="2147483653" r:id="R94713ae4e4614359"/>
    <p:sldLayoutId xmlns:r="http://schemas.openxmlformats.org/officeDocument/2006/relationships" id="2147483654" r:id="R7c759a2e7ff249e5"/>
    <p:sldLayoutId xmlns:r="http://schemas.openxmlformats.org/officeDocument/2006/relationships" id="2147483655" r:id="Ra8bd1512ed254d3e"/>
    <p:sldLayoutId xmlns:r="http://schemas.openxmlformats.org/officeDocument/2006/relationships" id="2147483656" r:id="Rb0f9273a115c4934"/>
    <p:sldLayoutId xmlns:r="http://schemas.openxmlformats.org/officeDocument/2006/relationships" id="2147483657" r:id="Rdc00473190394567"/>
    <p:sldLayoutId xmlns:r="http://schemas.openxmlformats.org/officeDocument/2006/relationships" id="2147483658" r:id="R39df3233bc7445d9"/>
    <p:sldLayoutId xmlns:r="http://schemas.openxmlformats.org/officeDocument/2006/relationships" id="2147483659" r:id="R0733ac3f0d334854"/>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a5680ca0644d19" /><Relationship Type="http://schemas.openxmlformats.org/officeDocument/2006/relationships/image" Target="/ppt/media/image.png" Id="Rc24a556e471849ff" /><Relationship Type="http://schemas.openxmlformats.org/officeDocument/2006/relationships/notesSlide" Target="/ppt/notesSlides/notesSlide1.xml" Id="R17dfe1c7f094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25e1bd7cb1c491b" /><Relationship Type="http://schemas.openxmlformats.org/officeDocument/2006/relationships/image" Target="/ppt/media/image2.png" Id="Rdd494a1b4c0f4357" /><Relationship Type="http://schemas.openxmlformats.org/officeDocument/2006/relationships/notesSlide" Target="/ppt/notesSlides/notesSlide2.xml" Id="R2db73d19296c41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17d6490d9324585" /><Relationship Type="http://schemas.openxmlformats.org/officeDocument/2006/relationships/image" Target="/ppt/media/image3.png" Id="R6fc1c99c66404fed" /><Relationship Type="http://schemas.openxmlformats.org/officeDocument/2006/relationships/notesSlide" Target="/ppt/notesSlides/notesSlide3.xml" Id="Rc11286e71ee946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0a7b9a2cdfd46d2" /><Relationship Type="http://schemas.openxmlformats.org/officeDocument/2006/relationships/image" Target="/ppt/media/image4.png" Id="Rf259df71c63d4b82" /><Relationship Type="http://schemas.openxmlformats.org/officeDocument/2006/relationships/notesSlide" Target="/ppt/notesSlides/notesSlide4.xml" Id="R12e8120b6b4b4f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9d068872cf14065" /><Relationship Type="http://schemas.openxmlformats.org/officeDocument/2006/relationships/image" Target="/ppt/media/image5.png" Id="R083870251d3d44f3" /><Relationship Type="http://schemas.openxmlformats.org/officeDocument/2006/relationships/notesSlide" Target="/ppt/notesSlides/notesSlide5.xml" Id="Rc3e13217ed6f4f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e76146e6b1c450b" /><Relationship Type="http://schemas.openxmlformats.org/officeDocument/2006/relationships/hyperlink" Target="https://sih.gov.in/" TargetMode="External" Id="R204921fcec4a4105" /><Relationship Type="http://schemas.openxmlformats.org/officeDocument/2006/relationships/hyperlink" Target="https://cimfr.res.in/division/mine-planning-and-surveying.html" TargetMode="External" Id="Rb0dcc948befd4437" /><Relationship Type="http://schemas.openxmlformats.org/officeDocument/2006/relationships/hyperlink" Target="https://www.isro.gov.in/ISRO_EN/NRSC_ISRO_MoU_BCCL_CMPDI.html" TargetMode="External" Id="R163ab37b23cf4832" /><Relationship Type="http://schemas.openxmlformats.org/officeDocument/2006/relationships/hyperlink" Target="https://www.dgms.gov.in/writereaddata/UploadFile/APPROVALPOLICY2025_07112025.pdf" TargetMode="External" Id="Rfbd8f409b3264b11" /><Relationship Type="http://schemas.openxmlformats.org/officeDocument/2006/relationships/hyperlink" Target="https://docs.espressif.com/projects/esp-idf/en/stable/esp32/api-reference/network/esp_now.html" TargetMode="External" Id="Rf9903dd268e64304" /><Relationship Type="http://schemas.openxmlformats.org/officeDocument/2006/relationships/hyperlink" Target="https://www.bosch-sensortec.com/media/boschsensortec/downloads/datasheets/bst-bme280-ds002.pdf" TargetMode="External" Id="R0e217f063c614a0a" /><Relationship Type="http://schemas.openxmlformats.org/officeDocument/2006/relationships/hyperlink" Target="https://lora-alliance.org/about-lorawan/" TargetMode="External" Id="R4ccabbb426344af5" /><Relationship Type="http://schemas.openxmlformats.org/officeDocument/2006/relationships/image" Target="/ppt/media/image6.png" Id="R4dfb207cf6934956" /><Relationship Type="http://schemas.openxmlformats.org/officeDocument/2006/relationships/notesSlide" Target="/ppt/notesSlides/notesSlide6.xml" Id="Rf89a6018787249bc"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4" name="Subtitle 3">
            <a:extLst xmlns:a="http://schemas.openxmlformats.org/drawingml/2006/main">
              <a:ext uri="{FF2B5EF4-FFF2-40B4-BE49-F238E27FC236}">
                <a16:creationId xmlns:a16="http://schemas.microsoft.com/office/drawing/2014/main" id="{4D7CEFB6-0119-4ED4-B5C3-F6259CF8E666}"/>
              </a:ext>
            </a:extLst>
          </p:cNvPr>
          <p:cNvSpPr>
            <a:spLocks xmlns:a="http://schemas.openxmlformats.org/drawingml/2006/main" noGrp="1"/>
          </p:cNvSpPr>
          <p:nvPr>
            <p:ph type="subTitle" idx="1"/>
          </p:nvPr>
        </p:nvSpPr>
        <p:spPr>
          <a:xfrm xmlns:a="http://schemas.openxmlformats.org/drawingml/2006/main">
            <a:off x="1245680" y="1143000"/>
            <a:ext cx="8534400" cy="647700"/>
          </a:xfrm>
        </p:spPr>
        <p:txBody>
          <a:bodyPr xmlns:a="http://schemas.openxmlformats.org/drawingml/2006/main" anchor="ctr"/>
          <a:lstStyle xmlns:a="http://schemas.openxmlformats.org/drawingml/2006/main"/>
          <a:p xmlns:a="http://schemas.openxmlformats.org/drawingml/2006/main">
            <a:pPr algn="ctr">
              <a:defRPr sz="3450" b="1">
                <a:solidFill>
                  <a:srgbClr val="898989"/>
                </a:solidFill>
                <a:latin typeface="Times New Roman"/>
                <a:ea typeface="Times New Roman"/>
                <a:cs typeface="Times New Roman"/>
              </a:defRPr>
            </a:pPr>
            <a:r>
              <a:rPr sz="3450" b="1">
                <a:solidFill>
                  <a:srgbClr val="898989"/>
                </a:solidFill>
                <a:latin typeface="Times New Roman"/>
                <a:ea typeface="Times New Roman"/>
                <a:cs typeface="Times New Roman"/>
              </a:rPr>
              <a:t>MOLE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FE01357F-9634-47FC-997B-5DBEA3503BB9}"/>
              </a:ext>
            </a:extLst>
          </p:cNvPr>
          <p:cNvSpPr>
            <a:spLocks xmlns:a="http://schemas.openxmlformats.org/drawingml/2006/main" noGrp="1"/>
          </p:cNvSpPr>
          <p:nvPr>
            <p:ph type="ctrTitle" idx="0"/>
          </p:nvPr>
        </p:nvSpPr>
        <p:spPr>
          <a:xfrm xmlns:a="http://schemas.openxmlformats.org/drawingml/2006/main">
            <a:off x="331280" y="209550"/>
            <a:ext cx="9525000" cy="647700"/>
          </a:xfrm>
        </p:spPr>
        <p:txBody>
          <a:bodyPr xmlns:a="http://schemas.openxmlformats.org/drawingml/2006/main" lIns="0" tIns="0" rIns="0" bIns="0" anchor="ctr"/>
          <a:lstStyle xmlns:a="http://schemas.openxmlformats.org/drawingml/2006/main"/>
          <a:p xmlns:a="http://schemas.openxmlformats.org/drawingml/2006/main">
            <a:pPr algn="ctr">
              <a:defRPr sz="4000" b="1">
                <a:solidFill>
                  <a:srgbClr val="214E85"/>
                </a:solidFill>
                <a:latin typeface="Garamond"/>
                <a:ea typeface="Garamond"/>
                <a:cs typeface="Garamond"/>
              </a:defRPr>
            </a:pPr>
            <a:r>
              <a:rPr sz="4000" b="1">
                <a:solidFill>
                  <a:srgbClr val="214E85"/>
                </a:solidFill>
                <a:latin typeface="Garamond"/>
                <a:ea typeface="Garamond"/>
                <a:cs typeface="Garamond"/>
              </a:rPr>
              <a:t>SMART INDIA HACKATHON </a:t>
            </a:r>
            <a:r>
              <a:rPr sz="4000" b="1">
                <a:solidFill>
                  <a:srgbClr val="214E85"/>
                </a:solidFill>
                <a:latin typeface="Garamond"/>
                <a:ea typeface="Garamond"/>
                <a:cs typeface="Garamond"/>
              </a:rPr>
              <a:t>2026</a:t>
            </a:r>
            <a:endParaRPr sz="4000" b="1">
              <a:solidFill>
                <a:schemeClr val="tx2"/>
              </a:solidFill>
              <a:latin typeface="Garamond"/>
              <a:ea typeface="Garamond"/>
              <a:cs typeface="Garamond"/>
            </a:endParaRPr>
          </a:p>
        </p:txBody>
      </p:sp>
      <p:sp>
        <p:nvSpPr>
          <p:cNvPr id="38" name="text-1">
            <a:extLst xmlns:a="http://schemas.openxmlformats.org/drawingml/2006/main">
              <a:ext uri="{FF2B5EF4-FFF2-40B4-BE49-F238E27FC236}">
                <a16:creationId xmlns:a16="http://schemas.microsoft.com/office/drawing/2014/main" id="{2616124E-1BC5-4BA2-832D-A015200D0227}"/>
              </a:ext>
            </a:extLst>
          </p:cNvPr>
          <p:cNvSpPr>
            <a:spLocks xmlns:a="http://schemas.openxmlformats.org/drawingml/2006/main" noGrp="1"/>
          </p:cNvSpPr>
          <p:nvPr/>
        </p:nvSpPr>
        <p:spPr>
          <a:xfrm xmlns:a="http://schemas.openxmlformats.org/drawingml/2006/main">
            <a:off x="400050" y="18288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898989"/>
                </a:solidFill>
                <a:latin typeface="Times New Roman"/>
                <a:ea typeface="Times New Roman"/>
                <a:cs typeface="Times New Roman"/>
              </a:defRPr>
            </a:pPr>
            <a:r>
              <a:rPr sz="2100" b="1">
                <a:solidFill>
                  <a:srgbClr val="898989"/>
                </a:solidFill>
                <a:latin typeface="Times New Roman"/>
                <a:ea typeface="Times New Roman"/>
                <a:cs typeface="Times New Roman"/>
              </a:rPr>
              <a:t>Mine Subsidence Monitoring &amp; Early Warning System</a:t>
            </a:r>
          </a:p>
        </p:txBody>
      </p:sp>
      <p:sp>
        <p:nvSpPr>
          <p:cNvPr id="39" name="text-2">
            <a:extLst xmlns:a="http://schemas.openxmlformats.org/drawingml/2006/main">
              <a:ext uri="{FF2B5EF4-FFF2-40B4-BE49-F238E27FC236}">
                <a16:creationId xmlns:a16="http://schemas.microsoft.com/office/drawing/2014/main" id="{116FB182-9DF9-4CE3-B706-B58B53DB6E05}"/>
              </a:ext>
            </a:extLst>
          </p:cNvPr>
          <p:cNvSpPr>
            <a:spLocks xmlns:a="http://schemas.openxmlformats.org/drawingml/2006/main" noGrp="1"/>
          </p:cNvSpPr>
          <p:nvPr/>
        </p:nvSpPr>
        <p:spPr>
          <a:xfrm xmlns:a="http://schemas.openxmlformats.org/drawingml/2006/main">
            <a:off x="400050" y="22002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0">
                <a:solidFill>
                  <a:srgbClr val="6D7895"/>
                </a:solidFill>
                <a:latin typeface="Times New Roman"/>
                <a:ea typeface="Times New Roman"/>
                <a:cs typeface="Times New Roman"/>
              </a:defRPr>
            </a:pPr>
            <a:r>
              <a:rPr sz="1575" b="0">
                <a:solidFill>
                  <a:srgbClr val="6D7895"/>
                </a:solidFill>
                <a:latin typeface="Times New Roman"/>
                <a:ea typeface="Times New Roman"/>
                <a:cs typeface="Times New Roman"/>
              </a:rPr>
              <a:t>Distributed surface sensing for localized, explainable early warning</a:t>
            </a:r>
          </a:p>
        </p:txBody>
      </p:sp>
      <p:sp>
        <p:nvSpPr>
          <p:cNvPr id="40" name="text-3">
            <a:extLst xmlns:a="http://schemas.openxmlformats.org/drawingml/2006/main">
              <a:ext uri="{FF2B5EF4-FFF2-40B4-BE49-F238E27FC236}">
                <a16:creationId xmlns:a16="http://schemas.microsoft.com/office/drawing/2014/main" id="{A6438651-14E2-4A30-845C-40D9E1365706}"/>
              </a:ext>
            </a:extLst>
          </p:cNvPr>
          <p:cNvSpPr>
            <a:spLocks xmlns:a="http://schemas.openxmlformats.org/drawingml/2006/main" noGrp="1"/>
          </p:cNvSpPr>
          <p:nvPr/>
        </p:nvSpPr>
        <p:spPr>
          <a:xfrm xmlns:a="http://schemas.openxmlformats.org/drawingml/2006/main">
            <a:off x="400050" y="2686050"/>
            <a:ext cx="20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1414"/>
                </a:solidFill>
                <a:latin typeface="Arial"/>
                <a:ea typeface="Arial"/>
                <a:cs typeface="Arial"/>
              </a:defRPr>
            </a:pPr>
            <a:r>
              <a:rPr sz="2025" b="0">
                <a:solidFill>
                  <a:srgbClr val="141414"/>
                </a:solidFill>
                <a:latin typeface="Arial"/>
                <a:ea typeface="Arial"/>
                <a:cs typeface="Arial"/>
              </a:rPr>
              <a:t>•</a:t>
            </a:r>
          </a:p>
        </p:txBody>
      </p:sp>
      <p:sp>
        <p:nvSpPr>
          <p:cNvPr id="41" name="text-4">
            <a:extLst xmlns:a="http://schemas.openxmlformats.org/drawingml/2006/main">
              <a:ext uri="{FF2B5EF4-FFF2-40B4-BE49-F238E27FC236}">
                <a16:creationId xmlns:a16="http://schemas.microsoft.com/office/drawing/2014/main" id="{FA7F26B4-AD09-4B43-9441-2AD576AE75E9}"/>
              </a:ext>
            </a:extLst>
          </p:cNvPr>
          <p:cNvSpPr>
            <a:spLocks xmlns:a="http://schemas.openxmlformats.org/drawingml/2006/main" noGrp="1"/>
          </p:cNvSpPr>
          <p:nvPr/>
        </p:nvSpPr>
        <p:spPr>
          <a:xfrm xmlns:a="http://schemas.openxmlformats.org/drawingml/2006/main">
            <a:off x="704850" y="2686050"/>
            <a:ext cx="5781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1414"/>
                </a:solidFill>
                <a:latin typeface="Arial"/>
                <a:ea typeface="Arial"/>
                <a:cs typeface="Arial"/>
              </a:defRPr>
            </a:pPr>
            <a:r>
              <a:rPr sz="1950" b="1">
                <a:solidFill>
                  <a:srgbClr val="141414"/>
                </a:solidFill>
                <a:latin typeface="Arial"/>
                <a:ea typeface="Arial"/>
                <a:cs typeface="Arial"/>
              </a:rPr>
              <a:t>Problem Statement ID – SIH26025</a:t>
            </a:r>
          </a:p>
        </p:txBody>
      </p:sp>
      <p:sp>
        <p:nvSpPr>
          <p:cNvPr id="42" name="text-5">
            <a:extLst xmlns:a="http://schemas.openxmlformats.org/drawingml/2006/main">
              <a:ext uri="{FF2B5EF4-FFF2-40B4-BE49-F238E27FC236}">
                <a16:creationId xmlns:a16="http://schemas.microsoft.com/office/drawing/2014/main" id="{58B8ECF1-3688-4DCD-AFB1-80AB54F478AB}"/>
              </a:ext>
            </a:extLst>
          </p:cNvPr>
          <p:cNvSpPr>
            <a:spLocks xmlns:a="http://schemas.openxmlformats.org/drawingml/2006/main" noGrp="1"/>
          </p:cNvSpPr>
          <p:nvPr/>
        </p:nvSpPr>
        <p:spPr>
          <a:xfrm xmlns:a="http://schemas.openxmlformats.org/drawingml/2006/main">
            <a:off x="400050" y="3162300"/>
            <a:ext cx="20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1414"/>
                </a:solidFill>
                <a:latin typeface="Arial"/>
                <a:ea typeface="Arial"/>
                <a:cs typeface="Arial"/>
              </a:defRPr>
            </a:pPr>
            <a:r>
              <a:rPr sz="2025" b="0">
                <a:solidFill>
                  <a:srgbClr val="141414"/>
                </a:solidFill>
                <a:latin typeface="Arial"/>
                <a:ea typeface="Arial"/>
                <a:cs typeface="Arial"/>
              </a:rPr>
              <a:t>•</a:t>
            </a:r>
          </a:p>
        </p:txBody>
      </p:sp>
      <p:sp>
        <p:nvSpPr>
          <p:cNvPr id="43" name="text-6">
            <a:extLst xmlns:a="http://schemas.openxmlformats.org/drawingml/2006/main">
              <a:ext uri="{FF2B5EF4-FFF2-40B4-BE49-F238E27FC236}">
                <a16:creationId xmlns:a16="http://schemas.microsoft.com/office/drawing/2014/main" id="{9284F533-418E-40DD-BCD5-4255FE60065D}"/>
              </a:ext>
            </a:extLst>
          </p:cNvPr>
          <p:cNvSpPr>
            <a:spLocks xmlns:a="http://schemas.openxmlformats.org/drawingml/2006/main" noGrp="1"/>
          </p:cNvSpPr>
          <p:nvPr/>
        </p:nvSpPr>
        <p:spPr>
          <a:xfrm xmlns:a="http://schemas.openxmlformats.org/drawingml/2006/main">
            <a:off x="704850" y="3162300"/>
            <a:ext cx="5781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1414"/>
                </a:solidFill>
                <a:latin typeface="Arial"/>
                <a:ea typeface="Arial"/>
                <a:cs typeface="Arial"/>
              </a:defRPr>
            </a:pPr>
            <a:r>
              <a:rPr sz="1950" b="1">
                <a:solidFill>
                  <a:srgbClr val="141414"/>
                </a:solidFill>
                <a:latin typeface="Arial"/>
                <a:ea typeface="Arial"/>
                <a:cs typeface="Arial"/>
              </a:rPr>
              <a:t>Problem Statement Title-</a:t>
            </a:r>
          </a:p>
        </p:txBody>
      </p:sp>
      <p:sp>
        <p:nvSpPr>
          <p:cNvPr id="44" name="text-7">
            <a:extLst xmlns:a="http://schemas.openxmlformats.org/drawingml/2006/main">
              <a:ext uri="{FF2B5EF4-FFF2-40B4-BE49-F238E27FC236}">
                <a16:creationId xmlns:a16="http://schemas.microsoft.com/office/drawing/2014/main" id="{D127BE73-A93A-4F87-B9DD-4A152C567A0A}"/>
              </a:ext>
            </a:extLst>
          </p:cNvPr>
          <p:cNvSpPr>
            <a:spLocks xmlns:a="http://schemas.openxmlformats.org/drawingml/2006/main" noGrp="1"/>
          </p:cNvSpPr>
          <p:nvPr/>
        </p:nvSpPr>
        <p:spPr>
          <a:xfrm xmlns:a="http://schemas.openxmlformats.org/drawingml/2006/main">
            <a:off x="704850" y="3552825"/>
            <a:ext cx="5543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1414"/>
                </a:solidFill>
                <a:latin typeface="Arial"/>
                <a:ea typeface="Arial"/>
                <a:cs typeface="Arial"/>
              </a:defRPr>
            </a:pPr>
            <a:r>
              <a:rPr sz="1650" b="1">
                <a:solidFill>
                  <a:srgbClr val="141414"/>
                </a:solidFill>
                <a:latin typeface="Arial"/>
                <a:ea typeface="Arial"/>
                <a:cs typeface="Arial"/>
              </a:rPr>
              <a:t>Development of an AI-enabled Low Cost Real Time Mine Subsidence Monitoring, Prediction and Early Warning System for Underground Coal Mines in India</a:t>
            </a:r>
          </a:p>
        </p:txBody>
      </p:sp>
      <p:sp>
        <p:nvSpPr>
          <p:cNvPr id="45" name="text-8">
            <a:extLst xmlns:a="http://schemas.openxmlformats.org/drawingml/2006/main">
              <a:ext uri="{FF2B5EF4-FFF2-40B4-BE49-F238E27FC236}">
                <a16:creationId xmlns:a16="http://schemas.microsoft.com/office/drawing/2014/main" id="{22B00740-9F97-4DED-A198-534871CD6B03}"/>
              </a:ext>
            </a:extLst>
          </p:cNvPr>
          <p:cNvSpPr>
            <a:spLocks xmlns:a="http://schemas.openxmlformats.org/drawingml/2006/main" noGrp="1"/>
          </p:cNvSpPr>
          <p:nvPr/>
        </p:nvSpPr>
        <p:spPr>
          <a:xfrm xmlns:a="http://schemas.openxmlformats.org/drawingml/2006/main">
            <a:off x="400050" y="4772025"/>
            <a:ext cx="20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1414"/>
                </a:solidFill>
                <a:latin typeface="Arial"/>
                <a:ea typeface="Arial"/>
                <a:cs typeface="Arial"/>
              </a:defRPr>
            </a:pPr>
            <a:r>
              <a:rPr sz="2025" b="0">
                <a:solidFill>
                  <a:srgbClr val="141414"/>
                </a:solidFill>
                <a:latin typeface="Arial"/>
                <a:ea typeface="Arial"/>
                <a:cs typeface="Arial"/>
              </a:rPr>
              <a:t>•</a:t>
            </a:r>
          </a:p>
        </p:txBody>
      </p:sp>
      <p:sp>
        <p:nvSpPr>
          <p:cNvPr id="46" name="text-9">
            <a:extLst xmlns:a="http://schemas.openxmlformats.org/drawingml/2006/main">
              <a:ext uri="{FF2B5EF4-FFF2-40B4-BE49-F238E27FC236}">
                <a16:creationId xmlns:a16="http://schemas.microsoft.com/office/drawing/2014/main" id="{3898A86F-FB81-436F-8A6A-A7C33A4836C0}"/>
              </a:ext>
            </a:extLst>
          </p:cNvPr>
          <p:cNvSpPr>
            <a:spLocks xmlns:a="http://schemas.openxmlformats.org/drawingml/2006/main" noGrp="1"/>
          </p:cNvSpPr>
          <p:nvPr/>
        </p:nvSpPr>
        <p:spPr>
          <a:xfrm xmlns:a="http://schemas.openxmlformats.org/drawingml/2006/main">
            <a:off x="704850" y="4772025"/>
            <a:ext cx="5781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1414"/>
                </a:solidFill>
                <a:latin typeface="Arial"/>
                <a:ea typeface="Arial"/>
                <a:cs typeface="Arial"/>
              </a:defRPr>
            </a:pPr>
            <a:r>
              <a:rPr sz="1950" b="1">
                <a:solidFill>
                  <a:srgbClr val="141414"/>
                </a:solidFill>
                <a:latin typeface="Arial"/>
                <a:ea typeface="Arial"/>
                <a:cs typeface="Arial"/>
              </a:rPr>
              <a:t>Theme- Disaster Management</a:t>
            </a:r>
          </a:p>
        </p:txBody>
      </p:sp>
      <p:sp>
        <p:nvSpPr>
          <p:cNvPr id="47" name="text-10">
            <a:extLst xmlns:a="http://schemas.openxmlformats.org/drawingml/2006/main">
              <a:ext uri="{FF2B5EF4-FFF2-40B4-BE49-F238E27FC236}">
                <a16:creationId xmlns:a16="http://schemas.microsoft.com/office/drawing/2014/main" id="{4E089262-9725-41C3-B301-8561BF7265FB}"/>
              </a:ext>
            </a:extLst>
          </p:cNvPr>
          <p:cNvSpPr>
            <a:spLocks xmlns:a="http://schemas.openxmlformats.org/drawingml/2006/main" noGrp="1"/>
          </p:cNvSpPr>
          <p:nvPr/>
        </p:nvSpPr>
        <p:spPr>
          <a:xfrm xmlns:a="http://schemas.openxmlformats.org/drawingml/2006/main">
            <a:off x="400050" y="5238750"/>
            <a:ext cx="20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1414"/>
                </a:solidFill>
                <a:latin typeface="Arial"/>
                <a:ea typeface="Arial"/>
                <a:cs typeface="Arial"/>
              </a:defRPr>
            </a:pPr>
            <a:r>
              <a:rPr sz="2025" b="0">
                <a:solidFill>
                  <a:srgbClr val="141414"/>
                </a:solidFill>
                <a:latin typeface="Arial"/>
                <a:ea typeface="Arial"/>
                <a:cs typeface="Arial"/>
              </a:rPr>
              <a:t>•</a:t>
            </a:r>
          </a:p>
        </p:txBody>
      </p:sp>
      <p:sp>
        <p:nvSpPr>
          <p:cNvPr id="48" name="text-11">
            <a:extLst xmlns:a="http://schemas.openxmlformats.org/drawingml/2006/main">
              <a:ext uri="{FF2B5EF4-FFF2-40B4-BE49-F238E27FC236}">
                <a16:creationId xmlns:a16="http://schemas.microsoft.com/office/drawing/2014/main" id="{4853CD9A-3327-4E56-BE90-84D8577FD6A6}"/>
              </a:ext>
            </a:extLst>
          </p:cNvPr>
          <p:cNvSpPr>
            <a:spLocks xmlns:a="http://schemas.openxmlformats.org/drawingml/2006/main" noGrp="1"/>
          </p:cNvSpPr>
          <p:nvPr/>
        </p:nvSpPr>
        <p:spPr>
          <a:xfrm xmlns:a="http://schemas.openxmlformats.org/drawingml/2006/main">
            <a:off x="704850" y="5238750"/>
            <a:ext cx="5781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1414"/>
                </a:solidFill>
                <a:latin typeface="Arial"/>
                <a:ea typeface="Arial"/>
                <a:cs typeface="Arial"/>
              </a:defRPr>
            </a:pPr>
            <a:r>
              <a:rPr sz="1950" b="1">
                <a:solidFill>
                  <a:srgbClr val="141414"/>
                </a:solidFill>
                <a:latin typeface="Arial"/>
                <a:ea typeface="Arial"/>
                <a:cs typeface="Arial"/>
              </a:rPr>
              <a:t>PS Category- Hardware</a:t>
            </a:r>
          </a:p>
        </p:txBody>
      </p:sp>
      <p:sp>
        <p:nvSpPr>
          <p:cNvPr id="49" name="text-12">
            <a:extLst xmlns:a="http://schemas.openxmlformats.org/drawingml/2006/main">
              <a:ext uri="{FF2B5EF4-FFF2-40B4-BE49-F238E27FC236}">
                <a16:creationId xmlns:a16="http://schemas.microsoft.com/office/drawing/2014/main" id="{FB4DD4F2-1E6E-4155-8037-D19D2DA742D5}"/>
              </a:ext>
            </a:extLst>
          </p:cNvPr>
          <p:cNvSpPr>
            <a:spLocks xmlns:a="http://schemas.openxmlformats.org/drawingml/2006/main" noGrp="1"/>
          </p:cNvSpPr>
          <p:nvPr/>
        </p:nvSpPr>
        <p:spPr>
          <a:xfrm xmlns:a="http://schemas.openxmlformats.org/drawingml/2006/main">
            <a:off x="400050" y="5705475"/>
            <a:ext cx="20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1414"/>
                </a:solidFill>
                <a:latin typeface="Arial"/>
                <a:ea typeface="Arial"/>
                <a:cs typeface="Arial"/>
              </a:defRPr>
            </a:pPr>
            <a:r>
              <a:rPr sz="2025" b="0">
                <a:solidFill>
                  <a:srgbClr val="141414"/>
                </a:solidFill>
                <a:latin typeface="Arial"/>
                <a:ea typeface="Arial"/>
                <a:cs typeface="Arial"/>
              </a:rPr>
              <a:t>•</a:t>
            </a:r>
          </a:p>
        </p:txBody>
      </p:sp>
      <p:sp>
        <p:nvSpPr>
          <p:cNvPr id="50" name="text-13">
            <a:extLst xmlns:a="http://schemas.openxmlformats.org/drawingml/2006/main">
              <a:ext uri="{FF2B5EF4-FFF2-40B4-BE49-F238E27FC236}">
                <a16:creationId xmlns:a16="http://schemas.microsoft.com/office/drawing/2014/main" id="{5EA3AE4D-93ED-4B4F-A0ED-1D4D335D8F91}"/>
              </a:ext>
            </a:extLst>
          </p:cNvPr>
          <p:cNvSpPr>
            <a:spLocks xmlns:a="http://schemas.openxmlformats.org/drawingml/2006/main" noGrp="1"/>
          </p:cNvSpPr>
          <p:nvPr/>
        </p:nvSpPr>
        <p:spPr>
          <a:xfrm xmlns:a="http://schemas.openxmlformats.org/drawingml/2006/main">
            <a:off x="704850" y="5705475"/>
            <a:ext cx="5781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1414"/>
                </a:solidFill>
                <a:latin typeface="Arial"/>
                <a:ea typeface="Arial"/>
                <a:cs typeface="Arial"/>
              </a:defRPr>
            </a:pPr>
            <a:r>
              <a:rPr sz="1950" b="1">
                <a:solidFill>
                  <a:srgbClr val="141414"/>
                </a:solidFill>
                <a:latin typeface="Arial"/>
                <a:ea typeface="Arial"/>
                <a:cs typeface="Arial"/>
              </a:rPr>
              <a:t>Team ID-</a:t>
            </a:r>
          </a:p>
        </p:txBody>
      </p:sp>
      <p:sp>
        <p:nvSpPr>
          <p:cNvPr id="51" name="">
            <a:extLst xmlns:a="http://schemas.openxmlformats.org/drawingml/2006/main">
              <a:ext uri="{FF2B5EF4-FFF2-40B4-BE49-F238E27FC236}">
                <a16:creationId xmlns:a16="http://schemas.microsoft.com/office/drawing/2014/main" id="{64D5974A-D953-401D-918A-8408E5990F44}"/>
              </a:ext>
            </a:extLst>
          </p:cNvPr>
          <p:cNvSpPr>
            <a:spLocks xmlns:a="http://schemas.openxmlformats.org/drawingml/2006/main" noGrp="1"/>
          </p:cNvSpPr>
          <p:nvPr/>
        </p:nvSpPr>
        <p:spPr>
          <a:xfrm xmlns:a="http://schemas.openxmlformats.org/drawingml/2006/main">
            <a:off x="1971675" y="6000750"/>
            <a:ext cx="3924300" cy="0"/>
          </a:xfrm>
          <a:prstGeom xmlns:a="http://schemas.openxmlformats.org/drawingml/2006/main" prst="line">
            <a:avLst/>
          </a:prstGeom>
          <a:noFill xmlns:a="http://schemas.openxmlformats.org/drawingml/2006/main"/>
          <a:ln xmlns:a="http://schemas.openxmlformats.org/drawingml/2006/main" w="9525">
            <a:solidFill>
              <a:srgbClr val="505C6B"/>
            </a:solidFill>
            <a:prstDash val="solid"/>
          </a:ln>
        </p:spPr>
      </p:sp>
      <p:sp>
        <p:nvSpPr>
          <p:cNvPr id="52" name="text-14">
            <a:extLst xmlns:a="http://schemas.openxmlformats.org/drawingml/2006/main">
              <a:ext uri="{FF2B5EF4-FFF2-40B4-BE49-F238E27FC236}">
                <a16:creationId xmlns:a16="http://schemas.microsoft.com/office/drawing/2014/main" id="{802415BB-F7AC-48DD-8F67-A488CB10E890}"/>
              </a:ext>
            </a:extLst>
          </p:cNvPr>
          <p:cNvSpPr>
            <a:spLocks xmlns:a="http://schemas.openxmlformats.org/drawingml/2006/main" noGrp="1"/>
          </p:cNvSpPr>
          <p:nvPr/>
        </p:nvSpPr>
        <p:spPr>
          <a:xfrm xmlns:a="http://schemas.openxmlformats.org/drawingml/2006/main">
            <a:off x="400050" y="6210300"/>
            <a:ext cx="20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1414"/>
                </a:solidFill>
                <a:latin typeface="Arial"/>
                <a:ea typeface="Arial"/>
                <a:cs typeface="Arial"/>
              </a:defRPr>
            </a:pPr>
            <a:r>
              <a:rPr sz="2025" b="0">
                <a:solidFill>
                  <a:srgbClr val="141414"/>
                </a:solidFill>
                <a:latin typeface="Arial"/>
                <a:ea typeface="Arial"/>
                <a:cs typeface="Arial"/>
              </a:rPr>
              <a:t>•</a:t>
            </a:r>
          </a:p>
        </p:txBody>
      </p:sp>
      <p:sp>
        <p:nvSpPr>
          <p:cNvPr id="53" name="text-15">
            <a:extLst xmlns:a="http://schemas.openxmlformats.org/drawingml/2006/main">
              <a:ext uri="{FF2B5EF4-FFF2-40B4-BE49-F238E27FC236}">
                <a16:creationId xmlns:a16="http://schemas.microsoft.com/office/drawing/2014/main" id="{3997EEBC-0A1D-47B7-836A-9DA0C4E3E863}"/>
              </a:ext>
            </a:extLst>
          </p:cNvPr>
          <p:cNvSpPr>
            <a:spLocks xmlns:a="http://schemas.openxmlformats.org/drawingml/2006/main" noGrp="1"/>
          </p:cNvSpPr>
          <p:nvPr/>
        </p:nvSpPr>
        <p:spPr>
          <a:xfrm xmlns:a="http://schemas.openxmlformats.org/drawingml/2006/main">
            <a:off x="704850" y="6210300"/>
            <a:ext cx="5781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1414"/>
                </a:solidFill>
                <a:latin typeface="Arial"/>
                <a:ea typeface="Arial"/>
                <a:cs typeface="Arial"/>
              </a:defRPr>
            </a:pPr>
            <a:r>
              <a:rPr sz="1950" b="1">
                <a:solidFill>
                  <a:srgbClr val="141414"/>
                </a:solidFill>
                <a:latin typeface="Arial"/>
                <a:ea typeface="Arial"/>
                <a:cs typeface="Arial"/>
              </a:rPr>
              <a:t>Team Name- We Cook</a:t>
            </a:r>
          </a:p>
        </p:txBody>
      </p:sp>
      <p:sp>
        <p:nvSpPr>
          <p:cNvPr id="54" name="prototype-photo-cover">
            <a:extLst xmlns:a="http://schemas.openxmlformats.org/drawingml/2006/main">
              <a:ext uri="{FF2B5EF4-FFF2-40B4-BE49-F238E27FC236}">
                <a16:creationId xmlns:a16="http://schemas.microsoft.com/office/drawing/2014/main" id="{18DDF201-16C5-4400-8C61-41055803617F}"/>
              </a:ext>
            </a:extLst>
          </p:cNvPr>
          <p:cNvSpPr>
            <a:spLocks xmlns:a="http://schemas.openxmlformats.org/drawingml/2006/main" noGrp="1"/>
          </p:cNvSpPr>
          <p:nvPr/>
        </p:nvSpPr>
        <p:spPr>
          <a:xfrm xmlns:a="http://schemas.openxmlformats.org/drawingml/2006/main">
            <a:off x="6854857" y="2667000"/>
            <a:ext cx="3203543" cy="2686050"/>
          </a:xfrm>
          <a:prstGeom xmlns:a="http://schemas.openxmlformats.org/drawingml/2006/main" prst="rect">
            <a:avLst/>
          </a:prstGeom>
          <a:solidFill xmlns:a="http://schemas.openxmlformats.org/drawingml/2006/main">
            <a:srgbClr val="FFFFFF"/>
          </a:solidFill>
          <a:ln xmlns:a="http://schemas.openxmlformats.org/drawingml/2006/main" w="12383">
            <a:solidFill>
              <a:srgbClr val="CCD4DE"/>
            </a:solidFill>
            <a:prstDash val="solid"/>
          </a:ln>
        </p:spPr>
      </p:sp>
      <p:sp>
        <p:nvSpPr>
          <p:cNvPr id="55" name="text-16">
            <a:extLst xmlns:a="http://schemas.openxmlformats.org/drawingml/2006/main">
              <a:ext uri="{FF2B5EF4-FFF2-40B4-BE49-F238E27FC236}">
                <a16:creationId xmlns:a16="http://schemas.microsoft.com/office/drawing/2014/main" id="{4E30F82E-7FA1-4A0D-8FD8-58F4CBF09772}"/>
              </a:ext>
            </a:extLst>
          </p:cNvPr>
          <p:cNvSpPr>
            <a:spLocks xmlns:a="http://schemas.openxmlformats.org/drawingml/2006/main" noGrp="1"/>
          </p:cNvSpPr>
          <p:nvPr/>
        </p:nvSpPr>
        <p:spPr>
          <a:xfrm xmlns:a="http://schemas.openxmlformats.org/drawingml/2006/main">
            <a:off x="6854857" y="5419725"/>
            <a:ext cx="3203543"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05C6B"/>
                </a:solidFill>
                <a:latin typeface="Arial"/>
                <a:ea typeface="Arial"/>
                <a:cs typeface="Arial"/>
              </a:defRPr>
            </a:pPr>
            <a:r>
              <a:rPr sz="1050" b="0">
                <a:solidFill>
                  <a:srgbClr val="505C6B"/>
                </a:solidFill>
                <a:latin typeface="Arial"/>
                <a:ea typeface="Arial"/>
                <a:cs typeface="Arial"/>
              </a:rPr>
              <a:t>Current prototype</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c24a556e471849ff"/>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3153929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2447D21-A938-414E-9924-DF268AA607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8DB1F57-D4D2-4FAD-9629-B2C43EF7ED17}"/>
              </a:ext>
            </a:extLst>
          </p:cNvPr>
          <p:cNvSpPr>
            <a:spLocks xmlns:a="http://schemas.openxmlformats.org/drawingml/2006/main" noGrp="1"/>
          </p:cNvSpPr>
          <p:nvPr>
            <p:ph type="title" idx="0"/>
          </p:nvPr>
        </p:nvSpPr>
        <p:spPr>
          <a:xfrm xmlns:a="http://schemas.openxmlformats.org/drawingml/2006/main">
            <a:off x="1809750" y="495300"/>
            <a:ext cx="7924800" cy="647700"/>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MOLE</a:t>
            </a:r>
          </a:p>
        </p:txBody>
      </p:sp>
      <p:sp>
        <p:nvSpPr>
          <p:cNvPr id="6" name="Slide Number Placeholder 5">
            <a:extLst xmlns:a="http://schemas.openxmlformats.org/drawingml/2006/main">
              <a:ext uri="{FF2B5EF4-FFF2-40B4-BE49-F238E27FC236}">
                <a16:creationId xmlns:a16="http://schemas.microsoft.com/office/drawing/2014/main" id="{E1739FA3-C926-4501-80DD-2DB7FFC56B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15362" name="text-17">
            <a:extLst xmlns:a="http://schemas.openxmlformats.org/drawingml/2006/main">
              <a:ext uri="{FF2B5EF4-FFF2-40B4-BE49-F238E27FC236}">
                <a16:creationId xmlns:a16="http://schemas.microsoft.com/office/drawing/2014/main" id="{5FBF53C7-7CBE-4A99-AF1D-DFDE0F6F2828}"/>
              </a:ext>
            </a:extLst>
          </p:cNvPr>
          <p:cNvSpPr>
            <a:spLocks xmlns:a="http://schemas.openxmlformats.org/drawingml/2006/main" noGrp="1"/>
          </p:cNvSpPr>
          <p:nvPr/>
        </p:nvSpPr>
        <p:spPr>
          <a:xfrm xmlns:a="http://schemas.openxmlformats.org/drawingml/2006/main">
            <a:off x="342900" y="1143000"/>
            <a:ext cx="1150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214E85"/>
                </a:solidFill>
                <a:latin typeface="Arial"/>
                <a:ea typeface="Arial"/>
                <a:cs typeface="Arial"/>
              </a:defRPr>
            </a:pPr>
            <a:r>
              <a:rPr sz="1875" b="1">
                <a:solidFill>
                  <a:srgbClr val="214E85"/>
                </a:solidFill>
                <a:latin typeface="Arial"/>
                <a:ea typeface="Arial"/>
                <a:cs typeface="Arial"/>
              </a:rPr>
              <a:t>Proposed Solution: Four nodes. One traceable warning system.</a:t>
            </a:r>
          </a:p>
        </p:txBody>
      </p:sp>
      <p:sp>
        <p:nvSpPr>
          <p:cNvPr id="15363" name="text-18">
            <a:extLst xmlns:a="http://schemas.openxmlformats.org/drawingml/2006/main">
              <a:ext uri="{FF2B5EF4-FFF2-40B4-BE49-F238E27FC236}">
                <a16:creationId xmlns:a16="http://schemas.microsoft.com/office/drawing/2014/main" id="{EABACD7F-A36F-4B7A-9368-21A05DAB4DB5}"/>
              </a:ext>
            </a:extLst>
          </p:cNvPr>
          <p:cNvSpPr>
            <a:spLocks xmlns:a="http://schemas.openxmlformats.org/drawingml/2006/main" noGrp="1"/>
          </p:cNvSpPr>
          <p:nvPr/>
        </p:nvSpPr>
        <p:spPr>
          <a:xfrm xmlns:a="http://schemas.openxmlformats.org/drawingml/2006/main">
            <a:off x="400050" y="1571625"/>
            <a:ext cx="76200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CURRENT PROTOTYPE — 4-NODE HARDWARE DEMONSTRATION</a:t>
            </a:r>
          </a:p>
        </p:txBody>
      </p:sp>
      <p:sp>
        <p:nvSpPr>
          <p:cNvPr id="15364" name="frame-19">
            <a:extLst xmlns:a="http://schemas.openxmlformats.org/drawingml/2006/main">
              <a:ext uri="{FF2B5EF4-FFF2-40B4-BE49-F238E27FC236}">
                <a16:creationId xmlns:a16="http://schemas.microsoft.com/office/drawing/2014/main" id="{1F74905E-4231-498C-B95F-D2597E52F660}"/>
              </a:ext>
            </a:extLst>
          </p:cNvPr>
          <p:cNvSpPr>
            <a:spLocks xmlns:a="http://schemas.openxmlformats.org/drawingml/2006/main" noGrp="1"/>
          </p:cNvSpPr>
          <p:nvPr/>
        </p:nvSpPr>
        <p:spPr>
          <a:xfrm xmlns:a="http://schemas.openxmlformats.org/drawingml/2006/main">
            <a:off x="400050" y="1851374"/>
            <a:ext cx="7296150" cy="2399062"/>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5365" name="prototype-photo-top-view">
            <a:extLst xmlns:a="http://schemas.openxmlformats.org/drawingml/2006/main">
              <a:ext uri="{FF2B5EF4-FFF2-40B4-BE49-F238E27FC236}">
                <a16:creationId xmlns:a16="http://schemas.microsoft.com/office/drawing/2014/main" id="{95361905-8792-4967-AE9E-AE33ACA19784}"/>
              </a:ext>
            </a:extLst>
          </p:cNvPr>
          <p:cNvSpPr>
            <a:spLocks xmlns:a="http://schemas.openxmlformats.org/drawingml/2006/main" noGrp="1"/>
          </p:cNvSpPr>
          <p:nvPr/>
        </p:nvSpPr>
        <p:spPr>
          <a:xfrm xmlns:a="http://schemas.openxmlformats.org/drawingml/2006/main">
            <a:off x="533400" y="1978533"/>
            <a:ext cx="2952750" cy="1949768"/>
          </a:xfrm>
          <a:prstGeom xmlns:a="http://schemas.openxmlformats.org/drawingml/2006/main" prst="rect">
            <a:avLst/>
          </a:prstGeom>
          <a:solidFill xmlns:a="http://schemas.openxmlformats.org/drawingml/2006/main">
            <a:srgbClr val="FFFFFF"/>
          </a:solidFill>
          <a:ln xmlns:a="http://schemas.openxmlformats.org/drawingml/2006/main" w="12383">
            <a:solidFill>
              <a:srgbClr val="CCD4DE"/>
            </a:solidFill>
            <a:prstDash val="solid"/>
          </a:ln>
        </p:spPr>
      </p:sp>
      <p:sp>
        <p:nvSpPr>
          <p:cNvPr id="15366" name="text-20">
            <a:extLst xmlns:a="http://schemas.openxmlformats.org/drawingml/2006/main">
              <a:ext uri="{FF2B5EF4-FFF2-40B4-BE49-F238E27FC236}">
                <a16:creationId xmlns:a16="http://schemas.microsoft.com/office/drawing/2014/main" id="{A0B97FA4-E389-46E5-B560-5E8C58AA0117}"/>
              </a:ext>
            </a:extLst>
          </p:cNvPr>
          <p:cNvSpPr>
            <a:spLocks xmlns:a="http://schemas.openxmlformats.org/drawingml/2006/main" noGrp="1"/>
          </p:cNvSpPr>
          <p:nvPr/>
        </p:nvSpPr>
        <p:spPr>
          <a:xfrm xmlns:a="http://schemas.openxmlformats.org/drawingml/2006/main">
            <a:off x="533400" y="3987641"/>
            <a:ext cx="29527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a:solidFill>
                  <a:srgbClr val="505C6B"/>
                </a:solidFill>
                <a:latin typeface="Arial"/>
                <a:ea typeface="Arial"/>
                <a:cs typeface="Arial"/>
              </a:defRPr>
            </a:pPr>
            <a:r>
              <a:rPr sz="945" b="0">
                <a:solidFill>
                  <a:srgbClr val="505C6B"/>
                </a:solidFill>
                <a:latin typeface="Arial"/>
                <a:ea typeface="Arial"/>
                <a:cs typeface="Arial"/>
              </a:rPr>
              <a:t>Four-node model</a:t>
            </a:r>
          </a:p>
        </p:txBody>
      </p:sp>
      <p:sp>
        <p:nvSpPr>
          <p:cNvPr id="15367" name="text-21">
            <a:extLst xmlns:a="http://schemas.openxmlformats.org/drawingml/2006/main">
              <a:ext uri="{FF2B5EF4-FFF2-40B4-BE49-F238E27FC236}">
                <a16:creationId xmlns:a16="http://schemas.microsoft.com/office/drawing/2014/main" id="{6D1FCF6B-4407-4B41-9A16-D6D82200617B}"/>
              </a:ext>
            </a:extLst>
          </p:cNvPr>
          <p:cNvSpPr>
            <a:spLocks xmlns:a="http://schemas.openxmlformats.org/drawingml/2006/main" noGrp="1"/>
          </p:cNvSpPr>
          <p:nvPr/>
        </p:nvSpPr>
        <p:spPr>
          <a:xfrm xmlns:a="http://schemas.openxmlformats.org/drawingml/2006/main">
            <a:off x="3705225" y="1970056"/>
            <a:ext cx="1619250" cy="237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N1</a:t>
            </a:r>
          </a:p>
        </p:txBody>
      </p:sp>
      <p:sp>
        <p:nvSpPr>
          <p:cNvPr id="15368" name="text-22">
            <a:extLst xmlns:a="http://schemas.openxmlformats.org/drawingml/2006/main">
              <a:ext uri="{FF2B5EF4-FFF2-40B4-BE49-F238E27FC236}">
                <a16:creationId xmlns:a16="http://schemas.microsoft.com/office/drawing/2014/main" id="{6C0D05EA-6918-4025-872F-D4C0184C9ACF}"/>
              </a:ext>
            </a:extLst>
          </p:cNvPr>
          <p:cNvSpPr>
            <a:spLocks xmlns:a="http://schemas.openxmlformats.org/drawingml/2006/main" noGrp="1"/>
          </p:cNvSpPr>
          <p:nvPr/>
        </p:nvSpPr>
        <p:spPr>
          <a:xfrm xmlns:a="http://schemas.openxmlformats.org/drawingml/2006/main">
            <a:off x="3705225" y="2266760"/>
            <a:ext cx="1762125" cy="4492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Tilt / vibration</a:t>
            </a:r>
          </a:p>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Relative displacement</a:t>
            </a:r>
          </a:p>
        </p:txBody>
      </p:sp>
      <p:sp>
        <p:nvSpPr>
          <p:cNvPr id="15369" name="text-23">
            <a:extLst xmlns:a="http://schemas.openxmlformats.org/drawingml/2006/main">
              <a:ext uri="{FF2B5EF4-FFF2-40B4-BE49-F238E27FC236}">
                <a16:creationId xmlns:a16="http://schemas.microsoft.com/office/drawing/2014/main" id="{9391F840-82AC-46BB-BC9E-EC5E6217B0BF}"/>
              </a:ext>
            </a:extLst>
          </p:cNvPr>
          <p:cNvSpPr>
            <a:spLocks xmlns:a="http://schemas.openxmlformats.org/drawingml/2006/main" noGrp="1"/>
          </p:cNvSpPr>
          <p:nvPr/>
        </p:nvSpPr>
        <p:spPr>
          <a:xfrm xmlns:a="http://schemas.openxmlformats.org/drawingml/2006/main">
            <a:off x="3705225" y="2741486"/>
            <a:ext cx="17621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Moisture context</a:t>
            </a:r>
          </a:p>
        </p:txBody>
      </p:sp>
      <p:sp>
        <p:nvSpPr>
          <p:cNvPr id="15370" name="text-24">
            <a:extLst xmlns:a="http://schemas.openxmlformats.org/drawingml/2006/main">
              <a:ext uri="{FF2B5EF4-FFF2-40B4-BE49-F238E27FC236}">
                <a16:creationId xmlns:a16="http://schemas.microsoft.com/office/drawing/2014/main" id="{6DE43183-376F-4ED7-B573-40BD161588CB}"/>
              </a:ext>
            </a:extLst>
          </p:cNvPr>
          <p:cNvSpPr>
            <a:spLocks xmlns:a="http://schemas.openxmlformats.org/drawingml/2006/main" noGrp="1"/>
          </p:cNvSpPr>
          <p:nvPr/>
        </p:nvSpPr>
        <p:spPr>
          <a:xfrm xmlns:a="http://schemas.openxmlformats.org/drawingml/2006/main">
            <a:off x="5648325" y="1970056"/>
            <a:ext cx="1619250" cy="237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N2</a:t>
            </a:r>
          </a:p>
        </p:txBody>
      </p:sp>
      <p:sp>
        <p:nvSpPr>
          <p:cNvPr id="15371" name="text-25">
            <a:extLst xmlns:a="http://schemas.openxmlformats.org/drawingml/2006/main">
              <a:ext uri="{FF2B5EF4-FFF2-40B4-BE49-F238E27FC236}">
                <a16:creationId xmlns:a16="http://schemas.microsoft.com/office/drawing/2014/main" id="{01D94AC3-54F4-4162-BB37-2F954906C4E8}"/>
              </a:ext>
            </a:extLst>
          </p:cNvPr>
          <p:cNvSpPr>
            <a:spLocks xmlns:a="http://schemas.openxmlformats.org/drawingml/2006/main" noGrp="1"/>
          </p:cNvSpPr>
          <p:nvPr/>
        </p:nvSpPr>
        <p:spPr>
          <a:xfrm xmlns:a="http://schemas.openxmlformats.org/drawingml/2006/main">
            <a:off x="5648325" y="2266760"/>
            <a:ext cx="1762125" cy="4492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Tilt / vibration</a:t>
            </a:r>
          </a:p>
        </p:txBody>
      </p:sp>
      <p:sp>
        <p:nvSpPr>
          <p:cNvPr id="15372" name="text-26">
            <a:extLst xmlns:a="http://schemas.openxmlformats.org/drawingml/2006/main">
              <a:ext uri="{FF2B5EF4-FFF2-40B4-BE49-F238E27FC236}">
                <a16:creationId xmlns:a16="http://schemas.microsoft.com/office/drawing/2014/main" id="{ECDA2E35-4545-4F38-B6A0-2C689E022849}"/>
              </a:ext>
            </a:extLst>
          </p:cNvPr>
          <p:cNvSpPr>
            <a:spLocks xmlns:a="http://schemas.openxmlformats.org/drawingml/2006/main" noGrp="1"/>
          </p:cNvSpPr>
          <p:nvPr/>
        </p:nvSpPr>
        <p:spPr>
          <a:xfrm xmlns:a="http://schemas.openxmlformats.org/drawingml/2006/main">
            <a:off x="5648325" y="2741486"/>
            <a:ext cx="17621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Temperature context</a:t>
            </a:r>
          </a:p>
        </p:txBody>
      </p:sp>
      <p:sp>
        <p:nvSpPr>
          <p:cNvPr id="15373" name="text-27">
            <a:extLst xmlns:a="http://schemas.openxmlformats.org/drawingml/2006/main">
              <a:ext uri="{FF2B5EF4-FFF2-40B4-BE49-F238E27FC236}">
                <a16:creationId xmlns:a16="http://schemas.microsoft.com/office/drawing/2014/main" id="{3950A964-4E5B-4A0A-B88F-B35F146C5E1E}"/>
              </a:ext>
            </a:extLst>
          </p:cNvPr>
          <p:cNvSpPr>
            <a:spLocks xmlns:a="http://schemas.openxmlformats.org/drawingml/2006/main" noGrp="1"/>
          </p:cNvSpPr>
          <p:nvPr/>
        </p:nvSpPr>
        <p:spPr>
          <a:xfrm xmlns:a="http://schemas.openxmlformats.org/drawingml/2006/main">
            <a:off x="3705225" y="3097530"/>
            <a:ext cx="1619250" cy="237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N3</a:t>
            </a:r>
          </a:p>
        </p:txBody>
      </p:sp>
      <p:sp>
        <p:nvSpPr>
          <p:cNvPr id="15374" name="text-28">
            <a:extLst xmlns:a="http://schemas.openxmlformats.org/drawingml/2006/main">
              <a:ext uri="{FF2B5EF4-FFF2-40B4-BE49-F238E27FC236}">
                <a16:creationId xmlns:a16="http://schemas.microsoft.com/office/drawing/2014/main" id="{EF4F6D87-CD7E-42B1-A622-E4005E81F104}"/>
              </a:ext>
            </a:extLst>
          </p:cNvPr>
          <p:cNvSpPr>
            <a:spLocks xmlns:a="http://schemas.openxmlformats.org/drawingml/2006/main" noGrp="1"/>
          </p:cNvSpPr>
          <p:nvPr/>
        </p:nvSpPr>
        <p:spPr>
          <a:xfrm xmlns:a="http://schemas.openxmlformats.org/drawingml/2006/main">
            <a:off x="3705225" y="3394234"/>
            <a:ext cx="1762125" cy="4492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Relative displacement</a:t>
            </a:r>
          </a:p>
        </p:txBody>
      </p:sp>
      <p:sp>
        <p:nvSpPr>
          <p:cNvPr id="15375" name="text-29">
            <a:extLst xmlns:a="http://schemas.openxmlformats.org/drawingml/2006/main">
              <a:ext uri="{FF2B5EF4-FFF2-40B4-BE49-F238E27FC236}">
                <a16:creationId xmlns:a16="http://schemas.microsoft.com/office/drawing/2014/main" id="{8652559B-2E0F-4697-B0D8-D1B985199668}"/>
              </a:ext>
            </a:extLst>
          </p:cNvPr>
          <p:cNvSpPr>
            <a:spLocks xmlns:a="http://schemas.openxmlformats.org/drawingml/2006/main" noGrp="1"/>
          </p:cNvSpPr>
          <p:nvPr/>
        </p:nvSpPr>
        <p:spPr>
          <a:xfrm xmlns:a="http://schemas.openxmlformats.org/drawingml/2006/main">
            <a:off x="3705225" y="3868960"/>
            <a:ext cx="17621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MQ-2 context</a:t>
            </a:r>
          </a:p>
        </p:txBody>
      </p:sp>
      <p:sp>
        <p:nvSpPr>
          <p:cNvPr id="15376" name="text-30">
            <a:extLst xmlns:a="http://schemas.openxmlformats.org/drawingml/2006/main">
              <a:ext uri="{FF2B5EF4-FFF2-40B4-BE49-F238E27FC236}">
                <a16:creationId xmlns:a16="http://schemas.microsoft.com/office/drawing/2014/main" id="{CF3B2CEF-0227-4FF2-A7B3-A7D5C91E9CCE}"/>
              </a:ext>
            </a:extLst>
          </p:cNvPr>
          <p:cNvSpPr>
            <a:spLocks xmlns:a="http://schemas.openxmlformats.org/drawingml/2006/main" noGrp="1"/>
          </p:cNvSpPr>
          <p:nvPr/>
        </p:nvSpPr>
        <p:spPr>
          <a:xfrm xmlns:a="http://schemas.openxmlformats.org/drawingml/2006/main">
            <a:off x="5648325" y="3097530"/>
            <a:ext cx="1619250" cy="237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N4</a:t>
            </a:r>
          </a:p>
        </p:txBody>
      </p:sp>
      <p:sp>
        <p:nvSpPr>
          <p:cNvPr id="15377" name="text-31">
            <a:extLst xmlns:a="http://schemas.openxmlformats.org/drawingml/2006/main">
              <a:ext uri="{FF2B5EF4-FFF2-40B4-BE49-F238E27FC236}">
                <a16:creationId xmlns:a16="http://schemas.microsoft.com/office/drawing/2014/main" id="{7E971B02-6D47-4DD9-AF60-6AEFE1693DAC}"/>
              </a:ext>
            </a:extLst>
          </p:cNvPr>
          <p:cNvSpPr>
            <a:spLocks xmlns:a="http://schemas.openxmlformats.org/drawingml/2006/main" noGrp="1"/>
          </p:cNvSpPr>
          <p:nvPr/>
        </p:nvSpPr>
        <p:spPr>
          <a:xfrm xmlns:a="http://schemas.openxmlformats.org/drawingml/2006/main">
            <a:off x="5648325" y="3394234"/>
            <a:ext cx="1762125" cy="4492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Tilt / vibration</a:t>
            </a:r>
          </a:p>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Local LCD + buzzer</a:t>
            </a:r>
          </a:p>
        </p:txBody>
      </p:sp>
      <p:sp>
        <p:nvSpPr>
          <p:cNvPr id="15378" name="text-32">
            <a:extLst xmlns:a="http://schemas.openxmlformats.org/drawingml/2006/main">
              <a:ext uri="{FF2B5EF4-FFF2-40B4-BE49-F238E27FC236}">
                <a16:creationId xmlns:a16="http://schemas.microsoft.com/office/drawing/2014/main" id="{1C353538-254B-47A7-92F6-0F9BF8271E77}"/>
              </a:ext>
            </a:extLst>
          </p:cNvPr>
          <p:cNvSpPr>
            <a:spLocks xmlns:a="http://schemas.openxmlformats.org/drawingml/2006/main" noGrp="1"/>
          </p:cNvSpPr>
          <p:nvPr/>
        </p:nvSpPr>
        <p:spPr>
          <a:xfrm xmlns:a="http://schemas.openxmlformats.org/drawingml/2006/main">
            <a:off x="5648325" y="3868960"/>
            <a:ext cx="17621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BME280 context</a:t>
            </a:r>
          </a:p>
        </p:txBody>
      </p:sp>
      <p:sp>
        <p:nvSpPr>
          <p:cNvPr id="15379" name="text-33">
            <a:extLst xmlns:a="http://schemas.openxmlformats.org/drawingml/2006/main">
              <a:ext uri="{FF2B5EF4-FFF2-40B4-BE49-F238E27FC236}">
                <a16:creationId xmlns:a16="http://schemas.microsoft.com/office/drawing/2014/main" id="{32AE18FD-CF58-431A-BE82-E00C3022E4AF}"/>
              </a:ext>
            </a:extLst>
          </p:cNvPr>
          <p:cNvSpPr>
            <a:spLocks xmlns:a="http://schemas.openxmlformats.org/drawingml/2006/main" noGrp="1"/>
          </p:cNvSpPr>
          <p:nvPr/>
        </p:nvSpPr>
        <p:spPr>
          <a:xfrm xmlns:a="http://schemas.openxmlformats.org/drawingml/2006/main">
            <a:off x="400050" y="4360640"/>
            <a:ext cx="7296150" cy="356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505C6B"/>
                </a:solidFill>
                <a:latin typeface="Arial"/>
                <a:ea typeface="Arial"/>
                <a:cs typeface="Arial"/>
              </a:defRPr>
            </a:pPr>
            <a:r>
              <a:rPr sz="1215" b="0">
                <a:solidFill>
                  <a:srgbClr val="505C6B"/>
                </a:solidFill>
                <a:latin typeface="Arial"/>
                <a:ea typeface="Arial"/>
                <a:cs typeface="Arial"/>
              </a:rPr>
              <a:t>Movement / deformation is the primary evidence. Environmental channels provide context.</a:t>
            </a:r>
          </a:p>
        </p:txBody>
      </p:sp>
      <p:sp>
        <p:nvSpPr>
          <p:cNvPr id="15380" name="frame-34">
            <a:extLst xmlns:a="http://schemas.openxmlformats.org/drawingml/2006/main">
              <a:ext uri="{FF2B5EF4-FFF2-40B4-BE49-F238E27FC236}">
                <a16:creationId xmlns:a16="http://schemas.microsoft.com/office/drawing/2014/main" id="{E895EA38-6C15-43FE-BF1F-4354047A1D72}"/>
              </a:ext>
            </a:extLst>
          </p:cNvPr>
          <p:cNvSpPr>
            <a:spLocks xmlns:a="http://schemas.openxmlformats.org/drawingml/2006/main" noGrp="1"/>
          </p:cNvSpPr>
          <p:nvPr/>
        </p:nvSpPr>
        <p:spPr>
          <a:xfrm xmlns:a="http://schemas.openxmlformats.org/drawingml/2006/main">
            <a:off x="400050" y="4801457"/>
            <a:ext cx="1076325" cy="406908"/>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5381" name="text-35">
            <a:extLst xmlns:a="http://schemas.openxmlformats.org/drawingml/2006/main">
              <a:ext uri="{FF2B5EF4-FFF2-40B4-BE49-F238E27FC236}">
                <a16:creationId xmlns:a16="http://schemas.microsoft.com/office/drawing/2014/main" id="{1916B37C-38FC-4F01-A478-4F9956FEE651}"/>
              </a:ext>
            </a:extLst>
          </p:cNvPr>
          <p:cNvSpPr>
            <a:spLocks xmlns:a="http://schemas.openxmlformats.org/drawingml/2006/main" noGrp="1"/>
          </p:cNvSpPr>
          <p:nvPr/>
        </p:nvSpPr>
        <p:spPr>
          <a:xfrm xmlns:a="http://schemas.openxmlformats.org/drawingml/2006/main">
            <a:off x="466725" y="4852321"/>
            <a:ext cx="942975" cy="3136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Movement</a:t>
            </a:r>
          </a:p>
        </p:txBody>
      </p:sp>
      <p:sp>
        <p:nvSpPr>
          <p:cNvPr id="15382" name="">
            <a:extLst xmlns:a="http://schemas.openxmlformats.org/drawingml/2006/main">
              <a:ext uri="{FF2B5EF4-FFF2-40B4-BE49-F238E27FC236}">
                <a16:creationId xmlns:a16="http://schemas.microsoft.com/office/drawing/2014/main" id="{A5478CF4-58F8-4710-92E8-D4E4F235E8E6}"/>
              </a:ext>
            </a:extLst>
          </p:cNvPr>
          <p:cNvSpPr>
            <a:spLocks xmlns:a="http://schemas.openxmlformats.org/drawingml/2006/main" noGrp="1"/>
          </p:cNvSpPr>
          <p:nvPr/>
        </p:nvSpPr>
        <p:spPr>
          <a:xfrm xmlns:a="http://schemas.openxmlformats.org/drawingml/2006/main">
            <a:off x="1514475" y="4954048"/>
            <a:ext cx="9525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5383" name="frame-36">
            <a:extLst xmlns:a="http://schemas.openxmlformats.org/drawingml/2006/main">
              <a:ext uri="{FF2B5EF4-FFF2-40B4-BE49-F238E27FC236}">
                <a16:creationId xmlns:a16="http://schemas.microsoft.com/office/drawing/2014/main" id="{35C58517-3493-4750-84D8-F256C7DD99E6}"/>
              </a:ext>
            </a:extLst>
          </p:cNvPr>
          <p:cNvSpPr>
            <a:spLocks xmlns:a="http://schemas.openxmlformats.org/drawingml/2006/main" noGrp="1"/>
          </p:cNvSpPr>
          <p:nvPr/>
        </p:nvSpPr>
        <p:spPr>
          <a:xfrm xmlns:a="http://schemas.openxmlformats.org/drawingml/2006/main">
            <a:off x="1638300" y="4801457"/>
            <a:ext cx="1076325" cy="406908"/>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5384" name="text-37">
            <a:extLst xmlns:a="http://schemas.openxmlformats.org/drawingml/2006/main">
              <a:ext uri="{FF2B5EF4-FFF2-40B4-BE49-F238E27FC236}">
                <a16:creationId xmlns:a16="http://schemas.microsoft.com/office/drawing/2014/main" id="{50E7CC04-DC30-4413-881C-B9C84A64A719}"/>
              </a:ext>
            </a:extLst>
          </p:cNvPr>
          <p:cNvSpPr>
            <a:spLocks xmlns:a="http://schemas.openxmlformats.org/drawingml/2006/main" noGrp="1"/>
          </p:cNvSpPr>
          <p:nvPr/>
        </p:nvSpPr>
        <p:spPr>
          <a:xfrm xmlns:a="http://schemas.openxmlformats.org/drawingml/2006/main">
            <a:off x="1704975" y="4852321"/>
            <a:ext cx="942975" cy="3136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Node</a:t>
            </a:r>
          </a:p>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detection</a:t>
            </a:r>
          </a:p>
        </p:txBody>
      </p:sp>
      <p:sp>
        <p:nvSpPr>
          <p:cNvPr id="15385" name="">
            <a:extLst xmlns:a="http://schemas.openxmlformats.org/drawingml/2006/main">
              <a:ext uri="{FF2B5EF4-FFF2-40B4-BE49-F238E27FC236}">
                <a16:creationId xmlns:a16="http://schemas.microsoft.com/office/drawing/2014/main" id="{691A10D2-1B71-4299-8D9F-E2DB92A0F614}"/>
              </a:ext>
            </a:extLst>
          </p:cNvPr>
          <p:cNvSpPr>
            <a:spLocks xmlns:a="http://schemas.openxmlformats.org/drawingml/2006/main" noGrp="1"/>
          </p:cNvSpPr>
          <p:nvPr/>
        </p:nvSpPr>
        <p:spPr>
          <a:xfrm xmlns:a="http://schemas.openxmlformats.org/drawingml/2006/main">
            <a:off x="2752725" y="4954048"/>
            <a:ext cx="9525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5386" name="frame-38">
            <a:extLst xmlns:a="http://schemas.openxmlformats.org/drawingml/2006/main">
              <a:ext uri="{FF2B5EF4-FFF2-40B4-BE49-F238E27FC236}">
                <a16:creationId xmlns:a16="http://schemas.microsoft.com/office/drawing/2014/main" id="{54760AEB-19D6-4090-BA53-7396DE9A1B36}"/>
              </a:ext>
            </a:extLst>
          </p:cNvPr>
          <p:cNvSpPr>
            <a:spLocks xmlns:a="http://schemas.openxmlformats.org/drawingml/2006/main" noGrp="1"/>
          </p:cNvSpPr>
          <p:nvPr/>
        </p:nvSpPr>
        <p:spPr>
          <a:xfrm xmlns:a="http://schemas.openxmlformats.org/drawingml/2006/main">
            <a:off x="2876550" y="4801457"/>
            <a:ext cx="1076325" cy="406908"/>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5387" name="text-39">
            <a:extLst xmlns:a="http://schemas.openxmlformats.org/drawingml/2006/main">
              <a:ext uri="{FF2B5EF4-FFF2-40B4-BE49-F238E27FC236}">
                <a16:creationId xmlns:a16="http://schemas.microsoft.com/office/drawing/2014/main" id="{96DF1B0C-9284-4957-8794-F78223FD2D79}"/>
              </a:ext>
            </a:extLst>
          </p:cNvPr>
          <p:cNvSpPr>
            <a:spLocks xmlns:a="http://schemas.openxmlformats.org/drawingml/2006/main" noGrp="1"/>
          </p:cNvSpPr>
          <p:nvPr/>
        </p:nvSpPr>
        <p:spPr>
          <a:xfrm xmlns:a="http://schemas.openxmlformats.org/drawingml/2006/main">
            <a:off x="2943225" y="4852321"/>
            <a:ext cx="942975" cy="3136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Identified</a:t>
            </a:r>
          </a:p>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reading</a:t>
            </a:r>
          </a:p>
        </p:txBody>
      </p:sp>
      <p:sp>
        <p:nvSpPr>
          <p:cNvPr id="15388" name="">
            <a:extLst xmlns:a="http://schemas.openxmlformats.org/drawingml/2006/main">
              <a:ext uri="{FF2B5EF4-FFF2-40B4-BE49-F238E27FC236}">
                <a16:creationId xmlns:a16="http://schemas.microsoft.com/office/drawing/2014/main" id="{85767312-6297-4CBF-A2FA-AD0844965FF1}"/>
              </a:ext>
            </a:extLst>
          </p:cNvPr>
          <p:cNvSpPr>
            <a:spLocks xmlns:a="http://schemas.openxmlformats.org/drawingml/2006/main" noGrp="1"/>
          </p:cNvSpPr>
          <p:nvPr/>
        </p:nvSpPr>
        <p:spPr>
          <a:xfrm xmlns:a="http://schemas.openxmlformats.org/drawingml/2006/main">
            <a:off x="3990975" y="4954048"/>
            <a:ext cx="9525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5389" name="frame-40">
            <a:extLst xmlns:a="http://schemas.openxmlformats.org/drawingml/2006/main">
              <a:ext uri="{FF2B5EF4-FFF2-40B4-BE49-F238E27FC236}">
                <a16:creationId xmlns:a16="http://schemas.microsoft.com/office/drawing/2014/main" id="{04B2CBFC-37EA-44B5-8E5E-E16995914A53}"/>
              </a:ext>
            </a:extLst>
          </p:cNvPr>
          <p:cNvSpPr>
            <a:spLocks xmlns:a="http://schemas.openxmlformats.org/drawingml/2006/main" noGrp="1"/>
          </p:cNvSpPr>
          <p:nvPr/>
        </p:nvSpPr>
        <p:spPr>
          <a:xfrm xmlns:a="http://schemas.openxmlformats.org/drawingml/2006/main">
            <a:off x="4114800" y="4801457"/>
            <a:ext cx="1076325" cy="406908"/>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5390" name="text-41">
            <a:extLst xmlns:a="http://schemas.openxmlformats.org/drawingml/2006/main">
              <a:ext uri="{FF2B5EF4-FFF2-40B4-BE49-F238E27FC236}">
                <a16:creationId xmlns:a16="http://schemas.microsoft.com/office/drawing/2014/main" id="{EABB2510-9ACE-4ACE-B48B-171ABE3EC9F4}"/>
              </a:ext>
            </a:extLst>
          </p:cNvPr>
          <p:cNvSpPr>
            <a:spLocks xmlns:a="http://schemas.openxmlformats.org/drawingml/2006/main" noGrp="1"/>
          </p:cNvSpPr>
          <p:nvPr/>
        </p:nvSpPr>
        <p:spPr>
          <a:xfrm xmlns:a="http://schemas.openxmlformats.org/drawingml/2006/main">
            <a:off x="4181475" y="4852321"/>
            <a:ext cx="942975" cy="3136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Gateway</a:t>
            </a:r>
          </a:p>
        </p:txBody>
      </p:sp>
      <p:sp>
        <p:nvSpPr>
          <p:cNvPr id="15391" name="">
            <a:extLst xmlns:a="http://schemas.openxmlformats.org/drawingml/2006/main">
              <a:ext uri="{FF2B5EF4-FFF2-40B4-BE49-F238E27FC236}">
                <a16:creationId xmlns:a16="http://schemas.microsoft.com/office/drawing/2014/main" id="{06847C5C-6B46-425F-BCAB-3490B777C5FA}"/>
              </a:ext>
            </a:extLst>
          </p:cNvPr>
          <p:cNvSpPr>
            <a:spLocks xmlns:a="http://schemas.openxmlformats.org/drawingml/2006/main" noGrp="1"/>
          </p:cNvSpPr>
          <p:nvPr/>
        </p:nvSpPr>
        <p:spPr>
          <a:xfrm xmlns:a="http://schemas.openxmlformats.org/drawingml/2006/main">
            <a:off x="5229225" y="4954048"/>
            <a:ext cx="9525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5392" name="frame-42">
            <a:extLst xmlns:a="http://schemas.openxmlformats.org/drawingml/2006/main">
              <a:ext uri="{FF2B5EF4-FFF2-40B4-BE49-F238E27FC236}">
                <a16:creationId xmlns:a16="http://schemas.microsoft.com/office/drawing/2014/main" id="{34B67AE9-A140-4EDE-BEED-B8C3F317B52F}"/>
              </a:ext>
            </a:extLst>
          </p:cNvPr>
          <p:cNvSpPr>
            <a:spLocks xmlns:a="http://schemas.openxmlformats.org/drawingml/2006/main" noGrp="1"/>
          </p:cNvSpPr>
          <p:nvPr/>
        </p:nvSpPr>
        <p:spPr>
          <a:xfrm xmlns:a="http://schemas.openxmlformats.org/drawingml/2006/main">
            <a:off x="5353050" y="4801457"/>
            <a:ext cx="1076325" cy="406908"/>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5393" name="text-43">
            <a:extLst xmlns:a="http://schemas.openxmlformats.org/drawingml/2006/main">
              <a:ext uri="{FF2B5EF4-FFF2-40B4-BE49-F238E27FC236}">
                <a16:creationId xmlns:a16="http://schemas.microsoft.com/office/drawing/2014/main" id="{31C7007F-0094-4963-818A-1B0E77A9FBA6}"/>
              </a:ext>
            </a:extLst>
          </p:cNvPr>
          <p:cNvSpPr>
            <a:spLocks xmlns:a="http://schemas.openxmlformats.org/drawingml/2006/main" noGrp="1"/>
          </p:cNvSpPr>
          <p:nvPr/>
        </p:nvSpPr>
        <p:spPr>
          <a:xfrm xmlns:a="http://schemas.openxmlformats.org/drawingml/2006/main">
            <a:off x="5419725" y="4852321"/>
            <a:ext cx="942975" cy="3136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Event /</a:t>
            </a:r>
          </a:p>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risk logic</a:t>
            </a:r>
          </a:p>
        </p:txBody>
      </p:sp>
      <p:sp>
        <p:nvSpPr>
          <p:cNvPr id="15394" name="">
            <a:extLst xmlns:a="http://schemas.openxmlformats.org/drawingml/2006/main">
              <a:ext uri="{FF2B5EF4-FFF2-40B4-BE49-F238E27FC236}">
                <a16:creationId xmlns:a16="http://schemas.microsoft.com/office/drawing/2014/main" id="{CB6C3C48-AB38-4FE6-B32C-3D54B0ED1456}"/>
              </a:ext>
            </a:extLst>
          </p:cNvPr>
          <p:cNvSpPr>
            <a:spLocks xmlns:a="http://schemas.openxmlformats.org/drawingml/2006/main" noGrp="1"/>
          </p:cNvSpPr>
          <p:nvPr/>
        </p:nvSpPr>
        <p:spPr>
          <a:xfrm xmlns:a="http://schemas.openxmlformats.org/drawingml/2006/main">
            <a:off x="6467475" y="4954048"/>
            <a:ext cx="9525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5395" name="frame-44">
            <a:extLst xmlns:a="http://schemas.openxmlformats.org/drawingml/2006/main">
              <a:ext uri="{FF2B5EF4-FFF2-40B4-BE49-F238E27FC236}">
                <a16:creationId xmlns:a16="http://schemas.microsoft.com/office/drawing/2014/main" id="{28F8FCD9-C41B-4512-AB36-F5DBE52880FC}"/>
              </a:ext>
            </a:extLst>
          </p:cNvPr>
          <p:cNvSpPr>
            <a:spLocks xmlns:a="http://schemas.openxmlformats.org/drawingml/2006/main" noGrp="1"/>
          </p:cNvSpPr>
          <p:nvPr/>
        </p:nvSpPr>
        <p:spPr>
          <a:xfrm xmlns:a="http://schemas.openxmlformats.org/drawingml/2006/main">
            <a:off x="6591300" y="4801457"/>
            <a:ext cx="1076325" cy="406908"/>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5396" name="text-45">
            <a:extLst xmlns:a="http://schemas.openxmlformats.org/drawingml/2006/main">
              <a:ext uri="{FF2B5EF4-FFF2-40B4-BE49-F238E27FC236}">
                <a16:creationId xmlns:a16="http://schemas.microsoft.com/office/drawing/2014/main" id="{50F5690C-C021-434E-80FF-B64F531F3244}"/>
              </a:ext>
            </a:extLst>
          </p:cNvPr>
          <p:cNvSpPr>
            <a:spLocks xmlns:a="http://schemas.openxmlformats.org/drawingml/2006/main" noGrp="1"/>
          </p:cNvSpPr>
          <p:nvPr/>
        </p:nvSpPr>
        <p:spPr>
          <a:xfrm xmlns:a="http://schemas.openxmlformats.org/drawingml/2006/main">
            <a:off x="6657975" y="4852321"/>
            <a:ext cx="942975" cy="3136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80" b="1">
                <a:solidFill>
                  <a:srgbClr val="141414"/>
                </a:solidFill>
                <a:latin typeface="Arial"/>
                <a:ea typeface="Arial"/>
                <a:cs typeface="Arial"/>
              </a:defRPr>
            </a:pPr>
            <a:r>
              <a:rPr sz="1080" b="1">
                <a:solidFill>
                  <a:srgbClr val="141414"/>
                </a:solidFill>
                <a:latin typeface="Arial"/>
                <a:ea typeface="Arial"/>
                <a:cs typeface="Arial"/>
              </a:rPr>
              <a:t>Warning</a:t>
            </a:r>
          </a:p>
        </p:txBody>
      </p:sp>
      <p:sp>
        <p:nvSpPr>
          <p:cNvPr id="15397" name="text-46">
            <a:extLst xmlns:a="http://schemas.openxmlformats.org/drawingml/2006/main">
              <a:ext uri="{FF2B5EF4-FFF2-40B4-BE49-F238E27FC236}">
                <a16:creationId xmlns:a16="http://schemas.microsoft.com/office/drawing/2014/main" id="{98DADD61-73A9-46BE-9FBF-92A1199F56D8}"/>
              </a:ext>
            </a:extLst>
          </p:cNvPr>
          <p:cNvSpPr>
            <a:spLocks xmlns:a="http://schemas.openxmlformats.org/drawingml/2006/main" noGrp="1"/>
          </p:cNvSpPr>
          <p:nvPr/>
        </p:nvSpPr>
        <p:spPr>
          <a:xfrm xmlns:a="http://schemas.openxmlformats.org/drawingml/2006/main">
            <a:off x="8058150" y="1571625"/>
            <a:ext cx="37338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WHY MOLE IS DIFFERENT</a:t>
            </a:r>
          </a:p>
        </p:txBody>
      </p:sp>
      <p:sp>
        <p:nvSpPr>
          <p:cNvPr id="15398" name="text-47">
            <a:extLst xmlns:a="http://schemas.openxmlformats.org/drawingml/2006/main">
              <a:ext uri="{FF2B5EF4-FFF2-40B4-BE49-F238E27FC236}">
                <a16:creationId xmlns:a16="http://schemas.microsoft.com/office/drawing/2014/main" id="{ABBA78F3-5C77-42C9-AA25-8F560173DDFE}"/>
              </a:ext>
            </a:extLst>
          </p:cNvPr>
          <p:cNvSpPr>
            <a:spLocks xmlns:a="http://schemas.openxmlformats.org/drawingml/2006/main" noGrp="1"/>
          </p:cNvSpPr>
          <p:nvPr/>
        </p:nvSpPr>
        <p:spPr>
          <a:xfrm xmlns:a="http://schemas.openxmlformats.org/drawingml/2006/main">
            <a:off x="8058150" y="1859852"/>
            <a:ext cx="3619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FAULT-AWARE</a:t>
            </a:r>
          </a:p>
        </p:txBody>
      </p:sp>
      <p:sp>
        <p:nvSpPr>
          <p:cNvPr id="15399" name="text-48">
            <a:extLst xmlns:a="http://schemas.openxmlformats.org/drawingml/2006/main">
              <a:ext uri="{FF2B5EF4-FFF2-40B4-BE49-F238E27FC236}">
                <a16:creationId xmlns:a16="http://schemas.microsoft.com/office/drawing/2014/main" id="{0FC08156-5B03-4BF9-AD1F-B256CD20AB24}"/>
              </a:ext>
            </a:extLst>
          </p:cNvPr>
          <p:cNvSpPr>
            <a:spLocks xmlns:a="http://schemas.openxmlformats.org/drawingml/2006/main" noGrp="1"/>
          </p:cNvSpPr>
          <p:nvPr/>
        </p:nvSpPr>
        <p:spPr>
          <a:xfrm xmlns:a="http://schemas.openxmlformats.org/drawingml/2006/main">
            <a:off x="8058150" y="2046351"/>
            <a:ext cx="3733800" cy="372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Failure appears as FAULT / STALE / UNKNOWN, never automatically SAFE.</a:t>
            </a:r>
          </a:p>
        </p:txBody>
      </p:sp>
      <p:sp>
        <p:nvSpPr>
          <p:cNvPr id="15400" name="text-49">
            <a:extLst xmlns:a="http://schemas.openxmlformats.org/drawingml/2006/main">
              <a:ext uri="{FF2B5EF4-FFF2-40B4-BE49-F238E27FC236}">
                <a16:creationId xmlns:a16="http://schemas.microsoft.com/office/drawing/2014/main" id="{341F2A01-CDE4-49ED-96C7-19534CE14848}"/>
              </a:ext>
            </a:extLst>
          </p:cNvPr>
          <p:cNvSpPr>
            <a:spLocks xmlns:a="http://schemas.openxmlformats.org/drawingml/2006/main" noGrp="1"/>
          </p:cNvSpPr>
          <p:nvPr/>
        </p:nvSpPr>
        <p:spPr>
          <a:xfrm xmlns:a="http://schemas.openxmlformats.org/drawingml/2006/main">
            <a:off x="8058150" y="2478691"/>
            <a:ext cx="3619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EXPLAINABLE</a:t>
            </a:r>
          </a:p>
        </p:txBody>
      </p:sp>
      <p:sp>
        <p:nvSpPr>
          <p:cNvPr id="15401" name="text-50">
            <a:extLst xmlns:a="http://schemas.openxmlformats.org/drawingml/2006/main">
              <a:ext uri="{FF2B5EF4-FFF2-40B4-BE49-F238E27FC236}">
                <a16:creationId xmlns:a16="http://schemas.microsoft.com/office/drawing/2014/main" id="{C46A86C7-8FF7-40C6-856C-117D22744D79}"/>
              </a:ext>
            </a:extLst>
          </p:cNvPr>
          <p:cNvSpPr>
            <a:spLocks xmlns:a="http://schemas.openxmlformats.org/drawingml/2006/main" noGrp="1"/>
          </p:cNvSpPr>
          <p:nvPr/>
        </p:nvSpPr>
        <p:spPr>
          <a:xfrm xmlns:a="http://schemas.openxmlformats.org/drawingml/2006/main">
            <a:off x="8058150" y="2665190"/>
            <a:ext cx="3733800" cy="372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Each warning names its node, channel and detected trend or reason.</a:t>
            </a:r>
          </a:p>
        </p:txBody>
      </p:sp>
      <p:sp>
        <p:nvSpPr>
          <p:cNvPr id="15402" name="text-51">
            <a:extLst xmlns:a="http://schemas.openxmlformats.org/drawingml/2006/main">
              <a:ext uri="{FF2B5EF4-FFF2-40B4-BE49-F238E27FC236}">
                <a16:creationId xmlns:a16="http://schemas.microsoft.com/office/drawing/2014/main" id="{D29A29CC-3641-4454-8DC7-E4D3A49C49C6}"/>
              </a:ext>
            </a:extLst>
          </p:cNvPr>
          <p:cNvSpPr>
            <a:spLocks xmlns:a="http://schemas.openxmlformats.org/drawingml/2006/main" noGrp="1"/>
          </p:cNvSpPr>
          <p:nvPr/>
        </p:nvSpPr>
        <p:spPr>
          <a:xfrm xmlns:a="http://schemas.openxmlformats.org/drawingml/2006/main">
            <a:off x="8058150" y="3097530"/>
            <a:ext cx="3619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OFFLINE-FIRST</a:t>
            </a:r>
          </a:p>
        </p:txBody>
      </p:sp>
      <p:sp>
        <p:nvSpPr>
          <p:cNvPr id="15403" name="text-52">
            <a:extLst xmlns:a="http://schemas.openxmlformats.org/drawingml/2006/main">
              <a:ext uri="{FF2B5EF4-FFF2-40B4-BE49-F238E27FC236}">
                <a16:creationId xmlns:a16="http://schemas.microsoft.com/office/drawing/2014/main" id="{9139518F-0435-4455-8999-85F1CB69B5CA}"/>
              </a:ext>
            </a:extLst>
          </p:cNvPr>
          <p:cNvSpPr>
            <a:spLocks xmlns:a="http://schemas.openxmlformats.org/drawingml/2006/main" noGrp="1"/>
          </p:cNvSpPr>
          <p:nvPr/>
        </p:nvSpPr>
        <p:spPr>
          <a:xfrm xmlns:a="http://schemas.openxmlformats.org/drawingml/2006/main">
            <a:off x="8058150" y="3284029"/>
            <a:ext cx="3733800" cy="372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Local warning remains possible without internet or cloud services.</a:t>
            </a:r>
          </a:p>
        </p:txBody>
      </p:sp>
      <p:sp>
        <p:nvSpPr>
          <p:cNvPr id="15404" name="text-53">
            <a:extLst xmlns:a="http://schemas.openxmlformats.org/drawingml/2006/main">
              <a:ext uri="{FF2B5EF4-FFF2-40B4-BE49-F238E27FC236}">
                <a16:creationId xmlns:a16="http://schemas.microsoft.com/office/drawing/2014/main" id="{D24D9DA2-367A-4468-814C-417CE4939C13}"/>
              </a:ext>
            </a:extLst>
          </p:cNvPr>
          <p:cNvSpPr>
            <a:spLocks xmlns:a="http://schemas.openxmlformats.org/drawingml/2006/main" noGrp="1"/>
          </p:cNvSpPr>
          <p:nvPr/>
        </p:nvSpPr>
        <p:spPr>
          <a:xfrm xmlns:a="http://schemas.openxmlformats.org/drawingml/2006/main">
            <a:off x="8058150" y="3716369"/>
            <a:ext cx="3619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MULTI-NODE</a:t>
            </a:r>
          </a:p>
        </p:txBody>
      </p:sp>
      <p:sp>
        <p:nvSpPr>
          <p:cNvPr id="15405" name="text-54">
            <a:extLst xmlns:a="http://schemas.openxmlformats.org/drawingml/2006/main">
              <a:ext uri="{FF2B5EF4-FFF2-40B4-BE49-F238E27FC236}">
                <a16:creationId xmlns:a16="http://schemas.microsoft.com/office/drawing/2014/main" id="{FD312F4C-8E72-4556-B84C-73544D591760}"/>
              </a:ext>
            </a:extLst>
          </p:cNvPr>
          <p:cNvSpPr>
            <a:spLocks xmlns:a="http://schemas.openxmlformats.org/drawingml/2006/main" noGrp="1"/>
          </p:cNvSpPr>
          <p:nvPr/>
        </p:nvSpPr>
        <p:spPr>
          <a:xfrm xmlns:a="http://schemas.openxmlformats.org/drawingml/2006/main">
            <a:off x="8058150" y="3902869"/>
            <a:ext cx="3733800" cy="372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Planned neighbour corroboration checks isolated spikes before confidence rises.</a:t>
            </a:r>
          </a:p>
        </p:txBody>
      </p:sp>
      <p:sp>
        <p:nvSpPr>
          <p:cNvPr id="15406" name="text-55">
            <a:extLst xmlns:a="http://schemas.openxmlformats.org/drawingml/2006/main">
              <a:ext uri="{FF2B5EF4-FFF2-40B4-BE49-F238E27FC236}">
                <a16:creationId xmlns:a16="http://schemas.microsoft.com/office/drawing/2014/main" id="{34D21805-D52F-4460-8AD7-166C8F9AE596}"/>
              </a:ext>
            </a:extLst>
          </p:cNvPr>
          <p:cNvSpPr>
            <a:spLocks xmlns:a="http://schemas.openxmlformats.org/drawingml/2006/main" noGrp="1"/>
          </p:cNvSpPr>
          <p:nvPr/>
        </p:nvSpPr>
        <p:spPr>
          <a:xfrm xmlns:a="http://schemas.openxmlformats.org/drawingml/2006/main">
            <a:off x="8058150" y="4411504"/>
            <a:ext cx="3619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TARGET USERS</a:t>
            </a:r>
          </a:p>
        </p:txBody>
      </p:sp>
      <p:sp>
        <p:nvSpPr>
          <p:cNvPr id="15407" name="text-56">
            <a:extLst xmlns:a="http://schemas.openxmlformats.org/drawingml/2006/main">
              <a:ext uri="{FF2B5EF4-FFF2-40B4-BE49-F238E27FC236}">
                <a16:creationId xmlns:a16="http://schemas.microsoft.com/office/drawing/2014/main" id="{31E6450A-B008-4ADA-BA13-94F233BB848F}"/>
              </a:ext>
            </a:extLst>
          </p:cNvPr>
          <p:cNvSpPr>
            <a:spLocks xmlns:a="http://schemas.openxmlformats.org/drawingml/2006/main" noGrp="1"/>
          </p:cNvSpPr>
          <p:nvPr/>
        </p:nvSpPr>
        <p:spPr>
          <a:xfrm xmlns:a="http://schemas.openxmlformats.org/drawingml/2006/main">
            <a:off x="8058150" y="4631912"/>
            <a:ext cx="3733800" cy="7629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Mine Safety Officers</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Survey / Geotechnical Teams</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Mine Management</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Maintenance / Field Teams</a:t>
            </a:r>
          </a:p>
        </p:txBody>
      </p:sp>
      <p:sp>
        <p:nvSpPr>
          <p:cNvPr id="15408" name="">
            <a:extLst xmlns:a="http://schemas.openxmlformats.org/drawingml/2006/main">
              <a:ext uri="{FF2B5EF4-FFF2-40B4-BE49-F238E27FC236}">
                <a16:creationId xmlns:a16="http://schemas.microsoft.com/office/drawing/2014/main" id="{C41A21BA-9CA2-4AA0-838B-B678EE498FF6}"/>
              </a:ext>
            </a:extLst>
          </p:cNvPr>
          <p:cNvSpPr>
            <a:spLocks xmlns:a="http://schemas.openxmlformats.org/drawingml/2006/main" noGrp="1"/>
          </p:cNvSpPr>
          <p:nvPr/>
        </p:nvSpPr>
        <p:spPr>
          <a:xfrm xmlns:a="http://schemas.openxmlformats.org/drawingml/2006/main">
            <a:off x="400050" y="5377910"/>
            <a:ext cx="7296150" cy="0"/>
          </a:xfrm>
          <a:prstGeom xmlns:a="http://schemas.openxmlformats.org/drawingml/2006/main" prst="line">
            <a:avLst/>
          </a:prstGeom>
          <a:noFill xmlns:a="http://schemas.openxmlformats.org/drawingml/2006/main"/>
          <a:ln xmlns:a="http://schemas.openxmlformats.org/drawingml/2006/main" w="9525">
            <a:solidFill>
              <a:srgbClr val="CCD4DE"/>
            </a:solidFill>
            <a:prstDash val="solid"/>
          </a:ln>
        </p:spPr>
      </p:sp>
      <p:sp>
        <p:nvSpPr>
          <p:cNvPr id="15409" name="text-57">
            <a:extLst xmlns:a="http://schemas.openxmlformats.org/drawingml/2006/main">
              <a:ext uri="{FF2B5EF4-FFF2-40B4-BE49-F238E27FC236}">
                <a16:creationId xmlns:a16="http://schemas.microsoft.com/office/drawing/2014/main" id="{CB8B767F-188D-42B6-AEE8-A4176BD6D1D6}"/>
              </a:ext>
            </a:extLst>
          </p:cNvPr>
          <p:cNvSpPr>
            <a:spLocks xmlns:a="http://schemas.openxmlformats.org/drawingml/2006/main" noGrp="1"/>
          </p:cNvSpPr>
          <p:nvPr/>
        </p:nvSpPr>
        <p:spPr>
          <a:xfrm xmlns:a="http://schemas.openxmlformats.org/drawingml/2006/main">
            <a:off x="400050" y="5471160"/>
            <a:ext cx="2333625" cy="356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PERIODIC SURVEY</a:t>
            </a:r>
          </a:p>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High confidence / periodic</a:t>
            </a:r>
          </a:p>
        </p:txBody>
      </p:sp>
      <p:sp>
        <p:nvSpPr>
          <p:cNvPr id="15410" name="text-58">
            <a:extLst xmlns:a="http://schemas.openxmlformats.org/drawingml/2006/main">
              <a:ext uri="{FF2B5EF4-FFF2-40B4-BE49-F238E27FC236}">
                <a16:creationId xmlns:a16="http://schemas.microsoft.com/office/drawing/2014/main" id="{BB724D30-1408-4BFD-A2F8-1A55A5AE3094}"/>
              </a:ext>
            </a:extLst>
          </p:cNvPr>
          <p:cNvSpPr>
            <a:spLocks xmlns:a="http://schemas.openxmlformats.org/drawingml/2006/main" noGrp="1"/>
          </p:cNvSpPr>
          <p:nvPr/>
        </p:nvSpPr>
        <p:spPr>
          <a:xfrm xmlns:a="http://schemas.openxmlformats.org/drawingml/2006/main">
            <a:off x="2905125" y="5471160"/>
            <a:ext cx="2266950" cy="356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SATELLITE / InSAR</a:t>
            </a:r>
          </a:p>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Wide area / periodic</a:t>
            </a:r>
          </a:p>
        </p:txBody>
      </p:sp>
      <p:sp>
        <p:nvSpPr>
          <p:cNvPr id="15411" name="text-59">
            <a:extLst xmlns:a="http://schemas.openxmlformats.org/drawingml/2006/main">
              <a:ext uri="{FF2B5EF4-FFF2-40B4-BE49-F238E27FC236}">
                <a16:creationId xmlns:a16="http://schemas.microsoft.com/office/drawing/2014/main" id="{E04E8A59-F4C7-414E-9427-54F55BC8548F}"/>
              </a:ext>
            </a:extLst>
          </p:cNvPr>
          <p:cNvSpPr>
            <a:spLocks xmlns:a="http://schemas.openxmlformats.org/drawingml/2006/main" noGrp="1"/>
          </p:cNvSpPr>
          <p:nvPr/>
        </p:nvSpPr>
        <p:spPr>
          <a:xfrm xmlns:a="http://schemas.openxmlformats.org/drawingml/2006/main">
            <a:off x="5381625" y="5471160"/>
            <a:ext cx="3238500" cy="356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1">
                <a:solidFill>
                  <a:srgbClr val="214E85"/>
                </a:solidFill>
                <a:latin typeface="Arial"/>
                <a:ea typeface="Arial"/>
                <a:cs typeface="Arial"/>
              </a:defRPr>
            </a:pPr>
            <a:r>
              <a:rPr sz="1080" b="1">
                <a:solidFill>
                  <a:srgbClr val="214E85"/>
                </a:solidFill>
                <a:latin typeface="Arial"/>
                <a:ea typeface="Arial"/>
                <a:cs typeface="Arial"/>
              </a:rPr>
              <a:t>MOLE</a:t>
            </a:r>
          </a:p>
          <a:p xmlns:a="http://schemas.openxmlformats.org/drawingml/2006/main">
            <a:pPr algn="l">
              <a:defRPr sz="1080" b="1">
                <a:solidFill>
                  <a:srgbClr val="214E85"/>
                </a:solidFill>
                <a:latin typeface="Arial"/>
                <a:ea typeface="Arial"/>
                <a:cs typeface="Arial"/>
              </a:defRPr>
            </a:pPr>
            <a:r>
              <a:rPr sz="1080" b="1">
                <a:solidFill>
                  <a:srgbClr val="214E85"/>
                </a:solidFill>
                <a:latin typeface="Arial"/>
                <a:ea typeface="Arial"/>
                <a:cs typeface="Arial"/>
              </a:rPr>
              <a:t>Localized / continuous early warning</a:t>
            </a:r>
          </a:p>
        </p:txBody>
      </p:sp>
      <p:sp>
        <p:nvSpPr>
          <p:cNvPr id="15412" name="text-60">
            <a:extLst xmlns:a="http://schemas.openxmlformats.org/drawingml/2006/main">
              <a:ext uri="{FF2B5EF4-FFF2-40B4-BE49-F238E27FC236}">
                <a16:creationId xmlns:a16="http://schemas.microsoft.com/office/drawing/2014/main" id="{226DACFD-DC7B-4B8E-810E-12B710E041D3}"/>
              </a:ext>
            </a:extLst>
          </p:cNvPr>
          <p:cNvSpPr>
            <a:spLocks xmlns:a="http://schemas.openxmlformats.org/drawingml/2006/main" noGrp="1"/>
          </p:cNvSpPr>
          <p:nvPr/>
        </p:nvSpPr>
        <p:spPr>
          <a:xfrm xmlns:a="http://schemas.openxmlformats.org/drawingml/2006/main">
            <a:off x="400050" y="5852636"/>
            <a:ext cx="10048875" cy="1780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1">
                <a:solidFill>
                  <a:srgbClr val="141414"/>
                </a:solidFill>
                <a:latin typeface="Arial"/>
                <a:ea typeface="Arial"/>
                <a:cs typeface="Arial"/>
              </a:defRPr>
            </a:pPr>
            <a:r>
              <a:rPr sz="1080" b="1">
                <a:solidFill>
                  <a:srgbClr val="141414"/>
                </a:solidFill>
                <a:latin typeface="Arial"/>
                <a:ea typeface="Arial"/>
                <a:cs typeface="Arial"/>
              </a:rPr>
              <a:t>MOLE complements professional surveying; it does not replace it.</a:t>
            </a:r>
          </a:p>
        </p:txBody>
      </p:sp>
      <p:pic>
        <p:nvPicPr>
          <p:cNvPr id="15476" name=""/>
          <p:cNvPicPr>
            <a:picLocks xmlns:a="http://schemas.openxmlformats.org/drawingml/2006/main" noChangeAspect="1"/>
          </p:cNvPicPr>
          <p:nvPr/>
        </p:nvPicPr>
        <p:blipFill>
          <a:blip xmlns:r="http://schemas.openxmlformats.org/officeDocument/2006/relationships" xmlns:a="http://schemas.openxmlformats.org/drawingml/2006/main" r:embed="Rdd494a1b4c0f4357"/>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5414" name="SIH team name">
            <a:extLst xmlns:a="http://schemas.openxmlformats.org/drawingml/2006/main">
              <a:ext uri="{FF2B5EF4-FFF2-40B4-BE49-F238E27FC236}">
                <a16:creationId xmlns:a16="http://schemas.microsoft.com/office/drawing/2014/main" id="{15970506-D031-4172-A974-2075605E4011}"/>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We</a:t>
            </a:r>
          </a:p>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Cook</a:t>
            </a:r>
          </a:p>
        </p:txBody>
      </p:sp>
      <p:sp>
        <p:nvSpPr>
          <p:cNvPr id="15415" name="text-204">
            <a:extLst xmlns:a="http://schemas.openxmlformats.org/drawingml/2006/main">
              <a:ext uri="{FF2B5EF4-FFF2-40B4-BE49-F238E27FC236}">
                <a16:creationId xmlns:a16="http://schemas.microsoft.com/office/drawing/2014/main" id="{4C337195-1161-4375-AD82-23753CDB82C8}"/>
              </a:ext>
            </a:extLst>
          </p:cNvPr>
          <p:cNvSpPr>
            <a:spLocks xmlns:a="http://schemas.openxmlformats.org/drawingml/2006/main" noGrp="1"/>
          </p:cNvSpPr>
          <p:nvPr/>
        </p:nvSpPr>
        <p:spPr>
          <a:xfrm xmlns:a="http://schemas.openxmlformats.org/drawingml/2006/main">
            <a:off x="4648200" y="64674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5416" name="frame-205">
            <a:extLst xmlns:a="http://schemas.openxmlformats.org/drawingml/2006/main">
              <a:ext uri="{FF2B5EF4-FFF2-40B4-BE49-F238E27FC236}">
                <a16:creationId xmlns:a16="http://schemas.microsoft.com/office/drawing/2014/main" id="{ED3CC5F3-1B81-462B-9CA4-EE90E42545F6}"/>
              </a:ext>
            </a:extLst>
          </p:cNvPr>
          <p:cNvSpPr>
            <a:spLocks xmlns:a="http://schemas.openxmlformats.org/drawingml/2006/main" noGrp="1"/>
          </p:cNvSpPr>
          <p:nvPr/>
        </p:nvSpPr>
        <p:spPr>
          <a:xfrm xmlns:a="http://schemas.openxmlformats.org/drawingml/2006/main">
            <a:off x="2800350" y="6162675"/>
            <a:ext cx="219075" cy="114300"/>
          </a:xfrm>
          <a:prstGeom xmlns:a="http://schemas.openxmlformats.org/drawingml/2006/main" prst="rect">
            <a:avLst/>
          </a:prstGeom>
          <a:noFill xmlns:a="http://schemas.openxmlformats.org/drawingml/2006/main"/>
          <a:ln xmlns:a="http://schemas.openxmlformats.org/drawingml/2006/main" w="11430">
            <a:solidFill>
              <a:srgbClr val="214E85"/>
            </a:solidFill>
            <a:prstDash val="solid"/>
          </a:ln>
        </p:spPr>
      </p:sp>
      <p:sp>
        <p:nvSpPr>
          <p:cNvPr id="15417" name="text-206">
            <a:extLst xmlns:a="http://schemas.openxmlformats.org/drawingml/2006/main">
              <a:ext uri="{FF2B5EF4-FFF2-40B4-BE49-F238E27FC236}">
                <a16:creationId xmlns:a16="http://schemas.microsoft.com/office/drawing/2014/main" id="{1BDC63CA-2173-40A7-A66C-EB1121F80582}"/>
              </a:ext>
            </a:extLst>
          </p:cNvPr>
          <p:cNvSpPr>
            <a:spLocks xmlns:a="http://schemas.openxmlformats.org/drawingml/2006/main" noGrp="1"/>
          </p:cNvSpPr>
          <p:nvPr/>
        </p:nvSpPr>
        <p:spPr>
          <a:xfrm xmlns:a="http://schemas.openxmlformats.org/drawingml/2006/main">
            <a:off x="3095625" y="6143625"/>
            <a:ext cx="2076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CURRENT PROTOTYPE</a:t>
            </a:r>
          </a:p>
        </p:txBody>
      </p:sp>
      <p:sp>
        <p:nvSpPr>
          <p:cNvPr id="15418" name="frame-207">
            <a:extLst xmlns:a="http://schemas.openxmlformats.org/drawingml/2006/main">
              <a:ext uri="{FF2B5EF4-FFF2-40B4-BE49-F238E27FC236}">
                <a16:creationId xmlns:a16="http://schemas.microsoft.com/office/drawing/2014/main" id="{B3D8E281-760B-4336-BB52-710ECADE2E0B}"/>
              </a:ext>
            </a:extLst>
          </p:cNvPr>
          <p:cNvSpPr>
            <a:spLocks xmlns:a="http://schemas.openxmlformats.org/drawingml/2006/main" noGrp="1"/>
          </p:cNvSpPr>
          <p:nvPr/>
        </p:nvSpPr>
        <p:spPr>
          <a:xfrm xmlns:a="http://schemas.openxmlformats.org/drawingml/2006/main">
            <a:off x="5210175" y="6162675"/>
            <a:ext cx="219075" cy="114300"/>
          </a:xfrm>
          <a:prstGeom xmlns:a="http://schemas.openxmlformats.org/drawingml/2006/main" prst="rect">
            <a:avLst/>
          </a:prstGeom>
          <a:noFill xmlns:a="http://schemas.openxmlformats.org/drawingml/2006/main"/>
          <a:ln xmlns:a="http://schemas.openxmlformats.org/drawingml/2006/main" w="11430">
            <a:solidFill>
              <a:srgbClr val="0070C0"/>
            </a:solidFill>
            <a:prstDash val="dash"/>
          </a:ln>
        </p:spPr>
      </p:sp>
      <p:sp>
        <p:nvSpPr>
          <p:cNvPr id="15419" name="text-208">
            <a:extLst xmlns:a="http://schemas.openxmlformats.org/drawingml/2006/main">
              <a:ext uri="{FF2B5EF4-FFF2-40B4-BE49-F238E27FC236}">
                <a16:creationId xmlns:a16="http://schemas.microsoft.com/office/drawing/2014/main" id="{2A4965C7-F0BE-4AB2-88C6-7C64C40A2984}"/>
              </a:ext>
            </a:extLst>
          </p:cNvPr>
          <p:cNvSpPr>
            <a:spLocks xmlns:a="http://schemas.openxmlformats.org/drawingml/2006/main" noGrp="1"/>
          </p:cNvSpPr>
          <p:nvPr/>
        </p:nvSpPr>
        <p:spPr>
          <a:xfrm xmlns:a="http://schemas.openxmlformats.org/drawingml/2006/main">
            <a:off x="5505450" y="61436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PLANNED FIELD SYSTEM</a:t>
            </a:r>
          </a:p>
        </p:txBody>
      </p:sp>
      <p:sp>
        <p:nvSpPr>
          <p:cNvPr id="15420" name="frame-209">
            <a:extLst xmlns:a="http://schemas.openxmlformats.org/drawingml/2006/main">
              <a:ext uri="{FF2B5EF4-FFF2-40B4-BE49-F238E27FC236}">
                <a16:creationId xmlns:a16="http://schemas.microsoft.com/office/drawing/2014/main" id="{3A756ACA-5527-4670-8EA6-B045A1280AA0}"/>
              </a:ext>
            </a:extLst>
          </p:cNvPr>
          <p:cNvSpPr>
            <a:spLocks xmlns:a="http://schemas.openxmlformats.org/drawingml/2006/main" noGrp="1"/>
          </p:cNvSpPr>
          <p:nvPr/>
        </p:nvSpPr>
        <p:spPr>
          <a:xfrm xmlns:a="http://schemas.openxmlformats.org/drawingml/2006/main">
            <a:off x="7905750" y="6162675"/>
            <a:ext cx="219075" cy="114300"/>
          </a:xfrm>
          <a:prstGeom xmlns:a="http://schemas.openxmlformats.org/drawingml/2006/main" prst="rect">
            <a:avLst/>
          </a:prstGeom>
          <a:noFill xmlns:a="http://schemas.openxmlformats.org/drawingml/2006/main"/>
          <a:ln xmlns:a="http://schemas.openxmlformats.org/drawingml/2006/main" w="11430">
            <a:solidFill>
              <a:srgbClr val="8494A8"/>
            </a:solidFill>
            <a:prstDash val="dot"/>
          </a:ln>
        </p:spPr>
      </p:sp>
      <p:sp>
        <p:nvSpPr>
          <p:cNvPr id="15421" name="text-210">
            <a:extLst xmlns:a="http://schemas.openxmlformats.org/drawingml/2006/main">
              <a:ext uri="{FF2B5EF4-FFF2-40B4-BE49-F238E27FC236}">
                <a16:creationId xmlns:a16="http://schemas.microsoft.com/office/drawing/2014/main" id="{AA16E21B-30F0-464D-8F6B-505BD5419A35}"/>
              </a:ext>
            </a:extLst>
          </p:cNvPr>
          <p:cNvSpPr>
            <a:spLocks xmlns:a="http://schemas.openxmlformats.org/drawingml/2006/main" noGrp="1"/>
          </p:cNvSpPr>
          <p:nvPr/>
        </p:nvSpPr>
        <p:spPr>
          <a:xfrm xmlns:a="http://schemas.openxmlformats.org/drawingml/2006/main">
            <a:off x="8201025" y="6143625"/>
            <a:ext cx="1476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FUTURE R&amp;D</a:t>
            </a:r>
          </a:p>
        </p:txBody>
      </p:sp>
    </p:spTree>
    <p:extLst>
      <p:ext uri="{BB962C8B-B14F-4D97-AF65-F5344CB8AC3E}">
        <p14:creationId xmlns:p14="http://schemas.microsoft.com/office/powerpoint/2010/main" val="1607617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A944751F-FB88-4A72-AE5E-CD987744A541}"/>
              </a:ext>
            </a:extLst>
          </p:cNvPr>
          <p:cNvSpPr>
            <a:spLocks xmlns:a="http://schemas.openxmlformats.org/drawingml/2006/main" noGrp="1"/>
          </p:cNvSpPr>
          <p:nvPr>
            <p:ph type="title" idx="0"/>
          </p:nvPr>
        </p:nvSpPr>
        <p:spPr>
          <a:xfrm xmlns:a="http://schemas.openxmlformats.org/drawingml/2006/main">
            <a:off x="1657350" y="209550"/>
            <a:ext cx="8286750" cy="647700"/>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A935DA05-5D82-4190-B666-8F9F2EA8F1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17410" name="text-61">
            <a:extLst xmlns:a="http://schemas.openxmlformats.org/drawingml/2006/main">
              <a:ext uri="{FF2B5EF4-FFF2-40B4-BE49-F238E27FC236}">
                <a16:creationId xmlns:a16="http://schemas.microsoft.com/office/drawing/2014/main" id="{7533AAD8-8953-4978-ACE0-7887FEB39B4D}"/>
              </a:ext>
            </a:extLst>
          </p:cNvPr>
          <p:cNvSpPr>
            <a:spLocks xmlns:a="http://schemas.openxmlformats.org/drawingml/2006/main" noGrp="1"/>
          </p:cNvSpPr>
          <p:nvPr/>
        </p:nvSpPr>
        <p:spPr>
          <a:xfrm xmlns:a="http://schemas.openxmlformats.org/drawingml/2006/main">
            <a:off x="342900" y="1143000"/>
            <a:ext cx="1150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214E85"/>
                </a:solidFill>
                <a:latin typeface="Arial"/>
                <a:ea typeface="Arial"/>
                <a:cs typeface="Arial"/>
              </a:defRPr>
            </a:pPr>
            <a:r>
              <a:rPr sz="1875" b="1">
                <a:solidFill>
                  <a:srgbClr val="214E85"/>
                </a:solidFill>
                <a:latin typeface="Arial"/>
                <a:ea typeface="Arial"/>
                <a:cs typeface="Arial"/>
              </a:rPr>
              <a:t>One architecture — upgraded stage by stage</a:t>
            </a:r>
          </a:p>
        </p:txBody>
      </p:sp>
      <p:sp>
        <p:nvSpPr>
          <p:cNvPr id="17411" name="text-62">
            <a:extLst xmlns:a="http://schemas.openxmlformats.org/drawingml/2006/main">
              <a:ext uri="{FF2B5EF4-FFF2-40B4-BE49-F238E27FC236}">
                <a16:creationId xmlns:a16="http://schemas.microsoft.com/office/drawing/2014/main" id="{D5F847E9-AAC3-4002-B24E-EBDD6D9E9713}"/>
              </a:ext>
            </a:extLst>
          </p:cNvPr>
          <p:cNvSpPr>
            <a:spLocks xmlns:a="http://schemas.openxmlformats.org/drawingml/2006/main" noGrp="1"/>
          </p:cNvSpPr>
          <p:nvPr/>
        </p:nvSpPr>
        <p:spPr>
          <a:xfrm xmlns:a="http://schemas.openxmlformats.org/drawingml/2006/main">
            <a:off x="400050" y="1554671"/>
            <a:ext cx="4762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CURRENT PROTOTYPE</a:t>
            </a:r>
          </a:p>
        </p:txBody>
      </p:sp>
      <p:sp>
        <p:nvSpPr>
          <p:cNvPr id="17412" name="frame-63">
            <a:extLst xmlns:a="http://schemas.openxmlformats.org/drawingml/2006/main">
              <a:ext uri="{FF2B5EF4-FFF2-40B4-BE49-F238E27FC236}">
                <a16:creationId xmlns:a16="http://schemas.microsoft.com/office/drawing/2014/main" id="{C68341DE-81D0-40DA-9363-6868A5168CDF}"/>
              </a:ext>
            </a:extLst>
          </p:cNvPr>
          <p:cNvSpPr>
            <a:spLocks xmlns:a="http://schemas.openxmlformats.org/drawingml/2006/main" noGrp="1"/>
          </p:cNvSpPr>
          <p:nvPr/>
        </p:nvSpPr>
        <p:spPr>
          <a:xfrm xmlns:a="http://schemas.openxmlformats.org/drawingml/2006/main">
            <a:off x="400050" y="1842897"/>
            <a:ext cx="1438275" cy="881634"/>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13" name="text-64">
            <a:extLst xmlns:a="http://schemas.openxmlformats.org/drawingml/2006/main">
              <a:ext uri="{FF2B5EF4-FFF2-40B4-BE49-F238E27FC236}">
                <a16:creationId xmlns:a16="http://schemas.microsoft.com/office/drawing/2014/main" id="{99D0767A-AECA-4586-9492-5850158957EC}"/>
              </a:ext>
            </a:extLst>
          </p:cNvPr>
          <p:cNvSpPr>
            <a:spLocks xmlns:a="http://schemas.openxmlformats.org/drawingml/2006/main" noGrp="1"/>
          </p:cNvSpPr>
          <p:nvPr/>
        </p:nvSpPr>
        <p:spPr>
          <a:xfrm xmlns:a="http://schemas.openxmlformats.org/drawingml/2006/main">
            <a:off x="495300" y="1936147"/>
            <a:ext cx="1257300"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4 ESP32 NODES</a:t>
            </a:r>
          </a:p>
        </p:txBody>
      </p:sp>
      <p:sp>
        <p:nvSpPr>
          <p:cNvPr id="17414" name="text-65">
            <a:extLst xmlns:a="http://schemas.openxmlformats.org/drawingml/2006/main">
              <a:ext uri="{FF2B5EF4-FFF2-40B4-BE49-F238E27FC236}">
                <a16:creationId xmlns:a16="http://schemas.microsoft.com/office/drawing/2014/main" id="{F8DE80EB-0E35-4E1D-8D79-B0976FBAC129}"/>
              </a:ext>
            </a:extLst>
          </p:cNvPr>
          <p:cNvSpPr>
            <a:spLocks xmlns:a="http://schemas.openxmlformats.org/drawingml/2006/main" noGrp="1"/>
          </p:cNvSpPr>
          <p:nvPr/>
        </p:nvSpPr>
        <p:spPr>
          <a:xfrm xmlns:a="http://schemas.openxmlformats.org/drawingml/2006/main">
            <a:off x="495300" y="2207419"/>
            <a:ext cx="126682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Ground movement</a:t>
            </a:r>
          </a:p>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 local conditions</a:t>
            </a:r>
          </a:p>
        </p:txBody>
      </p:sp>
      <p:sp>
        <p:nvSpPr>
          <p:cNvPr id="17415" name="">
            <a:extLst xmlns:a="http://schemas.openxmlformats.org/drawingml/2006/main">
              <a:ext uri="{FF2B5EF4-FFF2-40B4-BE49-F238E27FC236}">
                <a16:creationId xmlns:a16="http://schemas.microsoft.com/office/drawing/2014/main" id="{2503907D-A970-48DE-A0A3-56F07C9EB29D}"/>
              </a:ext>
            </a:extLst>
          </p:cNvPr>
          <p:cNvSpPr>
            <a:spLocks xmlns:a="http://schemas.openxmlformats.org/drawingml/2006/main" noGrp="1"/>
          </p:cNvSpPr>
          <p:nvPr/>
        </p:nvSpPr>
        <p:spPr>
          <a:xfrm xmlns:a="http://schemas.openxmlformats.org/drawingml/2006/main">
            <a:off x="1885950" y="2232851"/>
            <a:ext cx="123825"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16" name="frame-66">
            <a:extLst xmlns:a="http://schemas.openxmlformats.org/drawingml/2006/main">
              <a:ext uri="{FF2B5EF4-FFF2-40B4-BE49-F238E27FC236}">
                <a16:creationId xmlns:a16="http://schemas.microsoft.com/office/drawing/2014/main" id="{388EF9D4-0849-447A-8491-5AE59EDCF18E}"/>
              </a:ext>
            </a:extLst>
          </p:cNvPr>
          <p:cNvSpPr>
            <a:spLocks xmlns:a="http://schemas.openxmlformats.org/drawingml/2006/main" noGrp="1"/>
          </p:cNvSpPr>
          <p:nvPr/>
        </p:nvSpPr>
        <p:spPr>
          <a:xfrm xmlns:a="http://schemas.openxmlformats.org/drawingml/2006/main">
            <a:off x="2057400" y="1842897"/>
            <a:ext cx="1438275" cy="881634"/>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17" name="text-67">
            <a:extLst xmlns:a="http://schemas.openxmlformats.org/drawingml/2006/main">
              <a:ext uri="{FF2B5EF4-FFF2-40B4-BE49-F238E27FC236}">
                <a16:creationId xmlns:a16="http://schemas.microsoft.com/office/drawing/2014/main" id="{EA022FA2-6890-4776-A56A-033728467AD0}"/>
              </a:ext>
            </a:extLst>
          </p:cNvPr>
          <p:cNvSpPr>
            <a:spLocks xmlns:a="http://schemas.openxmlformats.org/drawingml/2006/main" noGrp="1"/>
          </p:cNvSpPr>
          <p:nvPr/>
        </p:nvSpPr>
        <p:spPr>
          <a:xfrm xmlns:a="http://schemas.openxmlformats.org/drawingml/2006/main">
            <a:off x="2152650" y="1936147"/>
            <a:ext cx="1257300"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ACQUISITION</a:t>
            </a:r>
          </a:p>
        </p:txBody>
      </p:sp>
      <p:sp>
        <p:nvSpPr>
          <p:cNvPr id="17418" name="text-68">
            <a:extLst xmlns:a="http://schemas.openxmlformats.org/drawingml/2006/main">
              <a:ext uri="{FF2B5EF4-FFF2-40B4-BE49-F238E27FC236}">
                <a16:creationId xmlns:a16="http://schemas.microsoft.com/office/drawing/2014/main" id="{CF0D0804-396D-44DB-8CA4-25E3AB8AB89A}"/>
              </a:ext>
            </a:extLst>
          </p:cNvPr>
          <p:cNvSpPr>
            <a:spLocks xmlns:a="http://schemas.openxmlformats.org/drawingml/2006/main" noGrp="1"/>
          </p:cNvSpPr>
          <p:nvPr/>
        </p:nvSpPr>
        <p:spPr>
          <a:xfrm xmlns:a="http://schemas.openxmlformats.org/drawingml/2006/main">
            <a:off x="2152650" y="2207419"/>
            <a:ext cx="126682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Baseline</a:t>
            </a:r>
          </a:p>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 filtering</a:t>
            </a:r>
          </a:p>
        </p:txBody>
      </p:sp>
      <p:sp>
        <p:nvSpPr>
          <p:cNvPr id="17419" name="">
            <a:extLst xmlns:a="http://schemas.openxmlformats.org/drawingml/2006/main">
              <a:ext uri="{FF2B5EF4-FFF2-40B4-BE49-F238E27FC236}">
                <a16:creationId xmlns:a16="http://schemas.microsoft.com/office/drawing/2014/main" id="{FFFDF52A-C3C3-43D6-9105-C13C4E5CFE49}"/>
              </a:ext>
            </a:extLst>
          </p:cNvPr>
          <p:cNvSpPr>
            <a:spLocks xmlns:a="http://schemas.openxmlformats.org/drawingml/2006/main" noGrp="1"/>
          </p:cNvSpPr>
          <p:nvPr/>
        </p:nvSpPr>
        <p:spPr>
          <a:xfrm xmlns:a="http://schemas.openxmlformats.org/drawingml/2006/main">
            <a:off x="3543300" y="2232851"/>
            <a:ext cx="123825"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20" name="frame-69">
            <a:extLst xmlns:a="http://schemas.openxmlformats.org/drawingml/2006/main">
              <a:ext uri="{FF2B5EF4-FFF2-40B4-BE49-F238E27FC236}">
                <a16:creationId xmlns:a16="http://schemas.microsoft.com/office/drawing/2014/main" id="{0F19CAF3-8BAB-45FD-91CE-57F4762FBD90}"/>
              </a:ext>
            </a:extLst>
          </p:cNvPr>
          <p:cNvSpPr>
            <a:spLocks xmlns:a="http://schemas.openxmlformats.org/drawingml/2006/main" noGrp="1"/>
          </p:cNvSpPr>
          <p:nvPr/>
        </p:nvSpPr>
        <p:spPr>
          <a:xfrm xmlns:a="http://schemas.openxmlformats.org/drawingml/2006/main">
            <a:off x="3714750" y="1842897"/>
            <a:ext cx="1438275" cy="881634"/>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21" name="text-70">
            <a:extLst xmlns:a="http://schemas.openxmlformats.org/drawingml/2006/main">
              <a:ext uri="{FF2B5EF4-FFF2-40B4-BE49-F238E27FC236}">
                <a16:creationId xmlns:a16="http://schemas.microsoft.com/office/drawing/2014/main" id="{C749F7DA-63E1-4766-B4DF-BFEE1285D6B0}"/>
              </a:ext>
            </a:extLst>
          </p:cNvPr>
          <p:cNvSpPr>
            <a:spLocks xmlns:a="http://schemas.openxmlformats.org/drawingml/2006/main" noGrp="1"/>
          </p:cNvSpPr>
          <p:nvPr/>
        </p:nvSpPr>
        <p:spPr>
          <a:xfrm xmlns:a="http://schemas.openxmlformats.org/drawingml/2006/main">
            <a:off x="3810000" y="1936147"/>
            <a:ext cx="1257300"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IDENTIFIED DATA</a:t>
            </a:r>
          </a:p>
        </p:txBody>
      </p:sp>
      <p:sp>
        <p:nvSpPr>
          <p:cNvPr id="17422" name="text-71">
            <a:extLst xmlns:a="http://schemas.openxmlformats.org/drawingml/2006/main">
              <a:ext uri="{FF2B5EF4-FFF2-40B4-BE49-F238E27FC236}">
                <a16:creationId xmlns:a16="http://schemas.microsoft.com/office/drawing/2014/main" id="{896BD7A1-9CC0-4CAA-9B5D-050F51625D61}"/>
              </a:ext>
            </a:extLst>
          </p:cNvPr>
          <p:cNvSpPr>
            <a:spLocks xmlns:a="http://schemas.openxmlformats.org/drawingml/2006/main" noGrp="1"/>
          </p:cNvSpPr>
          <p:nvPr/>
        </p:nvSpPr>
        <p:spPr>
          <a:xfrm xmlns:a="http://schemas.openxmlformats.org/drawingml/2006/main">
            <a:off x="3810000" y="2207419"/>
            <a:ext cx="126682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Node + channel</a:t>
            </a:r>
          </a:p>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 timestamp</a:t>
            </a:r>
          </a:p>
        </p:txBody>
      </p:sp>
      <p:sp>
        <p:nvSpPr>
          <p:cNvPr id="17423" name="">
            <a:extLst xmlns:a="http://schemas.openxmlformats.org/drawingml/2006/main">
              <a:ext uri="{FF2B5EF4-FFF2-40B4-BE49-F238E27FC236}">
                <a16:creationId xmlns:a16="http://schemas.microsoft.com/office/drawing/2014/main" id="{ABA7A558-A9BE-4EBF-B8DF-30E963E0843D}"/>
              </a:ext>
            </a:extLst>
          </p:cNvPr>
          <p:cNvSpPr>
            <a:spLocks xmlns:a="http://schemas.openxmlformats.org/drawingml/2006/main" noGrp="1"/>
          </p:cNvSpPr>
          <p:nvPr/>
        </p:nvSpPr>
        <p:spPr>
          <a:xfrm xmlns:a="http://schemas.openxmlformats.org/drawingml/2006/main">
            <a:off x="5200650" y="2232851"/>
            <a:ext cx="123825"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24" name="frame-72">
            <a:extLst xmlns:a="http://schemas.openxmlformats.org/drawingml/2006/main">
              <a:ext uri="{FF2B5EF4-FFF2-40B4-BE49-F238E27FC236}">
                <a16:creationId xmlns:a16="http://schemas.microsoft.com/office/drawing/2014/main" id="{94C765C8-F37B-408D-B923-51CC1F44FD96}"/>
              </a:ext>
            </a:extLst>
          </p:cNvPr>
          <p:cNvSpPr>
            <a:spLocks xmlns:a="http://schemas.openxmlformats.org/drawingml/2006/main" noGrp="1"/>
          </p:cNvSpPr>
          <p:nvPr/>
        </p:nvSpPr>
        <p:spPr>
          <a:xfrm xmlns:a="http://schemas.openxmlformats.org/drawingml/2006/main">
            <a:off x="5372100" y="1842897"/>
            <a:ext cx="1438275" cy="881634"/>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25" name="text-73">
            <a:extLst xmlns:a="http://schemas.openxmlformats.org/drawingml/2006/main">
              <a:ext uri="{FF2B5EF4-FFF2-40B4-BE49-F238E27FC236}">
                <a16:creationId xmlns:a16="http://schemas.microsoft.com/office/drawing/2014/main" id="{E0F46083-D97A-4A6A-A2E0-C420AF913C77}"/>
              </a:ext>
            </a:extLst>
          </p:cNvPr>
          <p:cNvSpPr>
            <a:spLocks xmlns:a="http://schemas.openxmlformats.org/drawingml/2006/main" noGrp="1"/>
          </p:cNvSpPr>
          <p:nvPr/>
        </p:nvSpPr>
        <p:spPr>
          <a:xfrm xmlns:a="http://schemas.openxmlformats.org/drawingml/2006/main">
            <a:off x="5467350" y="1936147"/>
            <a:ext cx="1257300"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ESP-NOW</a:t>
            </a:r>
          </a:p>
        </p:txBody>
      </p:sp>
      <p:sp>
        <p:nvSpPr>
          <p:cNvPr id="17426" name="text-74">
            <a:extLst xmlns:a="http://schemas.openxmlformats.org/drawingml/2006/main">
              <a:ext uri="{FF2B5EF4-FFF2-40B4-BE49-F238E27FC236}">
                <a16:creationId xmlns:a16="http://schemas.microsoft.com/office/drawing/2014/main" id="{10DA461F-E767-41B7-8F71-DC98F39E06D8}"/>
              </a:ext>
            </a:extLst>
          </p:cNvPr>
          <p:cNvSpPr>
            <a:spLocks xmlns:a="http://schemas.openxmlformats.org/drawingml/2006/main" noGrp="1"/>
          </p:cNvSpPr>
          <p:nvPr/>
        </p:nvSpPr>
        <p:spPr>
          <a:xfrm xmlns:a="http://schemas.openxmlformats.org/drawingml/2006/main">
            <a:off x="5467350" y="2207419"/>
            <a:ext cx="126682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Direct link</a:t>
            </a:r>
          </a:p>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Star topology</a:t>
            </a:r>
          </a:p>
        </p:txBody>
      </p:sp>
      <p:sp>
        <p:nvSpPr>
          <p:cNvPr id="17427" name="">
            <a:extLst xmlns:a="http://schemas.openxmlformats.org/drawingml/2006/main">
              <a:ext uri="{FF2B5EF4-FFF2-40B4-BE49-F238E27FC236}">
                <a16:creationId xmlns:a16="http://schemas.microsoft.com/office/drawing/2014/main" id="{C80A5339-6342-4A26-A722-3229F3585935}"/>
              </a:ext>
            </a:extLst>
          </p:cNvPr>
          <p:cNvSpPr>
            <a:spLocks xmlns:a="http://schemas.openxmlformats.org/drawingml/2006/main" noGrp="1"/>
          </p:cNvSpPr>
          <p:nvPr/>
        </p:nvSpPr>
        <p:spPr>
          <a:xfrm xmlns:a="http://schemas.openxmlformats.org/drawingml/2006/main">
            <a:off x="6858000" y="2232851"/>
            <a:ext cx="123825"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28" name="frame-75">
            <a:extLst xmlns:a="http://schemas.openxmlformats.org/drawingml/2006/main">
              <a:ext uri="{FF2B5EF4-FFF2-40B4-BE49-F238E27FC236}">
                <a16:creationId xmlns:a16="http://schemas.microsoft.com/office/drawing/2014/main" id="{0B7C28A3-51F2-4424-B4E6-DC42CFB3344B}"/>
              </a:ext>
            </a:extLst>
          </p:cNvPr>
          <p:cNvSpPr>
            <a:spLocks xmlns:a="http://schemas.openxmlformats.org/drawingml/2006/main" noGrp="1"/>
          </p:cNvSpPr>
          <p:nvPr/>
        </p:nvSpPr>
        <p:spPr>
          <a:xfrm xmlns:a="http://schemas.openxmlformats.org/drawingml/2006/main">
            <a:off x="7029450" y="1842897"/>
            <a:ext cx="1438275" cy="881634"/>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29" name="text-76">
            <a:extLst xmlns:a="http://schemas.openxmlformats.org/drawingml/2006/main">
              <a:ext uri="{FF2B5EF4-FFF2-40B4-BE49-F238E27FC236}">
                <a16:creationId xmlns:a16="http://schemas.microsoft.com/office/drawing/2014/main" id="{7786B671-7487-404A-A14E-BDFAB2706331}"/>
              </a:ext>
            </a:extLst>
          </p:cNvPr>
          <p:cNvSpPr>
            <a:spLocks xmlns:a="http://schemas.openxmlformats.org/drawingml/2006/main" noGrp="1"/>
          </p:cNvSpPr>
          <p:nvPr/>
        </p:nvSpPr>
        <p:spPr>
          <a:xfrm xmlns:a="http://schemas.openxmlformats.org/drawingml/2006/main">
            <a:off x="7124700" y="1936147"/>
            <a:ext cx="1257300"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ESP32-S3</a:t>
            </a:r>
          </a:p>
        </p:txBody>
      </p:sp>
      <p:sp>
        <p:nvSpPr>
          <p:cNvPr id="17430" name="text-77">
            <a:extLst xmlns:a="http://schemas.openxmlformats.org/drawingml/2006/main">
              <a:ext uri="{FF2B5EF4-FFF2-40B4-BE49-F238E27FC236}">
                <a16:creationId xmlns:a16="http://schemas.microsoft.com/office/drawing/2014/main" id="{ACDC9896-60B6-43C5-B5A2-690A8A83C524}"/>
              </a:ext>
            </a:extLst>
          </p:cNvPr>
          <p:cNvSpPr>
            <a:spLocks xmlns:a="http://schemas.openxmlformats.org/drawingml/2006/main" noGrp="1"/>
          </p:cNvSpPr>
          <p:nvPr/>
        </p:nvSpPr>
        <p:spPr>
          <a:xfrm xmlns:a="http://schemas.openxmlformats.org/drawingml/2006/main">
            <a:off x="7124700" y="2207419"/>
            <a:ext cx="126682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Receiver / gateway</a:t>
            </a:r>
          </a:p>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USB to laptop</a:t>
            </a:r>
          </a:p>
        </p:txBody>
      </p:sp>
      <p:sp>
        <p:nvSpPr>
          <p:cNvPr id="17431" name="">
            <a:extLst xmlns:a="http://schemas.openxmlformats.org/drawingml/2006/main">
              <a:ext uri="{FF2B5EF4-FFF2-40B4-BE49-F238E27FC236}">
                <a16:creationId xmlns:a16="http://schemas.microsoft.com/office/drawing/2014/main" id="{1FA17CFE-BE25-47D5-9433-AE73173C3A56}"/>
              </a:ext>
            </a:extLst>
          </p:cNvPr>
          <p:cNvSpPr>
            <a:spLocks xmlns:a="http://schemas.openxmlformats.org/drawingml/2006/main" noGrp="1"/>
          </p:cNvSpPr>
          <p:nvPr/>
        </p:nvSpPr>
        <p:spPr>
          <a:xfrm xmlns:a="http://schemas.openxmlformats.org/drawingml/2006/main">
            <a:off x="8515350" y="2232851"/>
            <a:ext cx="123825"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32" name="frame-78">
            <a:extLst xmlns:a="http://schemas.openxmlformats.org/drawingml/2006/main">
              <a:ext uri="{FF2B5EF4-FFF2-40B4-BE49-F238E27FC236}">
                <a16:creationId xmlns:a16="http://schemas.microsoft.com/office/drawing/2014/main" id="{AA1D121F-A2C2-456D-9074-3668E6E9421B}"/>
              </a:ext>
            </a:extLst>
          </p:cNvPr>
          <p:cNvSpPr>
            <a:spLocks xmlns:a="http://schemas.openxmlformats.org/drawingml/2006/main" noGrp="1"/>
          </p:cNvSpPr>
          <p:nvPr/>
        </p:nvSpPr>
        <p:spPr>
          <a:xfrm xmlns:a="http://schemas.openxmlformats.org/drawingml/2006/main">
            <a:off x="8686800" y="1842897"/>
            <a:ext cx="1438275" cy="881634"/>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33" name="text-79">
            <a:extLst xmlns:a="http://schemas.openxmlformats.org/drawingml/2006/main">
              <a:ext uri="{FF2B5EF4-FFF2-40B4-BE49-F238E27FC236}">
                <a16:creationId xmlns:a16="http://schemas.microsoft.com/office/drawing/2014/main" id="{493C906E-5D4D-4F99-91CC-EDC3DBE7001D}"/>
              </a:ext>
            </a:extLst>
          </p:cNvPr>
          <p:cNvSpPr>
            <a:spLocks xmlns:a="http://schemas.openxmlformats.org/drawingml/2006/main" noGrp="1"/>
          </p:cNvSpPr>
          <p:nvPr/>
        </p:nvSpPr>
        <p:spPr>
          <a:xfrm xmlns:a="http://schemas.openxmlformats.org/drawingml/2006/main">
            <a:off x="8782050" y="1936147"/>
            <a:ext cx="1257300"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RULE / RISK</a:t>
            </a:r>
          </a:p>
        </p:txBody>
      </p:sp>
      <p:sp>
        <p:nvSpPr>
          <p:cNvPr id="17434" name="text-80">
            <a:extLst xmlns:a="http://schemas.openxmlformats.org/drawingml/2006/main">
              <a:ext uri="{FF2B5EF4-FFF2-40B4-BE49-F238E27FC236}">
                <a16:creationId xmlns:a16="http://schemas.microsoft.com/office/drawing/2014/main" id="{11075472-3738-4B21-A5AD-2D62C057C6BC}"/>
              </a:ext>
            </a:extLst>
          </p:cNvPr>
          <p:cNvSpPr>
            <a:spLocks xmlns:a="http://schemas.openxmlformats.org/drawingml/2006/main" noGrp="1"/>
          </p:cNvSpPr>
          <p:nvPr/>
        </p:nvSpPr>
        <p:spPr>
          <a:xfrm xmlns:a="http://schemas.openxmlformats.org/drawingml/2006/main">
            <a:off x="8782050" y="2207419"/>
            <a:ext cx="126682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Threshold, persistence</a:t>
            </a:r>
          </a:p>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rate + fault checks</a:t>
            </a:r>
          </a:p>
        </p:txBody>
      </p:sp>
      <p:sp>
        <p:nvSpPr>
          <p:cNvPr id="17435" name="">
            <a:extLst xmlns:a="http://schemas.openxmlformats.org/drawingml/2006/main">
              <a:ext uri="{FF2B5EF4-FFF2-40B4-BE49-F238E27FC236}">
                <a16:creationId xmlns:a16="http://schemas.microsoft.com/office/drawing/2014/main" id="{1703B3E0-15F5-470C-AFEB-50994F944956}"/>
              </a:ext>
            </a:extLst>
          </p:cNvPr>
          <p:cNvSpPr>
            <a:spLocks xmlns:a="http://schemas.openxmlformats.org/drawingml/2006/main" noGrp="1"/>
          </p:cNvSpPr>
          <p:nvPr/>
        </p:nvSpPr>
        <p:spPr>
          <a:xfrm xmlns:a="http://schemas.openxmlformats.org/drawingml/2006/main">
            <a:off x="10172700" y="2232851"/>
            <a:ext cx="123825"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36" name="frame-81">
            <a:extLst xmlns:a="http://schemas.openxmlformats.org/drawingml/2006/main">
              <a:ext uri="{FF2B5EF4-FFF2-40B4-BE49-F238E27FC236}">
                <a16:creationId xmlns:a16="http://schemas.microsoft.com/office/drawing/2014/main" id="{B3107E48-DA83-46EF-B4C7-44506EBEA6E8}"/>
              </a:ext>
            </a:extLst>
          </p:cNvPr>
          <p:cNvSpPr>
            <a:spLocks xmlns:a="http://schemas.openxmlformats.org/drawingml/2006/main" noGrp="1"/>
          </p:cNvSpPr>
          <p:nvPr/>
        </p:nvSpPr>
        <p:spPr>
          <a:xfrm xmlns:a="http://schemas.openxmlformats.org/drawingml/2006/main">
            <a:off x="10344150" y="1842897"/>
            <a:ext cx="1438275" cy="881634"/>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37" name="text-82">
            <a:extLst xmlns:a="http://schemas.openxmlformats.org/drawingml/2006/main">
              <a:ext uri="{FF2B5EF4-FFF2-40B4-BE49-F238E27FC236}">
                <a16:creationId xmlns:a16="http://schemas.microsoft.com/office/drawing/2014/main" id="{D6D78A0B-5143-4FB2-8B44-7597936BD646}"/>
              </a:ext>
            </a:extLst>
          </p:cNvPr>
          <p:cNvSpPr>
            <a:spLocks xmlns:a="http://schemas.openxmlformats.org/drawingml/2006/main" noGrp="1"/>
          </p:cNvSpPr>
          <p:nvPr/>
        </p:nvSpPr>
        <p:spPr>
          <a:xfrm xmlns:a="http://schemas.openxmlformats.org/drawingml/2006/main">
            <a:off x="10439400" y="1936147"/>
            <a:ext cx="1257300"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OUTPUT</a:t>
            </a:r>
          </a:p>
        </p:txBody>
      </p:sp>
      <p:sp>
        <p:nvSpPr>
          <p:cNvPr id="17438" name="text-83">
            <a:extLst xmlns:a="http://schemas.openxmlformats.org/drawingml/2006/main">
              <a:ext uri="{FF2B5EF4-FFF2-40B4-BE49-F238E27FC236}">
                <a16:creationId xmlns:a16="http://schemas.microsoft.com/office/drawing/2014/main" id="{D4DF3CBD-CF40-4B41-BA02-6DB0BCEBB6CE}"/>
              </a:ext>
            </a:extLst>
          </p:cNvPr>
          <p:cNvSpPr>
            <a:spLocks xmlns:a="http://schemas.openxmlformats.org/drawingml/2006/main" noGrp="1"/>
          </p:cNvSpPr>
          <p:nvPr/>
        </p:nvSpPr>
        <p:spPr>
          <a:xfrm xmlns:a="http://schemas.openxmlformats.org/drawingml/2006/main">
            <a:off x="10439400" y="2207419"/>
            <a:ext cx="126682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Local warning</a:t>
            </a:r>
          </a:p>
          <a:p xmlns:a="http://schemas.openxmlformats.org/drawingml/2006/main">
            <a:pPr algn="l">
              <a:defRPr sz="1148" b="0">
                <a:solidFill>
                  <a:srgbClr val="141414"/>
                </a:solidFill>
                <a:latin typeface="Arial"/>
                <a:ea typeface="Arial"/>
                <a:cs typeface="Arial"/>
              </a:defRPr>
            </a:pPr>
            <a:r>
              <a:rPr sz="1148" b="0">
                <a:solidFill>
                  <a:srgbClr val="141414"/>
                </a:solidFill>
                <a:latin typeface="Arial"/>
                <a:ea typeface="Arial"/>
                <a:cs typeface="Arial"/>
              </a:rPr>
              <a:t>+ laptop monitor</a:t>
            </a:r>
          </a:p>
        </p:txBody>
      </p:sp>
      <p:sp>
        <p:nvSpPr>
          <p:cNvPr id="17439" name="text-84">
            <a:extLst xmlns:a="http://schemas.openxmlformats.org/drawingml/2006/main">
              <a:ext uri="{FF2B5EF4-FFF2-40B4-BE49-F238E27FC236}">
                <a16:creationId xmlns:a16="http://schemas.microsoft.com/office/drawing/2014/main" id="{BBF8DB39-02E1-4356-A2F3-8AB464ECFDB9}"/>
              </a:ext>
            </a:extLst>
          </p:cNvPr>
          <p:cNvSpPr>
            <a:spLocks xmlns:a="http://schemas.openxmlformats.org/drawingml/2006/main" noGrp="1"/>
          </p:cNvSpPr>
          <p:nvPr/>
        </p:nvSpPr>
        <p:spPr>
          <a:xfrm xmlns:a="http://schemas.openxmlformats.org/drawingml/2006/main">
            <a:off x="400050" y="2843213"/>
            <a:ext cx="10953750" cy="237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41414"/>
                </a:solidFill>
                <a:latin typeface="Arial"/>
                <a:ea typeface="Arial"/>
                <a:cs typeface="Arial"/>
              </a:defRPr>
            </a:pPr>
            <a:r>
              <a:rPr sz="1350" b="1">
                <a:solidFill>
                  <a:srgbClr val="141414"/>
                </a:solidFill>
                <a:latin typeface="Arial"/>
                <a:ea typeface="Arial"/>
                <a:cs typeface="Arial"/>
              </a:rPr>
              <a:t>Raw measurements remain separate from risk level. Missing or stale readings reduce confidence.</a:t>
            </a:r>
          </a:p>
        </p:txBody>
      </p:sp>
      <p:sp>
        <p:nvSpPr>
          <p:cNvPr id="17440" name="text-85">
            <a:extLst xmlns:a="http://schemas.openxmlformats.org/drawingml/2006/main">
              <a:ext uri="{FF2B5EF4-FFF2-40B4-BE49-F238E27FC236}">
                <a16:creationId xmlns:a16="http://schemas.microsoft.com/office/drawing/2014/main" id="{D5204788-C94F-4A02-8475-4E02EDAABC64}"/>
              </a:ext>
            </a:extLst>
          </p:cNvPr>
          <p:cNvSpPr>
            <a:spLocks xmlns:a="http://schemas.openxmlformats.org/drawingml/2006/main" noGrp="1"/>
          </p:cNvSpPr>
          <p:nvPr/>
        </p:nvSpPr>
        <p:spPr>
          <a:xfrm xmlns:a="http://schemas.openxmlformats.org/drawingml/2006/main">
            <a:off x="400050" y="3207734"/>
            <a:ext cx="42862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PLANNED FIELD SYSTEM</a:t>
            </a:r>
          </a:p>
        </p:txBody>
      </p:sp>
      <p:sp>
        <p:nvSpPr>
          <p:cNvPr id="17441" name="frame-86">
            <a:extLst xmlns:a="http://schemas.openxmlformats.org/drawingml/2006/main">
              <a:ext uri="{FF2B5EF4-FFF2-40B4-BE49-F238E27FC236}">
                <a16:creationId xmlns:a16="http://schemas.microsoft.com/office/drawing/2014/main" id="{9FE52C0D-85B4-46B3-B8ED-450D0AA804B3}"/>
              </a:ext>
            </a:extLst>
          </p:cNvPr>
          <p:cNvSpPr>
            <a:spLocks xmlns:a="http://schemas.openxmlformats.org/drawingml/2006/main" noGrp="1"/>
          </p:cNvSpPr>
          <p:nvPr/>
        </p:nvSpPr>
        <p:spPr>
          <a:xfrm xmlns:a="http://schemas.openxmlformats.org/drawingml/2006/main">
            <a:off x="400050" y="3470529"/>
            <a:ext cx="11391900" cy="712089"/>
          </a:xfrm>
          <a:prstGeom xmlns:a="http://schemas.openxmlformats.org/drawingml/2006/main" prst="rect">
            <a:avLst/>
          </a:prstGeom>
          <a:noFill xmlns:a="http://schemas.openxmlformats.org/drawingml/2006/main"/>
          <a:ln xmlns:a="http://schemas.openxmlformats.org/drawingml/2006/main" w="12383">
            <a:solidFill>
              <a:srgbClr val="0070C0"/>
            </a:solidFill>
            <a:prstDash val="dash"/>
          </a:ln>
        </p:spPr>
      </p:sp>
      <p:sp>
        <p:nvSpPr>
          <p:cNvPr id="17442" name="text-87">
            <a:extLst xmlns:a="http://schemas.openxmlformats.org/drawingml/2006/main">
              <a:ext uri="{FF2B5EF4-FFF2-40B4-BE49-F238E27FC236}">
                <a16:creationId xmlns:a16="http://schemas.microsoft.com/office/drawing/2014/main" id="{8E40EE75-E0C6-40C2-8159-CA253C232DE6}"/>
              </a:ext>
            </a:extLst>
          </p:cNvPr>
          <p:cNvSpPr>
            <a:spLocks xmlns:a="http://schemas.openxmlformats.org/drawingml/2006/main" noGrp="1"/>
          </p:cNvSpPr>
          <p:nvPr/>
        </p:nvSpPr>
        <p:spPr>
          <a:xfrm xmlns:a="http://schemas.openxmlformats.org/drawingml/2006/main">
            <a:off x="5334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Rugged</a:t>
            </a:r>
          </a:p>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sensor nodes</a:t>
            </a:r>
          </a:p>
        </p:txBody>
      </p:sp>
      <p:sp>
        <p:nvSpPr>
          <p:cNvPr id="17443" name="">
            <a:extLst xmlns:a="http://schemas.openxmlformats.org/drawingml/2006/main">
              <a:ext uri="{FF2B5EF4-FFF2-40B4-BE49-F238E27FC236}">
                <a16:creationId xmlns:a16="http://schemas.microsoft.com/office/drawing/2014/main" id="{5A24A6E5-7B99-4FC1-983D-8D911C75A530}"/>
              </a:ext>
            </a:extLst>
          </p:cNvPr>
          <p:cNvSpPr>
            <a:spLocks xmlns:a="http://schemas.openxmlformats.org/drawingml/2006/main" noGrp="1"/>
          </p:cNvSpPr>
          <p:nvPr/>
        </p:nvSpPr>
        <p:spPr>
          <a:xfrm xmlns:a="http://schemas.openxmlformats.org/drawingml/2006/main">
            <a:off x="1733550" y="3750278"/>
            <a:ext cx="1238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44" name="text-88">
            <a:extLst xmlns:a="http://schemas.openxmlformats.org/drawingml/2006/main">
              <a:ext uri="{FF2B5EF4-FFF2-40B4-BE49-F238E27FC236}">
                <a16:creationId xmlns:a16="http://schemas.microsoft.com/office/drawing/2014/main" id="{F70940DE-2B35-408F-A413-9171E3E2E697}"/>
              </a:ext>
            </a:extLst>
          </p:cNvPr>
          <p:cNvSpPr>
            <a:spLocks xmlns:a="http://schemas.openxmlformats.org/drawingml/2006/main" noGrp="1"/>
          </p:cNvSpPr>
          <p:nvPr/>
        </p:nvSpPr>
        <p:spPr>
          <a:xfrm xmlns:a="http://schemas.openxmlformats.org/drawingml/2006/main">
            <a:off x="19431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LoRa</a:t>
            </a:r>
          </a:p>
        </p:txBody>
      </p:sp>
      <p:sp>
        <p:nvSpPr>
          <p:cNvPr id="17445" name="">
            <a:extLst xmlns:a="http://schemas.openxmlformats.org/drawingml/2006/main">
              <a:ext uri="{FF2B5EF4-FFF2-40B4-BE49-F238E27FC236}">
                <a16:creationId xmlns:a16="http://schemas.microsoft.com/office/drawing/2014/main" id="{909D7F31-0040-40ED-9C27-30096604F30A}"/>
              </a:ext>
            </a:extLst>
          </p:cNvPr>
          <p:cNvSpPr>
            <a:spLocks xmlns:a="http://schemas.openxmlformats.org/drawingml/2006/main" noGrp="1"/>
          </p:cNvSpPr>
          <p:nvPr/>
        </p:nvSpPr>
        <p:spPr>
          <a:xfrm xmlns:a="http://schemas.openxmlformats.org/drawingml/2006/main">
            <a:off x="3143250" y="3750278"/>
            <a:ext cx="1238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46" name="text-89">
            <a:extLst xmlns:a="http://schemas.openxmlformats.org/drawingml/2006/main">
              <a:ext uri="{FF2B5EF4-FFF2-40B4-BE49-F238E27FC236}">
                <a16:creationId xmlns:a16="http://schemas.microsoft.com/office/drawing/2014/main" id="{1A3A786C-21A3-413F-B18E-F98E9D3DF476}"/>
              </a:ext>
            </a:extLst>
          </p:cNvPr>
          <p:cNvSpPr>
            <a:spLocks xmlns:a="http://schemas.openxmlformats.org/drawingml/2006/main" noGrp="1"/>
          </p:cNvSpPr>
          <p:nvPr/>
        </p:nvSpPr>
        <p:spPr>
          <a:xfrm xmlns:a="http://schemas.openxmlformats.org/drawingml/2006/main">
            <a:off x="33528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Edge</a:t>
            </a:r>
          </a:p>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gateway</a:t>
            </a:r>
          </a:p>
        </p:txBody>
      </p:sp>
      <p:sp>
        <p:nvSpPr>
          <p:cNvPr id="17447" name="">
            <a:extLst xmlns:a="http://schemas.openxmlformats.org/drawingml/2006/main">
              <a:ext uri="{FF2B5EF4-FFF2-40B4-BE49-F238E27FC236}">
                <a16:creationId xmlns:a16="http://schemas.microsoft.com/office/drawing/2014/main" id="{19B5931F-9A5D-4443-B106-9A68C5BA989D}"/>
              </a:ext>
            </a:extLst>
          </p:cNvPr>
          <p:cNvSpPr>
            <a:spLocks xmlns:a="http://schemas.openxmlformats.org/drawingml/2006/main" noGrp="1"/>
          </p:cNvSpPr>
          <p:nvPr/>
        </p:nvSpPr>
        <p:spPr>
          <a:xfrm xmlns:a="http://schemas.openxmlformats.org/drawingml/2006/main">
            <a:off x="4552950" y="3750278"/>
            <a:ext cx="1238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48" name="text-90">
            <a:extLst xmlns:a="http://schemas.openxmlformats.org/drawingml/2006/main">
              <a:ext uri="{FF2B5EF4-FFF2-40B4-BE49-F238E27FC236}">
                <a16:creationId xmlns:a16="http://schemas.microsoft.com/office/drawing/2014/main" id="{4EF9022F-FAF6-4A1A-A7E5-BB6634F837A4}"/>
              </a:ext>
            </a:extLst>
          </p:cNvPr>
          <p:cNvSpPr>
            <a:spLocks xmlns:a="http://schemas.openxmlformats.org/drawingml/2006/main" noGrp="1"/>
          </p:cNvSpPr>
          <p:nvPr/>
        </p:nvSpPr>
        <p:spPr>
          <a:xfrm xmlns:a="http://schemas.openxmlformats.org/drawingml/2006/main">
            <a:off x="47625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Durable</a:t>
            </a:r>
          </a:p>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local storage</a:t>
            </a:r>
          </a:p>
        </p:txBody>
      </p:sp>
      <p:sp>
        <p:nvSpPr>
          <p:cNvPr id="17449" name="">
            <a:extLst xmlns:a="http://schemas.openxmlformats.org/drawingml/2006/main">
              <a:ext uri="{FF2B5EF4-FFF2-40B4-BE49-F238E27FC236}">
                <a16:creationId xmlns:a16="http://schemas.microsoft.com/office/drawing/2014/main" id="{5F653F38-C794-44A4-867B-DE478938F43E}"/>
              </a:ext>
            </a:extLst>
          </p:cNvPr>
          <p:cNvSpPr>
            <a:spLocks xmlns:a="http://schemas.openxmlformats.org/drawingml/2006/main" noGrp="1"/>
          </p:cNvSpPr>
          <p:nvPr/>
        </p:nvSpPr>
        <p:spPr>
          <a:xfrm xmlns:a="http://schemas.openxmlformats.org/drawingml/2006/main">
            <a:off x="5962650" y="3750278"/>
            <a:ext cx="1238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50" name="text-91">
            <a:extLst xmlns:a="http://schemas.openxmlformats.org/drawingml/2006/main">
              <a:ext uri="{FF2B5EF4-FFF2-40B4-BE49-F238E27FC236}">
                <a16:creationId xmlns:a16="http://schemas.microsoft.com/office/drawing/2014/main" id="{948312D6-585E-4B26-A3B5-B1E9B05612A9}"/>
              </a:ext>
            </a:extLst>
          </p:cNvPr>
          <p:cNvSpPr>
            <a:spLocks xmlns:a="http://schemas.openxmlformats.org/drawingml/2006/main" noGrp="1"/>
          </p:cNvSpPr>
          <p:nvPr/>
        </p:nvSpPr>
        <p:spPr>
          <a:xfrm xmlns:a="http://schemas.openxmlformats.org/drawingml/2006/main">
            <a:off x="61722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Analytics</a:t>
            </a:r>
          </a:p>
        </p:txBody>
      </p:sp>
      <p:sp>
        <p:nvSpPr>
          <p:cNvPr id="17451" name="">
            <a:extLst xmlns:a="http://schemas.openxmlformats.org/drawingml/2006/main">
              <a:ext uri="{FF2B5EF4-FFF2-40B4-BE49-F238E27FC236}">
                <a16:creationId xmlns:a16="http://schemas.microsoft.com/office/drawing/2014/main" id="{A9BAA2BD-1103-4605-8419-823408738398}"/>
              </a:ext>
            </a:extLst>
          </p:cNvPr>
          <p:cNvSpPr>
            <a:spLocks xmlns:a="http://schemas.openxmlformats.org/drawingml/2006/main" noGrp="1"/>
          </p:cNvSpPr>
          <p:nvPr/>
        </p:nvSpPr>
        <p:spPr>
          <a:xfrm xmlns:a="http://schemas.openxmlformats.org/drawingml/2006/main">
            <a:off x="7372350" y="3750278"/>
            <a:ext cx="1238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52" name="text-92">
            <a:extLst xmlns:a="http://schemas.openxmlformats.org/drawingml/2006/main">
              <a:ext uri="{FF2B5EF4-FFF2-40B4-BE49-F238E27FC236}">
                <a16:creationId xmlns:a16="http://schemas.microsoft.com/office/drawing/2014/main" id="{51000A67-5A3F-4DF5-BEE3-D320BE51EDE2}"/>
              </a:ext>
            </a:extLst>
          </p:cNvPr>
          <p:cNvSpPr>
            <a:spLocks xmlns:a="http://schemas.openxmlformats.org/drawingml/2006/main" noGrp="1"/>
          </p:cNvSpPr>
          <p:nvPr/>
        </p:nvSpPr>
        <p:spPr>
          <a:xfrm xmlns:a="http://schemas.openxmlformats.org/drawingml/2006/main">
            <a:off x="75819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Database</a:t>
            </a:r>
          </a:p>
        </p:txBody>
      </p:sp>
      <p:sp>
        <p:nvSpPr>
          <p:cNvPr id="17453" name="">
            <a:extLst xmlns:a="http://schemas.openxmlformats.org/drawingml/2006/main">
              <a:ext uri="{FF2B5EF4-FFF2-40B4-BE49-F238E27FC236}">
                <a16:creationId xmlns:a16="http://schemas.microsoft.com/office/drawing/2014/main" id="{BCDDB7E7-45E6-4A1B-BDC6-FEE94CB321CD}"/>
              </a:ext>
            </a:extLst>
          </p:cNvPr>
          <p:cNvSpPr>
            <a:spLocks xmlns:a="http://schemas.openxmlformats.org/drawingml/2006/main" noGrp="1"/>
          </p:cNvSpPr>
          <p:nvPr/>
        </p:nvSpPr>
        <p:spPr>
          <a:xfrm xmlns:a="http://schemas.openxmlformats.org/drawingml/2006/main">
            <a:off x="8782050" y="3750278"/>
            <a:ext cx="1238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54" name="text-93">
            <a:extLst xmlns:a="http://schemas.openxmlformats.org/drawingml/2006/main">
              <a:ext uri="{FF2B5EF4-FFF2-40B4-BE49-F238E27FC236}">
                <a16:creationId xmlns:a16="http://schemas.microsoft.com/office/drawing/2014/main" id="{92BF2D0E-8732-4063-9CC7-7C5AAAEDFC3A}"/>
              </a:ext>
            </a:extLst>
          </p:cNvPr>
          <p:cNvSpPr>
            <a:spLocks xmlns:a="http://schemas.openxmlformats.org/drawingml/2006/main" noGrp="1"/>
          </p:cNvSpPr>
          <p:nvPr/>
        </p:nvSpPr>
        <p:spPr>
          <a:xfrm xmlns:a="http://schemas.openxmlformats.org/drawingml/2006/main">
            <a:off x="89916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Dashboard</a:t>
            </a:r>
          </a:p>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 GIS</a:t>
            </a:r>
          </a:p>
        </p:txBody>
      </p:sp>
      <p:sp>
        <p:nvSpPr>
          <p:cNvPr id="17455" name="">
            <a:extLst xmlns:a="http://schemas.openxmlformats.org/drawingml/2006/main">
              <a:ext uri="{FF2B5EF4-FFF2-40B4-BE49-F238E27FC236}">
                <a16:creationId xmlns:a16="http://schemas.microsoft.com/office/drawing/2014/main" id="{FC158B10-ABAF-453C-B19F-5B7698F25276}"/>
              </a:ext>
            </a:extLst>
          </p:cNvPr>
          <p:cNvSpPr>
            <a:spLocks xmlns:a="http://schemas.openxmlformats.org/drawingml/2006/main" noGrp="1"/>
          </p:cNvSpPr>
          <p:nvPr/>
        </p:nvSpPr>
        <p:spPr>
          <a:xfrm xmlns:a="http://schemas.openxmlformats.org/drawingml/2006/main">
            <a:off x="10191750" y="3750278"/>
            <a:ext cx="1238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56" name="text-94">
            <a:extLst xmlns:a="http://schemas.openxmlformats.org/drawingml/2006/main">
              <a:ext uri="{FF2B5EF4-FFF2-40B4-BE49-F238E27FC236}">
                <a16:creationId xmlns:a16="http://schemas.microsoft.com/office/drawing/2014/main" id="{E435C5A8-B2ED-4711-A926-E2D6F2F83706}"/>
              </a:ext>
            </a:extLst>
          </p:cNvPr>
          <p:cNvSpPr>
            <a:spLocks xmlns:a="http://schemas.openxmlformats.org/drawingml/2006/main" noGrp="1"/>
          </p:cNvSpPr>
          <p:nvPr/>
        </p:nvSpPr>
        <p:spPr>
          <a:xfrm xmlns:a="http://schemas.openxmlformats.org/drawingml/2006/main">
            <a:off x="10401300" y="3631597"/>
            <a:ext cx="1171575"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Remote</a:t>
            </a:r>
          </a:p>
          <a:p xmlns:a="http://schemas.openxmlformats.org/drawingml/2006/main">
            <a:pPr algn="ctr">
              <a:defRPr sz="1215" b="1">
                <a:solidFill>
                  <a:srgbClr val="141414"/>
                </a:solidFill>
                <a:latin typeface="Arial"/>
                <a:ea typeface="Arial"/>
                <a:cs typeface="Arial"/>
              </a:defRPr>
            </a:pPr>
            <a:r>
              <a:rPr sz="1215" b="1">
                <a:solidFill>
                  <a:srgbClr val="141414"/>
                </a:solidFill>
                <a:latin typeface="Arial"/>
                <a:ea typeface="Arial"/>
                <a:cs typeface="Arial"/>
              </a:rPr>
              <a:t>alerts</a:t>
            </a:r>
          </a:p>
        </p:txBody>
      </p:sp>
      <p:sp>
        <p:nvSpPr>
          <p:cNvPr id="17457" name="text-95">
            <a:extLst xmlns:a="http://schemas.openxmlformats.org/drawingml/2006/main">
              <a:ext uri="{FF2B5EF4-FFF2-40B4-BE49-F238E27FC236}">
                <a16:creationId xmlns:a16="http://schemas.microsoft.com/office/drawing/2014/main" id="{48768F5D-1E8B-4058-B8F9-B9284DB6AC9E}"/>
              </a:ext>
            </a:extLst>
          </p:cNvPr>
          <p:cNvSpPr>
            <a:spLocks xmlns:a="http://schemas.openxmlformats.org/drawingml/2006/main" noGrp="1"/>
          </p:cNvSpPr>
          <p:nvPr/>
        </p:nvSpPr>
        <p:spPr>
          <a:xfrm xmlns:a="http://schemas.openxmlformats.org/drawingml/2006/main">
            <a:off x="400050" y="4335209"/>
            <a:ext cx="38100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AI ROADMAP</a:t>
            </a:r>
          </a:p>
        </p:txBody>
      </p:sp>
      <p:sp>
        <p:nvSpPr>
          <p:cNvPr id="17458" name="frame-96">
            <a:extLst xmlns:a="http://schemas.openxmlformats.org/drawingml/2006/main">
              <a:ext uri="{FF2B5EF4-FFF2-40B4-BE49-F238E27FC236}">
                <a16:creationId xmlns:a16="http://schemas.microsoft.com/office/drawing/2014/main" id="{12DC76F6-AF27-4183-B79E-7437A96F7AF5}"/>
              </a:ext>
            </a:extLst>
          </p:cNvPr>
          <p:cNvSpPr>
            <a:spLocks xmlns:a="http://schemas.openxmlformats.org/drawingml/2006/main" noGrp="1"/>
          </p:cNvSpPr>
          <p:nvPr/>
        </p:nvSpPr>
        <p:spPr>
          <a:xfrm xmlns:a="http://schemas.openxmlformats.org/drawingml/2006/main">
            <a:off x="400050" y="4589526"/>
            <a:ext cx="7486650" cy="839248"/>
          </a:xfrm>
          <a:prstGeom xmlns:a="http://schemas.openxmlformats.org/drawingml/2006/main" prst="rect">
            <a:avLst/>
          </a:prstGeom>
          <a:noFill xmlns:a="http://schemas.openxmlformats.org/drawingml/2006/main"/>
          <a:ln xmlns:a="http://schemas.openxmlformats.org/drawingml/2006/main" w="12383">
            <a:solidFill>
              <a:srgbClr val="0070C0"/>
            </a:solidFill>
            <a:prstDash val="dash"/>
          </a:ln>
        </p:spPr>
      </p:sp>
      <p:sp>
        <p:nvSpPr>
          <p:cNvPr id="17459" name="text-97">
            <a:extLst xmlns:a="http://schemas.openxmlformats.org/drawingml/2006/main">
              <a:ext uri="{FF2B5EF4-FFF2-40B4-BE49-F238E27FC236}">
                <a16:creationId xmlns:a16="http://schemas.microsoft.com/office/drawing/2014/main" id="{16174D2A-4A0B-489C-B84C-5C00CAF224CC}"/>
              </a:ext>
            </a:extLst>
          </p:cNvPr>
          <p:cNvSpPr>
            <a:spLocks xmlns:a="http://schemas.openxmlformats.org/drawingml/2006/main" noGrp="1"/>
          </p:cNvSpPr>
          <p:nvPr/>
        </p:nvSpPr>
        <p:spPr>
          <a:xfrm xmlns:a="http://schemas.openxmlformats.org/drawingml/2006/main">
            <a:off x="523875" y="4665821"/>
            <a:ext cx="23336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FEATURES</a:t>
            </a:r>
          </a:p>
        </p:txBody>
      </p:sp>
      <p:sp>
        <p:nvSpPr>
          <p:cNvPr id="17460" name="text-98">
            <a:extLst xmlns:a="http://schemas.openxmlformats.org/drawingml/2006/main">
              <a:ext uri="{FF2B5EF4-FFF2-40B4-BE49-F238E27FC236}">
                <a16:creationId xmlns:a16="http://schemas.microsoft.com/office/drawing/2014/main" id="{45A8D154-850F-4450-85B9-83ED3A04650A}"/>
              </a:ext>
            </a:extLst>
          </p:cNvPr>
          <p:cNvSpPr>
            <a:spLocks xmlns:a="http://schemas.openxmlformats.org/drawingml/2006/main" noGrp="1"/>
          </p:cNvSpPr>
          <p:nvPr/>
        </p:nvSpPr>
        <p:spPr>
          <a:xfrm xmlns:a="http://schemas.openxmlformats.org/drawingml/2006/main">
            <a:off x="523875" y="4877753"/>
            <a:ext cx="2266950" cy="491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Tilt rate / vibration RMS</a:t>
            </a:r>
          </a:p>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Displacement / persistence</a:t>
            </a:r>
          </a:p>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Neighbour + environment</a:t>
            </a:r>
          </a:p>
        </p:txBody>
      </p:sp>
      <p:sp>
        <p:nvSpPr>
          <p:cNvPr id="17461" name="">
            <a:extLst xmlns:a="http://schemas.openxmlformats.org/drawingml/2006/main">
              <a:ext uri="{FF2B5EF4-FFF2-40B4-BE49-F238E27FC236}">
                <a16:creationId xmlns:a16="http://schemas.microsoft.com/office/drawing/2014/main" id="{15053390-3001-4F1A-870C-0779CE1BDE94}"/>
              </a:ext>
            </a:extLst>
          </p:cNvPr>
          <p:cNvSpPr>
            <a:spLocks xmlns:a="http://schemas.openxmlformats.org/drawingml/2006/main" noGrp="1"/>
          </p:cNvSpPr>
          <p:nvPr/>
        </p:nvSpPr>
        <p:spPr>
          <a:xfrm xmlns:a="http://schemas.openxmlformats.org/drawingml/2006/main">
            <a:off x="2762250" y="4937093"/>
            <a:ext cx="1619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62" name="text-99">
            <a:extLst xmlns:a="http://schemas.openxmlformats.org/drawingml/2006/main">
              <a:ext uri="{FF2B5EF4-FFF2-40B4-BE49-F238E27FC236}">
                <a16:creationId xmlns:a16="http://schemas.microsoft.com/office/drawing/2014/main" id="{F1F73B9E-A261-4F4D-9904-D8446B6C37B6}"/>
              </a:ext>
            </a:extLst>
          </p:cNvPr>
          <p:cNvSpPr>
            <a:spLocks xmlns:a="http://schemas.openxmlformats.org/drawingml/2006/main" noGrp="1"/>
          </p:cNvSpPr>
          <p:nvPr/>
        </p:nvSpPr>
        <p:spPr>
          <a:xfrm xmlns:a="http://schemas.openxmlformats.org/drawingml/2006/main">
            <a:off x="3048000" y="4665821"/>
            <a:ext cx="23336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SHADOW MODE</a:t>
            </a:r>
          </a:p>
        </p:txBody>
      </p:sp>
      <p:sp>
        <p:nvSpPr>
          <p:cNvPr id="17463" name="text-100">
            <a:extLst xmlns:a="http://schemas.openxmlformats.org/drawingml/2006/main">
              <a:ext uri="{FF2B5EF4-FFF2-40B4-BE49-F238E27FC236}">
                <a16:creationId xmlns:a16="http://schemas.microsoft.com/office/drawing/2014/main" id="{0AC280C0-B609-4F77-91D3-4088A3A2416D}"/>
              </a:ext>
            </a:extLst>
          </p:cNvPr>
          <p:cNvSpPr>
            <a:spLocks xmlns:a="http://schemas.openxmlformats.org/drawingml/2006/main" noGrp="1"/>
          </p:cNvSpPr>
          <p:nvPr/>
        </p:nvSpPr>
        <p:spPr>
          <a:xfrm xmlns:a="http://schemas.openxmlformats.org/drawingml/2006/main">
            <a:off x="3048000" y="4877753"/>
            <a:ext cx="2266950" cy="491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Anomaly score only</a:t>
            </a:r>
          </a:p>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No alarm override</a:t>
            </a:r>
          </a:p>
        </p:txBody>
      </p:sp>
      <p:sp>
        <p:nvSpPr>
          <p:cNvPr id="17464" name="">
            <a:extLst xmlns:a="http://schemas.openxmlformats.org/drawingml/2006/main">
              <a:ext uri="{FF2B5EF4-FFF2-40B4-BE49-F238E27FC236}">
                <a16:creationId xmlns:a16="http://schemas.microsoft.com/office/drawing/2014/main" id="{9F493642-79C1-4C16-BFA1-06F843005839}"/>
              </a:ext>
            </a:extLst>
          </p:cNvPr>
          <p:cNvSpPr>
            <a:spLocks xmlns:a="http://schemas.openxmlformats.org/drawingml/2006/main" noGrp="1"/>
          </p:cNvSpPr>
          <p:nvPr/>
        </p:nvSpPr>
        <p:spPr>
          <a:xfrm xmlns:a="http://schemas.openxmlformats.org/drawingml/2006/main">
            <a:off x="5286375" y="4937093"/>
            <a:ext cx="161925" cy="104775"/>
          </a:xfrm>
          <a:prstGeom xmlns:a="http://schemas.openxmlformats.org/drawingml/2006/main" prst="rightArrow">
            <a:avLst/>
          </a:prstGeom>
          <a:solidFill xmlns:a="http://schemas.openxmlformats.org/drawingml/2006/main">
            <a:srgbClr val="0070C0"/>
          </a:solidFill>
          <a:ln xmlns:a="http://schemas.openxmlformats.org/drawingml/2006/main" w="0">
            <a:noFill/>
          </a:ln>
        </p:spPr>
      </p:sp>
      <p:sp>
        <p:nvSpPr>
          <p:cNvPr id="17465" name="text-101">
            <a:extLst xmlns:a="http://schemas.openxmlformats.org/drawingml/2006/main">
              <a:ext uri="{FF2B5EF4-FFF2-40B4-BE49-F238E27FC236}">
                <a16:creationId xmlns:a16="http://schemas.microsoft.com/office/drawing/2014/main" id="{7A6834C9-1502-4AF5-9A72-A769DCD26766}"/>
              </a:ext>
            </a:extLst>
          </p:cNvPr>
          <p:cNvSpPr>
            <a:spLocks xmlns:a="http://schemas.openxmlformats.org/drawingml/2006/main" noGrp="1"/>
          </p:cNvSpPr>
          <p:nvPr/>
        </p:nvSpPr>
        <p:spPr>
          <a:xfrm xmlns:a="http://schemas.openxmlformats.org/drawingml/2006/main">
            <a:off x="5572125" y="4665821"/>
            <a:ext cx="23336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VALIDATION</a:t>
            </a:r>
          </a:p>
        </p:txBody>
      </p:sp>
      <p:sp>
        <p:nvSpPr>
          <p:cNvPr id="17466" name="text-102">
            <a:extLst xmlns:a="http://schemas.openxmlformats.org/drawingml/2006/main">
              <a:ext uri="{FF2B5EF4-FFF2-40B4-BE49-F238E27FC236}">
                <a16:creationId xmlns:a16="http://schemas.microsoft.com/office/drawing/2014/main" id="{6D85DC27-951A-428C-97E7-57EE49D68271}"/>
              </a:ext>
            </a:extLst>
          </p:cNvPr>
          <p:cNvSpPr>
            <a:spLocks xmlns:a="http://schemas.openxmlformats.org/drawingml/2006/main" noGrp="1"/>
          </p:cNvSpPr>
          <p:nvPr/>
        </p:nvSpPr>
        <p:spPr>
          <a:xfrm xmlns:a="http://schemas.openxmlformats.org/drawingml/2006/main">
            <a:off x="5572125" y="4877753"/>
            <a:ext cx="2266950" cy="491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Reference data</a:t>
            </a:r>
          </a:p>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Held-out field events</a:t>
            </a:r>
          </a:p>
        </p:txBody>
      </p:sp>
      <p:sp>
        <p:nvSpPr>
          <p:cNvPr id="17467" name="text-103">
            <a:extLst xmlns:a="http://schemas.openxmlformats.org/drawingml/2006/main">
              <a:ext uri="{FF2B5EF4-FFF2-40B4-BE49-F238E27FC236}">
                <a16:creationId xmlns:a16="http://schemas.microsoft.com/office/drawing/2014/main" id="{74C843E0-B3B6-46B7-829E-FAEB6998BBA5}"/>
              </a:ext>
            </a:extLst>
          </p:cNvPr>
          <p:cNvSpPr>
            <a:spLocks xmlns:a="http://schemas.openxmlformats.org/drawingml/2006/main" noGrp="1"/>
          </p:cNvSpPr>
          <p:nvPr/>
        </p:nvSpPr>
        <p:spPr>
          <a:xfrm xmlns:a="http://schemas.openxmlformats.org/drawingml/2006/main">
            <a:off x="400050" y="5513546"/>
            <a:ext cx="7486650" cy="364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83" b="1">
                <a:solidFill>
                  <a:srgbClr val="141414"/>
                </a:solidFill>
                <a:latin typeface="Arial"/>
                <a:ea typeface="Arial"/>
                <a:cs typeface="Arial"/>
              </a:defRPr>
            </a:pPr>
            <a:r>
              <a:rPr sz="1283" b="1">
                <a:solidFill>
                  <a:srgbClr val="141414"/>
                </a:solidFill>
                <a:latin typeface="Arial"/>
                <a:ea typeface="Arial"/>
                <a:cs typeface="Arial"/>
              </a:rPr>
              <a:t>AI augments validated deterministic alarms; it does not silently override them.</a:t>
            </a:r>
          </a:p>
        </p:txBody>
      </p:sp>
      <p:sp>
        <p:nvSpPr>
          <p:cNvPr id="17468" name="frame-104">
            <a:extLst xmlns:a="http://schemas.openxmlformats.org/drawingml/2006/main">
              <a:ext uri="{FF2B5EF4-FFF2-40B4-BE49-F238E27FC236}">
                <a16:creationId xmlns:a16="http://schemas.microsoft.com/office/drawing/2014/main" id="{6687F617-361A-4AF2-8693-6FBD1D540C80}"/>
              </a:ext>
            </a:extLst>
          </p:cNvPr>
          <p:cNvSpPr>
            <a:spLocks xmlns:a="http://schemas.openxmlformats.org/drawingml/2006/main" noGrp="1"/>
          </p:cNvSpPr>
          <p:nvPr/>
        </p:nvSpPr>
        <p:spPr>
          <a:xfrm xmlns:a="http://schemas.openxmlformats.org/drawingml/2006/main">
            <a:off x="8134350" y="4377595"/>
            <a:ext cx="3657600" cy="779907"/>
          </a:xfrm>
          <a:prstGeom xmlns:a="http://schemas.openxmlformats.org/drawingml/2006/main" prst="rect">
            <a:avLst/>
          </a:prstGeom>
          <a:noFill xmlns:a="http://schemas.openxmlformats.org/drawingml/2006/main"/>
          <a:ln xmlns:a="http://schemas.openxmlformats.org/drawingml/2006/main" w="12383">
            <a:solidFill>
              <a:srgbClr val="8494A8"/>
            </a:solidFill>
            <a:prstDash val="dot"/>
          </a:ln>
        </p:spPr>
      </p:sp>
      <p:sp>
        <p:nvSpPr>
          <p:cNvPr id="17469" name="text-105">
            <a:extLst xmlns:a="http://schemas.openxmlformats.org/drawingml/2006/main">
              <a:ext uri="{FF2B5EF4-FFF2-40B4-BE49-F238E27FC236}">
                <a16:creationId xmlns:a16="http://schemas.microsoft.com/office/drawing/2014/main" id="{401C102C-8F62-4994-92D8-03761AC24718}"/>
              </a:ext>
            </a:extLst>
          </p:cNvPr>
          <p:cNvSpPr>
            <a:spLocks xmlns:a="http://schemas.openxmlformats.org/drawingml/2006/main" noGrp="1"/>
          </p:cNvSpPr>
          <p:nvPr/>
        </p:nvSpPr>
        <p:spPr>
          <a:xfrm xmlns:a="http://schemas.openxmlformats.org/drawingml/2006/main">
            <a:off x="8258175" y="4445413"/>
            <a:ext cx="33337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505C6B"/>
                </a:solidFill>
                <a:latin typeface="Arial"/>
                <a:ea typeface="Arial"/>
                <a:cs typeface="Arial"/>
              </a:defRPr>
            </a:pPr>
            <a:r>
              <a:rPr sz="1013" b="1">
                <a:solidFill>
                  <a:srgbClr val="505C6B"/>
                </a:solidFill>
                <a:latin typeface="Arial"/>
                <a:ea typeface="Arial"/>
                <a:cs typeface="Arial"/>
              </a:rPr>
              <a:t>FUTURE R&amp;D</a:t>
            </a:r>
          </a:p>
        </p:txBody>
      </p:sp>
      <p:sp>
        <p:nvSpPr>
          <p:cNvPr id="17470" name="text-106">
            <a:extLst xmlns:a="http://schemas.openxmlformats.org/drawingml/2006/main">
              <a:ext uri="{FF2B5EF4-FFF2-40B4-BE49-F238E27FC236}">
                <a16:creationId xmlns:a16="http://schemas.microsoft.com/office/drawing/2014/main" id="{4F5BD0B6-E9D9-4C7E-8CC9-990C6007A8C8}"/>
              </a:ext>
            </a:extLst>
          </p:cNvPr>
          <p:cNvSpPr>
            <a:spLocks xmlns:a="http://schemas.openxmlformats.org/drawingml/2006/main" noGrp="1"/>
          </p:cNvSpPr>
          <p:nvPr/>
        </p:nvSpPr>
        <p:spPr>
          <a:xfrm xmlns:a="http://schemas.openxmlformats.org/drawingml/2006/main">
            <a:off x="8258175" y="4640390"/>
            <a:ext cx="3381375" cy="491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46" b="0">
                <a:solidFill>
                  <a:srgbClr val="141414"/>
                </a:solidFill>
                <a:latin typeface="Arial"/>
                <a:ea typeface="Arial"/>
                <a:cs typeface="Arial"/>
              </a:defRPr>
            </a:pPr>
            <a:r>
              <a:rPr sz="1046" b="0">
                <a:solidFill>
                  <a:srgbClr val="141414"/>
                </a:solidFill>
                <a:latin typeface="Arial"/>
                <a:ea typeface="Arial"/>
                <a:cs typeface="Arial"/>
              </a:rPr>
              <a:t>Predictive models + survey / GNSS / InSAR fusion. Alert-triggered rover adds camera/environment evidence to the same incident record.</a:t>
            </a:r>
          </a:p>
        </p:txBody>
      </p:sp>
      <p:sp>
        <p:nvSpPr>
          <p:cNvPr id="17471" name="serial-log-evidence">
            <a:extLst xmlns:a="http://schemas.openxmlformats.org/drawingml/2006/main">
              <a:ext uri="{FF2B5EF4-FFF2-40B4-BE49-F238E27FC236}">
                <a16:creationId xmlns:a16="http://schemas.microsoft.com/office/drawing/2014/main" id="{68EEFA3B-72F0-48D0-8FBF-D3DA050AC318}"/>
              </a:ext>
            </a:extLst>
          </p:cNvPr>
          <p:cNvSpPr>
            <a:spLocks xmlns:a="http://schemas.openxmlformats.org/drawingml/2006/main" noGrp="1"/>
          </p:cNvSpPr>
          <p:nvPr/>
        </p:nvSpPr>
        <p:spPr>
          <a:xfrm xmlns:a="http://schemas.openxmlformats.org/drawingml/2006/main">
            <a:off x="8134350" y="5250752"/>
            <a:ext cx="3657600" cy="423863"/>
          </a:xfrm>
          <a:prstGeom xmlns:a="http://schemas.openxmlformats.org/drawingml/2006/main" prst="rect">
            <a:avLst/>
          </a:prstGeom>
          <a:solidFill xmlns:a="http://schemas.openxmlformats.org/drawingml/2006/main">
            <a:srgbClr val="FFFFFF"/>
          </a:solidFill>
          <a:ln xmlns:a="http://schemas.openxmlformats.org/drawingml/2006/main" w="12383">
            <a:solidFill>
              <a:srgbClr val="CCD4DE"/>
            </a:solidFill>
            <a:prstDash val="solid"/>
          </a:ln>
        </p:spPr>
      </p:sp>
      <p:sp>
        <p:nvSpPr>
          <p:cNvPr id="17472" name="text-107">
            <a:extLst xmlns:a="http://schemas.openxmlformats.org/drawingml/2006/main">
              <a:ext uri="{FF2B5EF4-FFF2-40B4-BE49-F238E27FC236}">
                <a16:creationId xmlns:a16="http://schemas.microsoft.com/office/drawing/2014/main" id="{8FAA7BE9-DC93-450B-A98E-D585D64AADC6}"/>
              </a:ext>
            </a:extLst>
          </p:cNvPr>
          <p:cNvSpPr>
            <a:spLocks xmlns:a="http://schemas.openxmlformats.org/drawingml/2006/main" noGrp="1"/>
          </p:cNvSpPr>
          <p:nvPr/>
        </p:nvSpPr>
        <p:spPr>
          <a:xfrm xmlns:a="http://schemas.openxmlformats.org/drawingml/2006/main">
            <a:off x="8134350" y="5725478"/>
            <a:ext cx="3657600" cy="18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11" b="0">
                <a:solidFill>
                  <a:srgbClr val="505C6B"/>
                </a:solidFill>
                <a:latin typeface="Arial"/>
                <a:ea typeface="Arial"/>
                <a:cs typeface="Arial"/>
              </a:defRPr>
            </a:pPr>
            <a:r>
              <a:rPr sz="911" b="0">
                <a:solidFill>
                  <a:srgbClr val="505C6B"/>
                </a:solidFill>
                <a:latin typeface="Arial"/>
                <a:ea typeface="Arial"/>
                <a:cs typeface="Arial"/>
              </a:rPr>
              <a:t>Serial log: node / channel / value / quality / time</a:t>
            </a:r>
          </a:p>
        </p:txBody>
      </p:sp>
      <p:pic>
        <p:nvPicPr>
          <p:cNvPr id="17548" name=""/>
          <p:cNvPicPr>
            <a:picLocks xmlns:a="http://schemas.openxmlformats.org/drawingml/2006/main" noChangeAspect="1"/>
          </p:cNvPicPr>
          <p:nvPr/>
        </p:nvPicPr>
        <p:blipFill>
          <a:blip xmlns:r="http://schemas.openxmlformats.org/officeDocument/2006/relationships" xmlns:a="http://schemas.openxmlformats.org/drawingml/2006/main" r:embed="R6fc1c99c66404fed"/>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74" name="SIH team name">
            <a:extLst xmlns:a="http://schemas.openxmlformats.org/drawingml/2006/main">
              <a:ext uri="{FF2B5EF4-FFF2-40B4-BE49-F238E27FC236}">
                <a16:creationId xmlns:a16="http://schemas.microsoft.com/office/drawing/2014/main" id="{C9A3D11C-03AA-4970-BCFA-925982BCD0D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We</a:t>
            </a:r>
          </a:p>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Cook</a:t>
            </a:r>
          </a:p>
        </p:txBody>
      </p:sp>
      <p:sp>
        <p:nvSpPr>
          <p:cNvPr id="17475" name="text-211">
            <a:extLst xmlns:a="http://schemas.openxmlformats.org/drawingml/2006/main">
              <a:ext uri="{FF2B5EF4-FFF2-40B4-BE49-F238E27FC236}">
                <a16:creationId xmlns:a16="http://schemas.microsoft.com/office/drawing/2014/main" id="{6CD20E8D-5404-4304-B1A2-012758739DD4}"/>
              </a:ext>
            </a:extLst>
          </p:cNvPr>
          <p:cNvSpPr>
            <a:spLocks xmlns:a="http://schemas.openxmlformats.org/drawingml/2006/main" noGrp="1"/>
          </p:cNvSpPr>
          <p:nvPr/>
        </p:nvSpPr>
        <p:spPr>
          <a:xfrm xmlns:a="http://schemas.openxmlformats.org/drawingml/2006/main">
            <a:off x="4648200" y="64674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76" name="frame-212">
            <a:extLst xmlns:a="http://schemas.openxmlformats.org/drawingml/2006/main">
              <a:ext uri="{FF2B5EF4-FFF2-40B4-BE49-F238E27FC236}">
                <a16:creationId xmlns:a16="http://schemas.microsoft.com/office/drawing/2014/main" id="{40EEAAFE-03B5-4F34-9FB4-8AC63EF3DC6E}"/>
              </a:ext>
            </a:extLst>
          </p:cNvPr>
          <p:cNvSpPr>
            <a:spLocks xmlns:a="http://schemas.openxmlformats.org/drawingml/2006/main" noGrp="1"/>
          </p:cNvSpPr>
          <p:nvPr/>
        </p:nvSpPr>
        <p:spPr>
          <a:xfrm xmlns:a="http://schemas.openxmlformats.org/drawingml/2006/main">
            <a:off x="2800350" y="6162675"/>
            <a:ext cx="219075" cy="114300"/>
          </a:xfrm>
          <a:prstGeom xmlns:a="http://schemas.openxmlformats.org/drawingml/2006/main" prst="rect">
            <a:avLst/>
          </a:prstGeom>
          <a:noFill xmlns:a="http://schemas.openxmlformats.org/drawingml/2006/main"/>
          <a:ln xmlns:a="http://schemas.openxmlformats.org/drawingml/2006/main" w="11430">
            <a:solidFill>
              <a:srgbClr val="214E85"/>
            </a:solidFill>
            <a:prstDash val="solid"/>
          </a:ln>
        </p:spPr>
      </p:sp>
      <p:sp>
        <p:nvSpPr>
          <p:cNvPr id="17477" name="text-213">
            <a:extLst xmlns:a="http://schemas.openxmlformats.org/drawingml/2006/main">
              <a:ext uri="{FF2B5EF4-FFF2-40B4-BE49-F238E27FC236}">
                <a16:creationId xmlns:a16="http://schemas.microsoft.com/office/drawing/2014/main" id="{86D39F17-757C-4154-B05B-CE4F2AA215F4}"/>
              </a:ext>
            </a:extLst>
          </p:cNvPr>
          <p:cNvSpPr>
            <a:spLocks xmlns:a="http://schemas.openxmlformats.org/drawingml/2006/main" noGrp="1"/>
          </p:cNvSpPr>
          <p:nvPr/>
        </p:nvSpPr>
        <p:spPr>
          <a:xfrm xmlns:a="http://schemas.openxmlformats.org/drawingml/2006/main">
            <a:off x="3095625" y="6143625"/>
            <a:ext cx="2076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CURRENT PROTOTYPE</a:t>
            </a:r>
          </a:p>
        </p:txBody>
      </p:sp>
      <p:sp>
        <p:nvSpPr>
          <p:cNvPr id="17478" name="frame-214">
            <a:extLst xmlns:a="http://schemas.openxmlformats.org/drawingml/2006/main">
              <a:ext uri="{FF2B5EF4-FFF2-40B4-BE49-F238E27FC236}">
                <a16:creationId xmlns:a16="http://schemas.microsoft.com/office/drawing/2014/main" id="{9D2C2A0B-BCB9-4C70-8A2F-3EE01672DC20}"/>
              </a:ext>
            </a:extLst>
          </p:cNvPr>
          <p:cNvSpPr>
            <a:spLocks xmlns:a="http://schemas.openxmlformats.org/drawingml/2006/main" noGrp="1"/>
          </p:cNvSpPr>
          <p:nvPr/>
        </p:nvSpPr>
        <p:spPr>
          <a:xfrm xmlns:a="http://schemas.openxmlformats.org/drawingml/2006/main">
            <a:off x="5210175" y="6162675"/>
            <a:ext cx="219075" cy="114300"/>
          </a:xfrm>
          <a:prstGeom xmlns:a="http://schemas.openxmlformats.org/drawingml/2006/main" prst="rect">
            <a:avLst/>
          </a:prstGeom>
          <a:noFill xmlns:a="http://schemas.openxmlformats.org/drawingml/2006/main"/>
          <a:ln xmlns:a="http://schemas.openxmlformats.org/drawingml/2006/main" w="11430">
            <a:solidFill>
              <a:srgbClr val="0070C0"/>
            </a:solidFill>
            <a:prstDash val="dash"/>
          </a:ln>
        </p:spPr>
      </p:sp>
      <p:sp>
        <p:nvSpPr>
          <p:cNvPr id="17479" name="text-215">
            <a:extLst xmlns:a="http://schemas.openxmlformats.org/drawingml/2006/main">
              <a:ext uri="{FF2B5EF4-FFF2-40B4-BE49-F238E27FC236}">
                <a16:creationId xmlns:a16="http://schemas.microsoft.com/office/drawing/2014/main" id="{28F19402-D57D-4F61-840B-663B0A613A01}"/>
              </a:ext>
            </a:extLst>
          </p:cNvPr>
          <p:cNvSpPr>
            <a:spLocks xmlns:a="http://schemas.openxmlformats.org/drawingml/2006/main" noGrp="1"/>
          </p:cNvSpPr>
          <p:nvPr/>
        </p:nvSpPr>
        <p:spPr>
          <a:xfrm xmlns:a="http://schemas.openxmlformats.org/drawingml/2006/main">
            <a:off x="5505450" y="61436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PLANNED FIELD SYSTEM</a:t>
            </a:r>
          </a:p>
        </p:txBody>
      </p:sp>
      <p:sp>
        <p:nvSpPr>
          <p:cNvPr id="17480" name="frame-216">
            <a:extLst xmlns:a="http://schemas.openxmlformats.org/drawingml/2006/main">
              <a:ext uri="{FF2B5EF4-FFF2-40B4-BE49-F238E27FC236}">
                <a16:creationId xmlns:a16="http://schemas.microsoft.com/office/drawing/2014/main" id="{DB718F19-2638-4670-B20F-8227F63F5710}"/>
              </a:ext>
            </a:extLst>
          </p:cNvPr>
          <p:cNvSpPr>
            <a:spLocks xmlns:a="http://schemas.openxmlformats.org/drawingml/2006/main" noGrp="1"/>
          </p:cNvSpPr>
          <p:nvPr/>
        </p:nvSpPr>
        <p:spPr>
          <a:xfrm xmlns:a="http://schemas.openxmlformats.org/drawingml/2006/main">
            <a:off x="7905750" y="6162675"/>
            <a:ext cx="219075" cy="114300"/>
          </a:xfrm>
          <a:prstGeom xmlns:a="http://schemas.openxmlformats.org/drawingml/2006/main" prst="rect">
            <a:avLst/>
          </a:prstGeom>
          <a:noFill xmlns:a="http://schemas.openxmlformats.org/drawingml/2006/main"/>
          <a:ln xmlns:a="http://schemas.openxmlformats.org/drawingml/2006/main" w="11430">
            <a:solidFill>
              <a:srgbClr val="8494A8"/>
            </a:solidFill>
            <a:prstDash val="dot"/>
          </a:ln>
        </p:spPr>
      </p:sp>
      <p:sp>
        <p:nvSpPr>
          <p:cNvPr id="17481" name="text-217">
            <a:extLst xmlns:a="http://schemas.openxmlformats.org/drawingml/2006/main">
              <a:ext uri="{FF2B5EF4-FFF2-40B4-BE49-F238E27FC236}">
                <a16:creationId xmlns:a16="http://schemas.microsoft.com/office/drawing/2014/main" id="{C0305FC4-0132-466A-B3E5-00307F500028}"/>
              </a:ext>
            </a:extLst>
          </p:cNvPr>
          <p:cNvSpPr>
            <a:spLocks xmlns:a="http://schemas.openxmlformats.org/drawingml/2006/main" noGrp="1"/>
          </p:cNvSpPr>
          <p:nvPr/>
        </p:nvSpPr>
        <p:spPr>
          <a:xfrm xmlns:a="http://schemas.openxmlformats.org/drawingml/2006/main">
            <a:off x="8201025" y="6143625"/>
            <a:ext cx="1476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FUTURE R&amp;D</a:t>
            </a:r>
          </a:p>
        </p:txBody>
      </p:sp>
    </p:spTree>
    <p:extLst>
      <p:ext uri="{BB962C8B-B14F-4D97-AF65-F5344CB8AC3E}">
        <p14:creationId xmlns:p14="http://schemas.microsoft.com/office/powerpoint/2010/main" val="1062866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00EAAC5C-0A33-4024-A0E5-8179C6F231BA}"/>
              </a:ext>
            </a:extLst>
          </p:cNvPr>
          <p:cNvSpPr>
            <a:spLocks xmlns:a="http://schemas.openxmlformats.org/drawingml/2006/main" noGrp="1"/>
          </p:cNvSpPr>
          <p:nvPr>
            <p:ph type="title" idx="0"/>
          </p:nvPr>
        </p:nvSpPr>
        <p:spPr>
          <a:xfrm xmlns:a="http://schemas.openxmlformats.org/drawingml/2006/main">
            <a:off x="1657350" y="209550"/>
            <a:ext cx="8286750" cy="647700"/>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225" b="1">
                <a:solidFill>
                  <a:srgbClr val="000000"/>
                </a:solidFill>
                <a:latin typeface="Times New Roman"/>
                <a:ea typeface="Times New Roman"/>
                <a:cs typeface="Times New Roman"/>
              </a:defRPr>
            </a:pPr>
            <a:r>
              <a:rPr sz="32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E077E8E6-5BCB-4681-876D-1A8713207F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17410" name="text-108">
            <a:extLst xmlns:a="http://schemas.openxmlformats.org/drawingml/2006/main">
              <a:ext uri="{FF2B5EF4-FFF2-40B4-BE49-F238E27FC236}">
                <a16:creationId xmlns:a16="http://schemas.microsoft.com/office/drawing/2014/main" id="{69B0FD0B-BE2B-49F8-B9D0-D9035BC2904E}"/>
              </a:ext>
            </a:extLst>
          </p:cNvPr>
          <p:cNvSpPr>
            <a:spLocks xmlns:a="http://schemas.openxmlformats.org/drawingml/2006/main" noGrp="1"/>
          </p:cNvSpPr>
          <p:nvPr/>
        </p:nvSpPr>
        <p:spPr>
          <a:xfrm xmlns:a="http://schemas.openxmlformats.org/drawingml/2006/main">
            <a:off x="342900" y="1143000"/>
            <a:ext cx="1150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214E85"/>
                </a:solidFill>
                <a:latin typeface="Arial"/>
                <a:ea typeface="Arial"/>
                <a:cs typeface="Arial"/>
              </a:defRPr>
            </a:pPr>
            <a:r>
              <a:rPr sz="1875" b="1">
                <a:solidFill>
                  <a:srgbClr val="214E85"/>
                </a:solidFill>
                <a:latin typeface="Arial"/>
                <a:ea typeface="Arial"/>
                <a:cs typeface="Arial"/>
              </a:rPr>
              <a:t>Designed to advance through evidence gates</a:t>
            </a:r>
          </a:p>
        </p:txBody>
      </p:sp>
      <p:sp>
        <p:nvSpPr>
          <p:cNvPr id="17411" name="text-109">
            <a:extLst xmlns:a="http://schemas.openxmlformats.org/drawingml/2006/main">
              <a:ext uri="{FF2B5EF4-FFF2-40B4-BE49-F238E27FC236}">
                <a16:creationId xmlns:a16="http://schemas.microsoft.com/office/drawing/2014/main" id="{B462EF20-4F26-4DDC-A81A-41A0D53D23D3}"/>
              </a:ext>
            </a:extLst>
          </p:cNvPr>
          <p:cNvSpPr>
            <a:spLocks xmlns:a="http://schemas.openxmlformats.org/drawingml/2006/main" noGrp="1"/>
          </p:cNvSpPr>
          <p:nvPr/>
        </p:nvSpPr>
        <p:spPr>
          <a:xfrm xmlns:a="http://schemas.openxmlformats.org/drawingml/2006/main">
            <a:off x="400050" y="1571625"/>
            <a:ext cx="34290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TECHNICAL FEASIBILITY</a:t>
            </a:r>
          </a:p>
        </p:txBody>
      </p:sp>
      <p:sp>
        <p:nvSpPr>
          <p:cNvPr id="17412" name="frame-110">
            <a:extLst xmlns:a="http://schemas.openxmlformats.org/drawingml/2006/main">
              <a:ext uri="{FF2B5EF4-FFF2-40B4-BE49-F238E27FC236}">
                <a16:creationId xmlns:a16="http://schemas.microsoft.com/office/drawing/2014/main" id="{3B403AB3-3C96-4A10-9096-26BD8B20EB56}"/>
              </a:ext>
            </a:extLst>
          </p:cNvPr>
          <p:cNvSpPr>
            <a:spLocks xmlns:a="http://schemas.openxmlformats.org/drawingml/2006/main" noGrp="1"/>
          </p:cNvSpPr>
          <p:nvPr/>
        </p:nvSpPr>
        <p:spPr>
          <a:xfrm xmlns:a="http://schemas.openxmlformats.org/drawingml/2006/main">
            <a:off x="400050" y="1851374"/>
            <a:ext cx="3438525" cy="1542860"/>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13" name="text-111">
            <a:extLst xmlns:a="http://schemas.openxmlformats.org/drawingml/2006/main">
              <a:ext uri="{FF2B5EF4-FFF2-40B4-BE49-F238E27FC236}">
                <a16:creationId xmlns:a16="http://schemas.microsoft.com/office/drawing/2014/main" id="{39842B68-BEE1-4C23-B235-CCDDF25BAF33}"/>
              </a:ext>
            </a:extLst>
          </p:cNvPr>
          <p:cNvSpPr>
            <a:spLocks xmlns:a="http://schemas.openxmlformats.org/drawingml/2006/main" noGrp="1"/>
          </p:cNvSpPr>
          <p:nvPr/>
        </p:nvSpPr>
        <p:spPr>
          <a:xfrm xmlns:a="http://schemas.openxmlformats.org/drawingml/2006/main">
            <a:off x="542925" y="1978533"/>
            <a:ext cx="3152775" cy="1297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Four ESP32 sensing nodes</a:t>
            </a:r>
          </a:p>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Modular, available components</a:t>
            </a:r>
          </a:p>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Node identity + gateway link</a:t>
            </a:r>
          </a:p>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Deterministic local processing</a:t>
            </a:r>
          </a:p>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Fault visibility + alert capability</a:t>
            </a:r>
          </a:p>
        </p:txBody>
      </p:sp>
      <p:sp>
        <p:nvSpPr>
          <p:cNvPr id="17414" name="implemented-element-photo">
            <a:extLst xmlns:a="http://schemas.openxmlformats.org/drawingml/2006/main">
              <a:ext uri="{FF2B5EF4-FFF2-40B4-BE49-F238E27FC236}">
                <a16:creationId xmlns:a16="http://schemas.microsoft.com/office/drawing/2014/main" id="{47279791-C26F-42B8-AFF9-74E464CD3608}"/>
              </a:ext>
            </a:extLst>
          </p:cNvPr>
          <p:cNvSpPr>
            <a:spLocks xmlns:a="http://schemas.openxmlformats.org/drawingml/2006/main" noGrp="1"/>
          </p:cNvSpPr>
          <p:nvPr/>
        </p:nvSpPr>
        <p:spPr>
          <a:xfrm xmlns:a="http://schemas.openxmlformats.org/drawingml/2006/main">
            <a:off x="400050" y="3580733"/>
            <a:ext cx="3438525" cy="932498"/>
          </a:xfrm>
          <a:prstGeom xmlns:a="http://schemas.openxmlformats.org/drawingml/2006/main" prst="rect">
            <a:avLst/>
          </a:prstGeom>
          <a:solidFill xmlns:a="http://schemas.openxmlformats.org/drawingml/2006/main">
            <a:srgbClr val="FFFFFF"/>
          </a:solidFill>
          <a:ln xmlns:a="http://schemas.openxmlformats.org/drawingml/2006/main" w="12383">
            <a:solidFill>
              <a:srgbClr val="CCD4DE"/>
            </a:solidFill>
            <a:prstDash val="solid"/>
          </a:ln>
        </p:spPr>
      </p:sp>
      <p:sp>
        <p:nvSpPr>
          <p:cNvPr id="17415" name="text-112">
            <a:extLst xmlns:a="http://schemas.openxmlformats.org/drawingml/2006/main">
              <a:ext uri="{FF2B5EF4-FFF2-40B4-BE49-F238E27FC236}">
                <a16:creationId xmlns:a16="http://schemas.microsoft.com/office/drawing/2014/main" id="{5979755A-4796-4C82-BED7-764578A44471}"/>
              </a:ext>
            </a:extLst>
          </p:cNvPr>
          <p:cNvSpPr>
            <a:spLocks xmlns:a="http://schemas.openxmlformats.org/drawingml/2006/main" noGrp="1"/>
          </p:cNvSpPr>
          <p:nvPr/>
        </p:nvSpPr>
        <p:spPr>
          <a:xfrm xmlns:a="http://schemas.openxmlformats.org/drawingml/2006/main">
            <a:off x="400050" y="4572572"/>
            <a:ext cx="34385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a:solidFill>
                  <a:srgbClr val="505C6B"/>
                </a:solidFill>
                <a:latin typeface="Arial"/>
                <a:ea typeface="Arial"/>
                <a:cs typeface="Arial"/>
              </a:defRPr>
            </a:pPr>
            <a:r>
              <a:rPr sz="945" b="0">
                <a:solidFill>
                  <a:srgbClr val="505C6B"/>
                </a:solidFill>
                <a:latin typeface="Arial"/>
                <a:ea typeface="Arial"/>
                <a:cs typeface="Arial"/>
              </a:rPr>
              <a:t>Current prototype / implemented element</a:t>
            </a:r>
          </a:p>
        </p:txBody>
      </p:sp>
      <p:sp>
        <p:nvSpPr>
          <p:cNvPr id="17416" name="text-113">
            <a:extLst xmlns:a="http://schemas.openxmlformats.org/drawingml/2006/main">
              <a:ext uri="{FF2B5EF4-FFF2-40B4-BE49-F238E27FC236}">
                <a16:creationId xmlns:a16="http://schemas.microsoft.com/office/drawing/2014/main" id="{9F11487A-EC08-4D51-9E58-ACC231C77C51}"/>
              </a:ext>
            </a:extLst>
          </p:cNvPr>
          <p:cNvSpPr>
            <a:spLocks xmlns:a="http://schemas.openxmlformats.org/drawingml/2006/main" noGrp="1"/>
          </p:cNvSpPr>
          <p:nvPr/>
        </p:nvSpPr>
        <p:spPr>
          <a:xfrm xmlns:a="http://schemas.openxmlformats.org/drawingml/2006/main">
            <a:off x="400050" y="4843844"/>
            <a:ext cx="3429000" cy="228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41414"/>
                </a:solidFill>
                <a:latin typeface="Arial"/>
                <a:ea typeface="Arial"/>
                <a:cs typeface="Arial"/>
              </a:defRPr>
            </a:pPr>
            <a:r>
              <a:rPr sz="1350" b="1">
                <a:solidFill>
                  <a:srgbClr val="141414"/>
                </a:solidFill>
                <a:latin typeface="Arial"/>
                <a:ea typeface="Arial"/>
                <a:cs typeface="Arial"/>
              </a:rPr>
              <a:t>Sensor limits</a:t>
            </a:r>
          </a:p>
        </p:txBody>
      </p:sp>
      <p:sp>
        <p:nvSpPr>
          <p:cNvPr id="17417" name="text-114">
            <a:extLst xmlns:a="http://schemas.openxmlformats.org/drawingml/2006/main">
              <a:ext uri="{FF2B5EF4-FFF2-40B4-BE49-F238E27FC236}">
                <a16:creationId xmlns:a16="http://schemas.microsoft.com/office/drawing/2014/main" id="{35EF777B-204B-4802-B1A5-C691BEF44B12}"/>
              </a:ext>
            </a:extLst>
          </p:cNvPr>
          <p:cNvSpPr>
            <a:spLocks xmlns:a="http://schemas.openxmlformats.org/drawingml/2006/main" noGrp="1"/>
          </p:cNvSpPr>
          <p:nvPr/>
        </p:nvSpPr>
        <p:spPr>
          <a:xfrm xmlns:a="http://schemas.openxmlformats.org/drawingml/2006/main">
            <a:off x="400050" y="5123593"/>
            <a:ext cx="3457575" cy="4662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Stable IMU mounting. Reference-calibrate sliders before reporting mm. MQ-2 provides context only.</a:t>
            </a:r>
          </a:p>
        </p:txBody>
      </p:sp>
      <p:sp>
        <p:nvSpPr>
          <p:cNvPr id="17418" name="text-115">
            <a:extLst xmlns:a="http://schemas.openxmlformats.org/drawingml/2006/main">
              <a:ext uri="{FF2B5EF4-FFF2-40B4-BE49-F238E27FC236}">
                <a16:creationId xmlns:a16="http://schemas.microsoft.com/office/drawing/2014/main" id="{58A996E2-A1D2-4EA8-AEED-EE9E73065A5E}"/>
              </a:ext>
            </a:extLst>
          </p:cNvPr>
          <p:cNvSpPr>
            <a:spLocks xmlns:a="http://schemas.openxmlformats.org/drawingml/2006/main" noGrp="1"/>
          </p:cNvSpPr>
          <p:nvPr/>
        </p:nvSpPr>
        <p:spPr>
          <a:xfrm xmlns:a="http://schemas.openxmlformats.org/drawingml/2006/main">
            <a:off x="4181475" y="1571625"/>
            <a:ext cx="34671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PATH TO FIELD</a:t>
            </a:r>
          </a:p>
        </p:txBody>
      </p:sp>
      <p:sp>
        <p:nvSpPr>
          <p:cNvPr id="17419" name="frame-116">
            <a:extLst xmlns:a="http://schemas.openxmlformats.org/drawingml/2006/main">
              <a:ext uri="{FF2B5EF4-FFF2-40B4-BE49-F238E27FC236}">
                <a16:creationId xmlns:a16="http://schemas.microsoft.com/office/drawing/2014/main" id="{9F3F8E5E-0186-4E8B-829A-CA40D339F681}"/>
              </a:ext>
            </a:extLst>
          </p:cNvPr>
          <p:cNvSpPr>
            <a:spLocks xmlns:a="http://schemas.openxmlformats.org/drawingml/2006/main" noGrp="1"/>
          </p:cNvSpPr>
          <p:nvPr/>
        </p:nvSpPr>
        <p:spPr>
          <a:xfrm xmlns:a="http://schemas.openxmlformats.org/drawingml/2006/main">
            <a:off x="4181475" y="1851374"/>
            <a:ext cx="3476625" cy="644271"/>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20" name="text-117">
            <a:extLst xmlns:a="http://schemas.openxmlformats.org/drawingml/2006/main">
              <a:ext uri="{FF2B5EF4-FFF2-40B4-BE49-F238E27FC236}">
                <a16:creationId xmlns:a16="http://schemas.microsoft.com/office/drawing/2014/main" id="{687FB114-047E-4708-A74C-750669780476}"/>
              </a:ext>
            </a:extLst>
          </p:cNvPr>
          <p:cNvSpPr>
            <a:spLocks xmlns:a="http://schemas.openxmlformats.org/drawingml/2006/main" noGrp="1"/>
          </p:cNvSpPr>
          <p:nvPr/>
        </p:nvSpPr>
        <p:spPr>
          <a:xfrm xmlns:a="http://schemas.openxmlformats.org/drawingml/2006/main">
            <a:off x="4295775" y="1910715"/>
            <a:ext cx="3238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SCREENING PROTOTYPE</a:t>
            </a:r>
          </a:p>
        </p:txBody>
      </p:sp>
      <p:sp>
        <p:nvSpPr>
          <p:cNvPr id="17421" name="text-118">
            <a:extLst xmlns:a="http://schemas.openxmlformats.org/drawingml/2006/main">
              <a:ext uri="{FF2B5EF4-FFF2-40B4-BE49-F238E27FC236}">
                <a16:creationId xmlns:a16="http://schemas.microsoft.com/office/drawing/2014/main" id="{5B8AF64A-4B71-492A-8529-ABC3086B8597}"/>
              </a:ext>
            </a:extLst>
          </p:cNvPr>
          <p:cNvSpPr>
            <a:spLocks xmlns:a="http://schemas.openxmlformats.org/drawingml/2006/main" noGrp="1"/>
          </p:cNvSpPr>
          <p:nvPr/>
        </p:nvSpPr>
        <p:spPr>
          <a:xfrm xmlns:a="http://schemas.openxmlformats.org/drawingml/2006/main">
            <a:off x="4295775" y="2105692"/>
            <a:ext cx="3238500" cy="18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4 nodes + controlled deformation</a:t>
            </a:r>
          </a:p>
        </p:txBody>
      </p:sp>
      <p:sp>
        <p:nvSpPr>
          <p:cNvPr id="17422" name="text-119">
            <a:extLst xmlns:a="http://schemas.openxmlformats.org/drawingml/2006/main">
              <a:ext uri="{FF2B5EF4-FFF2-40B4-BE49-F238E27FC236}">
                <a16:creationId xmlns:a16="http://schemas.microsoft.com/office/drawing/2014/main" id="{B17154EE-FF5F-4D4D-8961-DF433C9B8511}"/>
              </a:ext>
            </a:extLst>
          </p:cNvPr>
          <p:cNvSpPr>
            <a:spLocks xmlns:a="http://schemas.openxmlformats.org/drawingml/2006/main" noGrp="1"/>
          </p:cNvSpPr>
          <p:nvPr/>
        </p:nvSpPr>
        <p:spPr>
          <a:xfrm xmlns:a="http://schemas.openxmlformats.org/drawingml/2006/main">
            <a:off x="4295775" y="2300669"/>
            <a:ext cx="3238500" cy="169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5" b="0">
                <a:solidFill>
                  <a:srgbClr val="505C6B"/>
                </a:solidFill>
                <a:latin typeface="Arial"/>
                <a:ea typeface="Arial"/>
                <a:cs typeface="Arial"/>
              </a:defRPr>
            </a:pPr>
            <a:r>
              <a:rPr sz="965" b="0">
                <a:solidFill>
                  <a:srgbClr val="505C6B"/>
                </a:solidFill>
                <a:latin typeface="Arial"/>
                <a:ea typeface="Arial"/>
                <a:cs typeface="Arial"/>
              </a:rPr>
              <a:t>Gate: repeatable sensing-to-warning test</a:t>
            </a:r>
          </a:p>
        </p:txBody>
      </p:sp>
      <p:sp>
        <p:nvSpPr>
          <p:cNvPr id="17423" name="frame-120">
            <a:extLst xmlns:a="http://schemas.openxmlformats.org/drawingml/2006/main">
              <a:ext uri="{FF2B5EF4-FFF2-40B4-BE49-F238E27FC236}">
                <a16:creationId xmlns:a16="http://schemas.microsoft.com/office/drawing/2014/main" id="{5E73161F-2EA2-4CE8-B4F7-414D3BFD9D96}"/>
              </a:ext>
            </a:extLst>
          </p:cNvPr>
          <p:cNvSpPr>
            <a:spLocks xmlns:a="http://schemas.openxmlformats.org/drawingml/2006/main" noGrp="1"/>
          </p:cNvSpPr>
          <p:nvPr/>
        </p:nvSpPr>
        <p:spPr>
          <a:xfrm xmlns:a="http://schemas.openxmlformats.org/drawingml/2006/main">
            <a:off x="4181475" y="2597372"/>
            <a:ext cx="3476625" cy="644271"/>
          </a:xfrm>
          <a:prstGeom xmlns:a="http://schemas.openxmlformats.org/drawingml/2006/main" prst="rect">
            <a:avLst/>
          </a:prstGeom>
          <a:noFill xmlns:a="http://schemas.openxmlformats.org/drawingml/2006/main"/>
          <a:ln xmlns:a="http://schemas.openxmlformats.org/drawingml/2006/main" w="12383">
            <a:solidFill>
              <a:srgbClr val="0070C0"/>
            </a:solidFill>
            <a:prstDash val="dash"/>
          </a:ln>
        </p:spPr>
      </p:sp>
      <p:sp>
        <p:nvSpPr>
          <p:cNvPr id="17424" name="text-121">
            <a:extLst xmlns:a="http://schemas.openxmlformats.org/drawingml/2006/main">
              <a:ext uri="{FF2B5EF4-FFF2-40B4-BE49-F238E27FC236}">
                <a16:creationId xmlns:a16="http://schemas.microsoft.com/office/drawing/2014/main" id="{FF9B0BC9-E51D-4C36-9194-7DFB489B4985}"/>
              </a:ext>
            </a:extLst>
          </p:cNvPr>
          <p:cNvSpPr>
            <a:spLocks xmlns:a="http://schemas.openxmlformats.org/drawingml/2006/main" noGrp="1"/>
          </p:cNvSpPr>
          <p:nvPr/>
        </p:nvSpPr>
        <p:spPr>
          <a:xfrm xmlns:a="http://schemas.openxmlformats.org/drawingml/2006/main">
            <a:off x="4295775" y="2656713"/>
            <a:ext cx="3238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SURFACE PILOT</a:t>
            </a:r>
          </a:p>
        </p:txBody>
      </p:sp>
      <p:sp>
        <p:nvSpPr>
          <p:cNvPr id="17425" name="text-122">
            <a:extLst xmlns:a="http://schemas.openxmlformats.org/drawingml/2006/main">
              <a:ext uri="{FF2B5EF4-FFF2-40B4-BE49-F238E27FC236}">
                <a16:creationId xmlns:a16="http://schemas.microsoft.com/office/drawing/2014/main" id="{7866E261-66FB-49AB-90D6-056B78DF4450}"/>
              </a:ext>
            </a:extLst>
          </p:cNvPr>
          <p:cNvSpPr>
            <a:spLocks xmlns:a="http://schemas.openxmlformats.org/drawingml/2006/main" noGrp="1"/>
          </p:cNvSpPr>
          <p:nvPr/>
        </p:nvSpPr>
        <p:spPr>
          <a:xfrm xmlns:a="http://schemas.openxmlformats.org/drawingml/2006/main">
            <a:off x="4295775" y="2851690"/>
            <a:ext cx="3238500" cy="18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LoRa + edge gateway + reference</a:t>
            </a:r>
          </a:p>
        </p:txBody>
      </p:sp>
      <p:sp>
        <p:nvSpPr>
          <p:cNvPr id="17426" name="text-123">
            <a:extLst xmlns:a="http://schemas.openxmlformats.org/drawingml/2006/main">
              <a:ext uri="{FF2B5EF4-FFF2-40B4-BE49-F238E27FC236}">
                <a16:creationId xmlns:a16="http://schemas.microsoft.com/office/drawing/2014/main" id="{733E78D7-81F1-4022-A8DD-373944861A3C}"/>
              </a:ext>
            </a:extLst>
          </p:cNvPr>
          <p:cNvSpPr>
            <a:spLocks xmlns:a="http://schemas.openxmlformats.org/drawingml/2006/main" noGrp="1"/>
          </p:cNvSpPr>
          <p:nvPr/>
        </p:nvSpPr>
        <p:spPr>
          <a:xfrm xmlns:a="http://schemas.openxmlformats.org/drawingml/2006/main">
            <a:off x="4295775" y="3046667"/>
            <a:ext cx="3238500" cy="169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5" b="0">
                <a:solidFill>
                  <a:srgbClr val="505C6B"/>
                </a:solidFill>
                <a:latin typeface="Arial"/>
                <a:ea typeface="Arial"/>
                <a:cs typeface="Arial"/>
              </a:defRPr>
            </a:pPr>
            <a:r>
              <a:rPr sz="965" b="0">
                <a:solidFill>
                  <a:srgbClr val="505C6B"/>
                </a:solidFill>
                <a:latin typeface="Arial"/>
                <a:ea typeface="Arial"/>
                <a:cs typeface="Arial"/>
              </a:rPr>
              <a:t>Gate: packet delivery + reference comparison</a:t>
            </a:r>
          </a:p>
        </p:txBody>
      </p:sp>
      <p:sp>
        <p:nvSpPr>
          <p:cNvPr id="17427" name="frame-124">
            <a:extLst xmlns:a="http://schemas.openxmlformats.org/drawingml/2006/main">
              <a:ext uri="{FF2B5EF4-FFF2-40B4-BE49-F238E27FC236}">
                <a16:creationId xmlns:a16="http://schemas.microsoft.com/office/drawing/2014/main" id="{DF3C7940-A209-4108-8568-37E62414DE53}"/>
              </a:ext>
            </a:extLst>
          </p:cNvPr>
          <p:cNvSpPr>
            <a:spLocks xmlns:a="http://schemas.openxmlformats.org/drawingml/2006/main" noGrp="1"/>
          </p:cNvSpPr>
          <p:nvPr/>
        </p:nvSpPr>
        <p:spPr>
          <a:xfrm xmlns:a="http://schemas.openxmlformats.org/drawingml/2006/main">
            <a:off x="4181475" y="3343370"/>
            <a:ext cx="3476625" cy="644271"/>
          </a:xfrm>
          <a:prstGeom xmlns:a="http://schemas.openxmlformats.org/drawingml/2006/main" prst="rect">
            <a:avLst/>
          </a:prstGeom>
          <a:noFill xmlns:a="http://schemas.openxmlformats.org/drawingml/2006/main"/>
          <a:ln xmlns:a="http://schemas.openxmlformats.org/drawingml/2006/main" w="12383">
            <a:solidFill>
              <a:srgbClr val="0070C0"/>
            </a:solidFill>
            <a:prstDash val="dash"/>
          </a:ln>
        </p:spPr>
      </p:sp>
      <p:sp>
        <p:nvSpPr>
          <p:cNvPr id="17428" name="text-125">
            <a:extLst xmlns:a="http://schemas.openxmlformats.org/drawingml/2006/main">
              <a:ext uri="{FF2B5EF4-FFF2-40B4-BE49-F238E27FC236}">
                <a16:creationId xmlns:a16="http://schemas.microsoft.com/office/drawing/2014/main" id="{B8E75E63-F0CD-4A28-ABDE-1A469F7FF39D}"/>
              </a:ext>
            </a:extLst>
          </p:cNvPr>
          <p:cNvSpPr>
            <a:spLocks xmlns:a="http://schemas.openxmlformats.org/drawingml/2006/main" noGrp="1"/>
          </p:cNvSpPr>
          <p:nvPr/>
        </p:nvSpPr>
        <p:spPr>
          <a:xfrm xmlns:a="http://schemas.openxmlformats.org/drawingml/2006/main">
            <a:off x="4295775" y="3402711"/>
            <a:ext cx="3238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HARDENING</a:t>
            </a:r>
          </a:p>
        </p:txBody>
      </p:sp>
      <p:sp>
        <p:nvSpPr>
          <p:cNvPr id="17429" name="text-126">
            <a:extLst xmlns:a="http://schemas.openxmlformats.org/drawingml/2006/main">
              <a:ext uri="{FF2B5EF4-FFF2-40B4-BE49-F238E27FC236}">
                <a16:creationId xmlns:a16="http://schemas.microsoft.com/office/drawing/2014/main" id="{4BC3F2E3-3C40-4699-B7CA-B21C17469D98}"/>
              </a:ext>
            </a:extLst>
          </p:cNvPr>
          <p:cNvSpPr>
            <a:spLocks xmlns:a="http://schemas.openxmlformats.org/drawingml/2006/main" noGrp="1"/>
          </p:cNvSpPr>
          <p:nvPr/>
        </p:nvSpPr>
        <p:spPr>
          <a:xfrm xmlns:a="http://schemas.openxmlformats.org/drawingml/2006/main">
            <a:off x="4295775" y="3597688"/>
            <a:ext cx="3238500" cy="18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Enclosures + power + precision sensors</a:t>
            </a:r>
          </a:p>
        </p:txBody>
      </p:sp>
      <p:sp>
        <p:nvSpPr>
          <p:cNvPr id="17430" name="text-127">
            <a:extLst xmlns:a="http://schemas.openxmlformats.org/drawingml/2006/main">
              <a:ext uri="{FF2B5EF4-FFF2-40B4-BE49-F238E27FC236}">
                <a16:creationId xmlns:a16="http://schemas.microsoft.com/office/drawing/2014/main" id="{75B34610-3150-43B8-9FD5-275A17052B2D}"/>
              </a:ext>
            </a:extLst>
          </p:cNvPr>
          <p:cNvSpPr>
            <a:spLocks xmlns:a="http://schemas.openxmlformats.org/drawingml/2006/main" noGrp="1"/>
          </p:cNvSpPr>
          <p:nvPr/>
        </p:nvSpPr>
        <p:spPr>
          <a:xfrm xmlns:a="http://schemas.openxmlformats.org/drawingml/2006/main">
            <a:off x="4295775" y="3792665"/>
            <a:ext cx="3238500" cy="169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5" b="0">
                <a:solidFill>
                  <a:srgbClr val="505C6B"/>
                </a:solidFill>
                <a:latin typeface="Arial"/>
                <a:ea typeface="Arial"/>
                <a:cs typeface="Arial"/>
              </a:defRPr>
            </a:pPr>
            <a:r>
              <a:rPr sz="965" b="0">
                <a:solidFill>
                  <a:srgbClr val="505C6B"/>
                </a:solidFill>
                <a:latin typeface="Arial"/>
                <a:ea typeface="Arial"/>
                <a:cs typeface="Arial"/>
              </a:rPr>
              <a:t>Gate: weather, power and reliability tests</a:t>
            </a:r>
          </a:p>
        </p:txBody>
      </p:sp>
      <p:sp>
        <p:nvSpPr>
          <p:cNvPr id="17431" name="frame-128">
            <a:extLst xmlns:a="http://schemas.openxmlformats.org/drawingml/2006/main">
              <a:ext uri="{FF2B5EF4-FFF2-40B4-BE49-F238E27FC236}">
                <a16:creationId xmlns:a16="http://schemas.microsoft.com/office/drawing/2014/main" id="{CA65A794-2931-4A56-90FC-F3E253801589}"/>
              </a:ext>
            </a:extLst>
          </p:cNvPr>
          <p:cNvSpPr>
            <a:spLocks xmlns:a="http://schemas.openxmlformats.org/drawingml/2006/main" noGrp="1"/>
          </p:cNvSpPr>
          <p:nvPr/>
        </p:nvSpPr>
        <p:spPr>
          <a:xfrm xmlns:a="http://schemas.openxmlformats.org/drawingml/2006/main">
            <a:off x="4181475" y="4089368"/>
            <a:ext cx="3476625" cy="644271"/>
          </a:xfrm>
          <a:prstGeom xmlns:a="http://schemas.openxmlformats.org/drawingml/2006/main" prst="rect">
            <a:avLst/>
          </a:prstGeom>
          <a:noFill xmlns:a="http://schemas.openxmlformats.org/drawingml/2006/main"/>
          <a:ln xmlns:a="http://schemas.openxmlformats.org/drawingml/2006/main" w="12383">
            <a:solidFill>
              <a:srgbClr val="0070C0"/>
            </a:solidFill>
            <a:prstDash val="dash"/>
          </a:ln>
        </p:spPr>
      </p:sp>
      <p:sp>
        <p:nvSpPr>
          <p:cNvPr id="17432" name="text-129">
            <a:extLst xmlns:a="http://schemas.openxmlformats.org/drawingml/2006/main">
              <a:ext uri="{FF2B5EF4-FFF2-40B4-BE49-F238E27FC236}">
                <a16:creationId xmlns:a16="http://schemas.microsoft.com/office/drawing/2014/main" id="{CC54B22C-319F-4D33-95F5-D60FF7C213ED}"/>
              </a:ext>
            </a:extLst>
          </p:cNvPr>
          <p:cNvSpPr>
            <a:spLocks xmlns:a="http://schemas.openxmlformats.org/drawingml/2006/main" noGrp="1"/>
          </p:cNvSpPr>
          <p:nvPr/>
        </p:nvSpPr>
        <p:spPr>
          <a:xfrm xmlns:a="http://schemas.openxmlformats.org/drawingml/2006/main">
            <a:off x="4295775" y="4148709"/>
            <a:ext cx="3238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MINE DEPLOYMENT</a:t>
            </a:r>
          </a:p>
        </p:txBody>
      </p:sp>
      <p:sp>
        <p:nvSpPr>
          <p:cNvPr id="17433" name="text-130">
            <a:extLst xmlns:a="http://schemas.openxmlformats.org/drawingml/2006/main">
              <a:ext uri="{FF2B5EF4-FFF2-40B4-BE49-F238E27FC236}">
                <a16:creationId xmlns:a16="http://schemas.microsoft.com/office/drawing/2014/main" id="{C9FC724C-0BFE-4928-9456-C6E3D7C5A550}"/>
              </a:ext>
            </a:extLst>
          </p:cNvPr>
          <p:cNvSpPr>
            <a:spLocks xmlns:a="http://schemas.openxmlformats.org/drawingml/2006/main" noGrp="1"/>
          </p:cNvSpPr>
          <p:nvPr/>
        </p:nvSpPr>
        <p:spPr>
          <a:xfrm xmlns:a="http://schemas.openxmlformats.org/drawingml/2006/main">
            <a:off x="4295775" y="4343686"/>
            <a:ext cx="3238500" cy="18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Surveyed positions + GIS + maintenance</a:t>
            </a:r>
          </a:p>
        </p:txBody>
      </p:sp>
      <p:sp>
        <p:nvSpPr>
          <p:cNvPr id="17434" name="text-131">
            <a:extLst xmlns:a="http://schemas.openxmlformats.org/drawingml/2006/main">
              <a:ext uri="{FF2B5EF4-FFF2-40B4-BE49-F238E27FC236}">
                <a16:creationId xmlns:a16="http://schemas.microsoft.com/office/drawing/2014/main" id="{781A60A6-8425-4B92-9EB7-67F36987FE93}"/>
              </a:ext>
            </a:extLst>
          </p:cNvPr>
          <p:cNvSpPr>
            <a:spLocks xmlns:a="http://schemas.openxmlformats.org/drawingml/2006/main" noGrp="1"/>
          </p:cNvSpPr>
          <p:nvPr/>
        </p:nvSpPr>
        <p:spPr>
          <a:xfrm xmlns:a="http://schemas.openxmlformats.org/drawingml/2006/main">
            <a:off x="4295775" y="4538663"/>
            <a:ext cx="3238500" cy="169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5" b="0">
                <a:solidFill>
                  <a:srgbClr val="505C6B"/>
                </a:solidFill>
                <a:latin typeface="Arial"/>
                <a:ea typeface="Arial"/>
                <a:cs typeface="Arial"/>
              </a:defRPr>
            </a:pPr>
            <a:r>
              <a:rPr sz="965" b="0">
                <a:solidFill>
                  <a:srgbClr val="505C6B"/>
                </a:solidFill>
                <a:latin typeface="Arial"/>
                <a:ea typeface="Arial"/>
                <a:cs typeface="Arial"/>
              </a:rPr>
              <a:t>Gate: site acceptance + applicable approvals</a:t>
            </a:r>
          </a:p>
        </p:txBody>
      </p:sp>
      <p:sp>
        <p:nvSpPr>
          <p:cNvPr id="17435" name="frame-132">
            <a:extLst xmlns:a="http://schemas.openxmlformats.org/drawingml/2006/main">
              <a:ext uri="{FF2B5EF4-FFF2-40B4-BE49-F238E27FC236}">
                <a16:creationId xmlns:a16="http://schemas.microsoft.com/office/drawing/2014/main" id="{7DA0312E-DE12-46BF-BD35-9E9482B72CF0}"/>
              </a:ext>
            </a:extLst>
          </p:cNvPr>
          <p:cNvSpPr>
            <a:spLocks xmlns:a="http://schemas.openxmlformats.org/drawingml/2006/main" noGrp="1"/>
          </p:cNvSpPr>
          <p:nvPr/>
        </p:nvSpPr>
        <p:spPr>
          <a:xfrm xmlns:a="http://schemas.openxmlformats.org/drawingml/2006/main">
            <a:off x="4181475" y="4835366"/>
            <a:ext cx="3476625" cy="644271"/>
          </a:xfrm>
          <a:prstGeom xmlns:a="http://schemas.openxmlformats.org/drawingml/2006/main" prst="rect">
            <a:avLst/>
          </a:prstGeom>
          <a:noFill xmlns:a="http://schemas.openxmlformats.org/drawingml/2006/main"/>
          <a:ln xmlns:a="http://schemas.openxmlformats.org/drawingml/2006/main" w="12383">
            <a:solidFill>
              <a:srgbClr val="8494A8"/>
            </a:solidFill>
            <a:prstDash val="dot"/>
          </a:ln>
        </p:spPr>
      </p:sp>
      <p:sp>
        <p:nvSpPr>
          <p:cNvPr id="17436" name="text-133">
            <a:extLst xmlns:a="http://schemas.openxmlformats.org/drawingml/2006/main">
              <a:ext uri="{FF2B5EF4-FFF2-40B4-BE49-F238E27FC236}">
                <a16:creationId xmlns:a16="http://schemas.microsoft.com/office/drawing/2014/main" id="{FEE7A5DD-AE20-4A8E-9620-9E8BB0C96EFF}"/>
              </a:ext>
            </a:extLst>
          </p:cNvPr>
          <p:cNvSpPr>
            <a:spLocks xmlns:a="http://schemas.openxmlformats.org/drawingml/2006/main" noGrp="1"/>
          </p:cNvSpPr>
          <p:nvPr/>
        </p:nvSpPr>
        <p:spPr>
          <a:xfrm xmlns:a="http://schemas.openxmlformats.org/drawingml/2006/main">
            <a:off x="4295775" y="4894707"/>
            <a:ext cx="32385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0070C0"/>
                </a:solidFill>
                <a:latin typeface="Arial"/>
                <a:ea typeface="Arial"/>
                <a:cs typeface="Arial"/>
              </a:defRPr>
            </a:pPr>
            <a:r>
              <a:rPr sz="1013" b="1">
                <a:solidFill>
                  <a:srgbClr val="0070C0"/>
                </a:solidFill>
                <a:latin typeface="Arial"/>
                <a:ea typeface="Arial"/>
                <a:cs typeface="Arial"/>
              </a:rPr>
              <a:t>ADVANCED ANALYTICS</a:t>
            </a:r>
          </a:p>
        </p:txBody>
      </p:sp>
      <p:sp>
        <p:nvSpPr>
          <p:cNvPr id="17437" name="text-134">
            <a:extLst xmlns:a="http://schemas.openxmlformats.org/drawingml/2006/main">
              <a:ext uri="{FF2B5EF4-FFF2-40B4-BE49-F238E27FC236}">
                <a16:creationId xmlns:a16="http://schemas.microsoft.com/office/drawing/2014/main" id="{50C616BF-98F7-42E0-B328-3176EB9FA099}"/>
              </a:ext>
            </a:extLst>
          </p:cNvPr>
          <p:cNvSpPr>
            <a:spLocks xmlns:a="http://schemas.openxmlformats.org/drawingml/2006/main" noGrp="1"/>
          </p:cNvSpPr>
          <p:nvPr/>
        </p:nvSpPr>
        <p:spPr>
          <a:xfrm xmlns:a="http://schemas.openxmlformats.org/drawingml/2006/main">
            <a:off x="4295775" y="5089684"/>
            <a:ext cx="3238500" cy="18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141414"/>
                </a:solidFill>
                <a:latin typeface="Arial"/>
                <a:ea typeface="Arial"/>
                <a:cs typeface="Arial"/>
              </a:defRPr>
            </a:pPr>
            <a:r>
              <a:rPr sz="1114" b="0">
                <a:solidFill>
                  <a:srgbClr val="141414"/>
                </a:solidFill>
                <a:latin typeface="Arial"/>
                <a:ea typeface="Arial"/>
                <a:cs typeface="Arial"/>
              </a:rPr>
              <a:t>Field-trained models + external surveys</a:t>
            </a:r>
          </a:p>
        </p:txBody>
      </p:sp>
      <p:sp>
        <p:nvSpPr>
          <p:cNvPr id="17438" name="text-135">
            <a:extLst xmlns:a="http://schemas.openxmlformats.org/drawingml/2006/main">
              <a:ext uri="{FF2B5EF4-FFF2-40B4-BE49-F238E27FC236}">
                <a16:creationId xmlns:a16="http://schemas.microsoft.com/office/drawing/2014/main" id="{D62192F6-0D3D-4492-8E64-23EA220231B3}"/>
              </a:ext>
            </a:extLst>
          </p:cNvPr>
          <p:cNvSpPr>
            <a:spLocks xmlns:a="http://schemas.openxmlformats.org/drawingml/2006/main" noGrp="1"/>
          </p:cNvSpPr>
          <p:nvPr/>
        </p:nvSpPr>
        <p:spPr>
          <a:xfrm xmlns:a="http://schemas.openxmlformats.org/drawingml/2006/main">
            <a:off x="4295775" y="5284660"/>
            <a:ext cx="3238500" cy="169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5" b="0">
                <a:solidFill>
                  <a:srgbClr val="505C6B"/>
                </a:solidFill>
                <a:latin typeface="Arial"/>
                <a:ea typeface="Arial"/>
                <a:cs typeface="Arial"/>
              </a:defRPr>
            </a:pPr>
            <a:r>
              <a:rPr sz="965" b="0">
                <a:solidFill>
                  <a:srgbClr val="505C6B"/>
                </a:solidFill>
                <a:latin typeface="Arial"/>
                <a:ea typeface="Arial"/>
                <a:cs typeface="Arial"/>
              </a:rPr>
              <a:t>Gate: held-out performance + uncertainty</a:t>
            </a:r>
          </a:p>
        </p:txBody>
      </p:sp>
      <p:sp>
        <p:nvSpPr>
          <p:cNvPr id="17439" name="text-136">
            <a:extLst xmlns:a="http://schemas.openxmlformats.org/drawingml/2006/main">
              <a:ext uri="{FF2B5EF4-FFF2-40B4-BE49-F238E27FC236}">
                <a16:creationId xmlns:a16="http://schemas.microsoft.com/office/drawing/2014/main" id="{D750DD95-7A76-482A-8B7C-200D3355376F}"/>
              </a:ext>
            </a:extLst>
          </p:cNvPr>
          <p:cNvSpPr>
            <a:spLocks xmlns:a="http://schemas.openxmlformats.org/drawingml/2006/main" noGrp="1"/>
          </p:cNvSpPr>
          <p:nvPr/>
        </p:nvSpPr>
        <p:spPr>
          <a:xfrm xmlns:a="http://schemas.openxmlformats.org/drawingml/2006/main">
            <a:off x="7991475" y="1571625"/>
            <a:ext cx="37909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REAL RISKS → ENGINEERING RESPONSE</a:t>
            </a:r>
          </a:p>
        </p:txBody>
      </p:sp>
      <p:sp>
        <p:nvSpPr>
          <p:cNvPr id="17440" name="text-137">
            <a:extLst xmlns:a="http://schemas.openxmlformats.org/drawingml/2006/main">
              <a:ext uri="{FF2B5EF4-FFF2-40B4-BE49-F238E27FC236}">
                <a16:creationId xmlns:a16="http://schemas.microsoft.com/office/drawing/2014/main" id="{B21C05BF-75F5-4862-84A8-81659E597118}"/>
              </a:ext>
            </a:extLst>
          </p:cNvPr>
          <p:cNvSpPr>
            <a:spLocks xmlns:a="http://schemas.openxmlformats.org/drawingml/2006/main" noGrp="1"/>
          </p:cNvSpPr>
          <p:nvPr/>
        </p:nvSpPr>
        <p:spPr>
          <a:xfrm xmlns:a="http://schemas.openxmlformats.org/drawingml/2006/main">
            <a:off x="7991475" y="1851374"/>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Sensor drift</a:t>
            </a:r>
          </a:p>
        </p:txBody>
      </p:sp>
      <p:sp>
        <p:nvSpPr>
          <p:cNvPr id="17441" name="text-138">
            <a:extLst xmlns:a="http://schemas.openxmlformats.org/drawingml/2006/main">
              <a:ext uri="{FF2B5EF4-FFF2-40B4-BE49-F238E27FC236}">
                <a16:creationId xmlns:a16="http://schemas.microsoft.com/office/drawing/2014/main" id="{B07A92B3-A695-47EA-B244-23125ADA76FB}"/>
              </a:ext>
            </a:extLst>
          </p:cNvPr>
          <p:cNvSpPr>
            <a:spLocks xmlns:a="http://schemas.openxmlformats.org/drawingml/2006/main" noGrp="1"/>
          </p:cNvSpPr>
          <p:nvPr/>
        </p:nvSpPr>
        <p:spPr>
          <a:xfrm xmlns:a="http://schemas.openxmlformats.org/drawingml/2006/main">
            <a:off x="7991475" y="2054828"/>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Calibration + baseline</a:t>
            </a:r>
          </a:p>
        </p:txBody>
      </p:sp>
      <p:sp>
        <p:nvSpPr>
          <p:cNvPr id="17442" name="text-139">
            <a:extLst xmlns:a="http://schemas.openxmlformats.org/drawingml/2006/main">
              <a:ext uri="{FF2B5EF4-FFF2-40B4-BE49-F238E27FC236}">
                <a16:creationId xmlns:a16="http://schemas.microsoft.com/office/drawing/2014/main" id="{09D18990-EAF4-488E-8ACF-38CFE685B902}"/>
              </a:ext>
            </a:extLst>
          </p:cNvPr>
          <p:cNvSpPr>
            <a:spLocks xmlns:a="http://schemas.openxmlformats.org/drawingml/2006/main" noGrp="1"/>
          </p:cNvSpPr>
          <p:nvPr/>
        </p:nvSpPr>
        <p:spPr>
          <a:xfrm xmlns:a="http://schemas.openxmlformats.org/drawingml/2006/main">
            <a:off x="7991475" y="2292191"/>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Transient noise</a:t>
            </a:r>
          </a:p>
        </p:txBody>
      </p:sp>
      <p:sp>
        <p:nvSpPr>
          <p:cNvPr id="17443" name="text-140">
            <a:extLst xmlns:a="http://schemas.openxmlformats.org/drawingml/2006/main">
              <a:ext uri="{FF2B5EF4-FFF2-40B4-BE49-F238E27FC236}">
                <a16:creationId xmlns:a16="http://schemas.microsoft.com/office/drawing/2014/main" id="{297252CC-B841-4C9C-8F34-BD449A239906}"/>
              </a:ext>
            </a:extLst>
          </p:cNvPr>
          <p:cNvSpPr>
            <a:spLocks xmlns:a="http://schemas.openxmlformats.org/drawingml/2006/main" noGrp="1"/>
          </p:cNvSpPr>
          <p:nvPr/>
        </p:nvSpPr>
        <p:spPr>
          <a:xfrm xmlns:a="http://schemas.openxmlformats.org/drawingml/2006/main">
            <a:off x="7991475" y="2495645"/>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Filtering + persistence</a:t>
            </a:r>
          </a:p>
        </p:txBody>
      </p:sp>
      <p:sp>
        <p:nvSpPr>
          <p:cNvPr id="17444" name="text-141">
            <a:extLst xmlns:a="http://schemas.openxmlformats.org/drawingml/2006/main">
              <a:ext uri="{FF2B5EF4-FFF2-40B4-BE49-F238E27FC236}">
                <a16:creationId xmlns:a16="http://schemas.microsoft.com/office/drawing/2014/main" id="{1E748AB1-F891-4F4C-8346-322E9F22D27B}"/>
              </a:ext>
            </a:extLst>
          </p:cNvPr>
          <p:cNvSpPr>
            <a:spLocks xmlns:a="http://schemas.openxmlformats.org/drawingml/2006/main" noGrp="1"/>
          </p:cNvSpPr>
          <p:nvPr/>
        </p:nvSpPr>
        <p:spPr>
          <a:xfrm xmlns:a="http://schemas.openxmlformats.org/drawingml/2006/main">
            <a:off x="7991475" y="2733008"/>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False alarm</a:t>
            </a:r>
          </a:p>
        </p:txBody>
      </p:sp>
      <p:sp>
        <p:nvSpPr>
          <p:cNvPr id="17445" name="text-142">
            <a:extLst xmlns:a="http://schemas.openxmlformats.org/drawingml/2006/main">
              <a:ext uri="{FF2B5EF4-FFF2-40B4-BE49-F238E27FC236}">
                <a16:creationId xmlns:a16="http://schemas.microsoft.com/office/drawing/2014/main" id="{72F2D4C5-2E25-41F0-BF41-F4AFCCD39F35}"/>
              </a:ext>
            </a:extLst>
          </p:cNvPr>
          <p:cNvSpPr>
            <a:spLocks xmlns:a="http://schemas.openxmlformats.org/drawingml/2006/main" noGrp="1"/>
          </p:cNvSpPr>
          <p:nvPr/>
        </p:nvSpPr>
        <p:spPr>
          <a:xfrm xmlns:a="http://schemas.openxmlformats.org/drawingml/2006/main">
            <a:off x="7991475" y="2936462"/>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Planned multi-node corroboration</a:t>
            </a:r>
          </a:p>
        </p:txBody>
      </p:sp>
      <p:sp>
        <p:nvSpPr>
          <p:cNvPr id="17446" name="text-143">
            <a:extLst xmlns:a="http://schemas.openxmlformats.org/drawingml/2006/main">
              <a:ext uri="{FF2B5EF4-FFF2-40B4-BE49-F238E27FC236}">
                <a16:creationId xmlns:a16="http://schemas.microsoft.com/office/drawing/2014/main" id="{4371A726-B8E6-4753-A52B-8C032B3B0288}"/>
              </a:ext>
            </a:extLst>
          </p:cNvPr>
          <p:cNvSpPr>
            <a:spLocks xmlns:a="http://schemas.openxmlformats.org/drawingml/2006/main" noGrp="1"/>
          </p:cNvSpPr>
          <p:nvPr/>
        </p:nvSpPr>
        <p:spPr>
          <a:xfrm xmlns:a="http://schemas.openxmlformats.org/drawingml/2006/main">
            <a:off x="7991475" y="3173825"/>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Node failure</a:t>
            </a:r>
          </a:p>
        </p:txBody>
      </p:sp>
      <p:sp>
        <p:nvSpPr>
          <p:cNvPr id="17447" name="text-144">
            <a:extLst xmlns:a="http://schemas.openxmlformats.org/drawingml/2006/main">
              <a:ext uri="{FF2B5EF4-FFF2-40B4-BE49-F238E27FC236}">
                <a16:creationId xmlns:a16="http://schemas.microsoft.com/office/drawing/2014/main" id="{A564B82C-BFC8-49B4-9D94-B923D1C891A8}"/>
              </a:ext>
            </a:extLst>
          </p:cNvPr>
          <p:cNvSpPr>
            <a:spLocks xmlns:a="http://schemas.openxmlformats.org/drawingml/2006/main" noGrp="1"/>
          </p:cNvSpPr>
          <p:nvPr/>
        </p:nvSpPr>
        <p:spPr>
          <a:xfrm xmlns:a="http://schemas.openxmlformats.org/drawingml/2006/main">
            <a:off x="7991475" y="3377279"/>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FAULT / STALE / UNKNOWN</a:t>
            </a:r>
          </a:p>
        </p:txBody>
      </p:sp>
      <p:sp>
        <p:nvSpPr>
          <p:cNvPr id="17448" name="text-145">
            <a:extLst xmlns:a="http://schemas.openxmlformats.org/drawingml/2006/main">
              <a:ext uri="{FF2B5EF4-FFF2-40B4-BE49-F238E27FC236}">
                <a16:creationId xmlns:a16="http://schemas.microsoft.com/office/drawing/2014/main" id="{189FB3BF-6760-4B4D-8B1D-274FC3A3E6D4}"/>
              </a:ext>
            </a:extLst>
          </p:cNvPr>
          <p:cNvSpPr>
            <a:spLocks xmlns:a="http://schemas.openxmlformats.org/drawingml/2006/main" noGrp="1"/>
          </p:cNvSpPr>
          <p:nvPr/>
        </p:nvSpPr>
        <p:spPr>
          <a:xfrm xmlns:a="http://schemas.openxmlformats.org/drawingml/2006/main">
            <a:off x="7991475" y="3614642"/>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Wireless outage</a:t>
            </a:r>
          </a:p>
        </p:txBody>
      </p:sp>
      <p:sp>
        <p:nvSpPr>
          <p:cNvPr id="17449" name="text-146">
            <a:extLst xmlns:a="http://schemas.openxmlformats.org/drawingml/2006/main">
              <a:ext uri="{FF2B5EF4-FFF2-40B4-BE49-F238E27FC236}">
                <a16:creationId xmlns:a16="http://schemas.microsoft.com/office/drawing/2014/main" id="{C19BA323-8CCD-418B-846A-B5D8AA9B1ADB}"/>
              </a:ext>
            </a:extLst>
          </p:cNvPr>
          <p:cNvSpPr>
            <a:spLocks xmlns:a="http://schemas.openxmlformats.org/drawingml/2006/main" noGrp="1"/>
          </p:cNvSpPr>
          <p:nvPr/>
        </p:nvSpPr>
        <p:spPr>
          <a:xfrm xmlns:a="http://schemas.openxmlformats.org/drawingml/2006/main">
            <a:off x="7991475" y="3818096"/>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Local logic; planned retries + records</a:t>
            </a:r>
          </a:p>
        </p:txBody>
      </p:sp>
      <p:sp>
        <p:nvSpPr>
          <p:cNvPr id="17450" name="text-147">
            <a:extLst xmlns:a="http://schemas.openxmlformats.org/drawingml/2006/main">
              <a:ext uri="{FF2B5EF4-FFF2-40B4-BE49-F238E27FC236}">
                <a16:creationId xmlns:a16="http://schemas.microsoft.com/office/drawing/2014/main" id="{B83A10EC-D22D-49A1-81F1-D5D0AA688F8D}"/>
              </a:ext>
            </a:extLst>
          </p:cNvPr>
          <p:cNvSpPr>
            <a:spLocks xmlns:a="http://schemas.openxmlformats.org/drawingml/2006/main" noGrp="1"/>
          </p:cNvSpPr>
          <p:nvPr/>
        </p:nvSpPr>
        <p:spPr>
          <a:xfrm xmlns:a="http://schemas.openxmlformats.org/drawingml/2006/main">
            <a:off x="7991475" y="4055459"/>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Power failure</a:t>
            </a:r>
          </a:p>
        </p:txBody>
      </p:sp>
      <p:sp>
        <p:nvSpPr>
          <p:cNvPr id="17451" name="text-148">
            <a:extLst xmlns:a="http://schemas.openxmlformats.org/drawingml/2006/main">
              <a:ext uri="{FF2B5EF4-FFF2-40B4-BE49-F238E27FC236}">
                <a16:creationId xmlns:a16="http://schemas.microsoft.com/office/drawing/2014/main" id="{19E3E74F-8885-4A95-9D43-8F51EF6CA605}"/>
              </a:ext>
            </a:extLst>
          </p:cNvPr>
          <p:cNvSpPr>
            <a:spLocks xmlns:a="http://schemas.openxmlformats.org/drawingml/2006/main" noGrp="1"/>
          </p:cNvSpPr>
          <p:nvPr/>
        </p:nvSpPr>
        <p:spPr>
          <a:xfrm xmlns:a="http://schemas.openxmlformats.org/drawingml/2006/main">
            <a:off x="7991475" y="4258913"/>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Planned battery/solar + health checks</a:t>
            </a:r>
          </a:p>
        </p:txBody>
      </p:sp>
      <p:sp>
        <p:nvSpPr>
          <p:cNvPr id="17452" name="text-149">
            <a:extLst xmlns:a="http://schemas.openxmlformats.org/drawingml/2006/main">
              <a:ext uri="{FF2B5EF4-FFF2-40B4-BE49-F238E27FC236}">
                <a16:creationId xmlns:a16="http://schemas.microsoft.com/office/drawing/2014/main" id="{306FFED8-0ACD-4F32-A1EF-E7D8C47E210D}"/>
              </a:ext>
            </a:extLst>
          </p:cNvPr>
          <p:cNvSpPr>
            <a:spLocks xmlns:a="http://schemas.openxmlformats.org/drawingml/2006/main" noGrp="1"/>
          </p:cNvSpPr>
          <p:nvPr/>
        </p:nvSpPr>
        <p:spPr>
          <a:xfrm xmlns:a="http://schemas.openxmlformats.org/drawingml/2006/main">
            <a:off x="7991475" y="4496276"/>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Harsh environment</a:t>
            </a:r>
          </a:p>
        </p:txBody>
      </p:sp>
      <p:sp>
        <p:nvSpPr>
          <p:cNvPr id="17453" name="text-150">
            <a:extLst xmlns:a="http://schemas.openxmlformats.org/drawingml/2006/main">
              <a:ext uri="{FF2B5EF4-FFF2-40B4-BE49-F238E27FC236}">
                <a16:creationId xmlns:a16="http://schemas.microsoft.com/office/drawing/2014/main" id="{0DD9ACC8-95EB-4BB3-B7CC-3DAB37B429A5}"/>
              </a:ext>
            </a:extLst>
          </p:cNvPr>
          <p:cNvSpPr>
            <a:spLocks xmlns:a="http://schemas.openxmlformats.org/drawingml/2006/main" noGrp="1"/>
          </p:cNvSpPr>
          <p:nvPr/>
        </p:nvSpPr>
        <p:spPr>
          <a:xfrm xmlns:a="http://schemas.openxmlformats.org/drawingml/2006/main">
            <a:off x="7991475" y="4699730"/>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Planned enclosure + protected mounting</a:t>
            </a:r>
          </a:p>
        </p:txBody>
      </p:sp>
      <p:sp>
        <p:nvSpPr>
          <p:cNvPr id="17454" name="text-151">
            <a:extLst xmlns:a="http://schemas.openxmlformats.org/drawingml/2006/main">
              <a:ext uri="{FF2B5EF4-FFF2-40B4-BE49-F238E27FC236}">
                <a16:creationId xmlns:a16="http://schemas.microsoft.com/office/drawing/2014/main" id="{09552865-2EA0-4B79-B353-61B753D8EA0E}"/>
              </a:ext>
            </a:extLst>
          </p:cNvPr>
          <p:cNvSpPr>
            <a:spLocks xmlns:a="http://schemas.openxmlformats.org/drawingml/2006/main" noGrp="1"/>
          </p:cNvSpPr>
          <p:nvPr/>
        </p:nvSpPr>
        <p:spPr>
          <a:xfrm xmlns:a="http://schemas.openxmlformats.org/drawingml/2006/main">
            <a:off x="7991475" y="4937093"/>
            <a:ext cx="378142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1">
                <a:solidFill>
                  <a:srgbClr val="141414"/>
                </a:solidFill>
                <a:latin typeface="Arial"/>
                <a:ea typeface="Arial"/>
                <a:cs typeface="Arial"/>
              </a:defRPr>
            </a:pPr>
            <a:r>
              <a:rPr sz="1215" b="1">
                <a:solidFill>
                  <a:srgbClr val="141414"/>
                </a:solidFill>
                <a:latin typeface="Arial"/>
                <a:ea typeface="Arial"/>
                <a:cs typeface="Arial"/>
              </a:rPr>
              <a:t>Insufficient mine data</a:t>
            </a:r>
          </a:p>
        </p:txBody>
      </p:sp>
      <p:sp>
        <p:nvSpPr>
          <p:cNvPr id="17455" name="text-152">
            <a:extLst xmlns:a="http://schemas.openxmlformats.org/drawingml/2006/main">
              <a:ext uri="{FF2B5EF4-FFF2-40B4-BE49-F238E27FC236}">
                <a16:creationId xmlns:a16="http://schemas.microsoft.com/office/drawing/2014/main" id="{39393898-E617-4B7B-9895-9F780205D8B9}"/>
              </a:ext>
            </a:extLst>
          </p:cNvPr>
          <p:cNvSpPr>
            <a:spLocks xmlns:a="http://schemas.openxmlformats.org/drawingml/2006/main" noGrp="1"/>
          </p:cNvSpPr>
          <p:nvPr/>
        </p:nvSpPr>
        <p:spPr>
          <a:xfrm xmlns:a="http://schemas.openxmlformats.org/drawingml/2006/main">
            <a:off x="7991475" y="5140547"/>
            <a:ext cx="37814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14" b="0">
                <a:solidFill>
                  <a:srgbClr val="505C6B"/>
                </a:solidFill>
                <a:latin typeface="Arial"/>
                <a:ea typeface="Arial"/>
                <a:cs typeface="Arial"/>
              </a:defRPr>
            </a:pPr>
            <a:r>
              <a:rPr sz="1114" b="0">
                <a:solidFill>
                  <a:srgbClr val="505C6B"/>
                </a:solidFill>
                <a:latin typeface="Arial"/>
                <a:ea typeface="Arial"/>
                <a:cs typeface="Arial"/>
              </a:rPr>
              <a:t>Controlled tests → pilot → validated model</a:t>
            </a:r>
          </a:p>
        </p:txBody>
      </p:sp>
      <p:sp>
        <p:nvSpPr>
          <p:cNvPr id="17456" name="text-153">
            <a:extLst xmlns:a="http://schemas.openxmlformats.org/drawingml/2006/main">
              <a:ext uri="{FF2B5EF4-FFF2-40B4-BE49-F238E27FC236}">
                <a16:creationId xmlns:a16="http://schemas.microsoft.com/office/drawing/2014/main" id="{5CF4B588-1DD0-4F92-BB7A-62002AC4F0BB}"/>
              </a:ext>
            </a:extLst>
          </p:cNvPr>
          <p:cNvSpPr>
            <a:spLocks xmlns:a="http://schemas.openxmlformats.org/drawingml/2006/main" noGrp="1"/>
          </p:cNvSpPr>
          <p:nvPr/>
        </p:nvSpPr>
        <p:spPr>
          <a:xfrm xmlns:a="http://schemas.openxmlformats.org/drawingml/2006/main">
            <a:off x="400050" y="5632228"/>
            <a:ext cx="11391900" cy="2204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52" b="1">
                <a:solidFill>
                  <a:srgbClr val="214E85"/>
                </a:solidFill>
                <a:latin typeface="Arial"/>
                <a:ea typeface="Arial"/>
                <a:cs typeface="Arial"/>
              </a:defRPr>
            </a:pPr>
            <a:r>
              <a:rPr sz="1552" b="1">
                <a:solidFill>
                  <a:srgbClr val="214E85"/>
                </a:solidFill>
                <a:latin typeface="Arial"/>
                <a:ea typeface="Arial"/>
                <a:cs typeface="Arial"/>
              </a:rPr>
              <a:t>A failed sensor must reduce confidence — it must never silently create a SAFE condition.</a:t>
            </a:r>
          </a:p>
        </p:txBody>
      </p:sp>
      <p:sp>
        <p:nvSpPr>
          <p:cNvPr id="17457" name="text-154">
            <a:extLst xmlns:a="http://schemas.openxmlformats.org/drawingml/2006/main">
              <a:ext uri="{FF2B5EF4-FFF2-40B4-BE49-F238E27FC236}">
                <a16:creationId xmlns:a16="http://schemas.microsoft.com/office/drawing/2014/main" id="{4F942990-4277-4D09-A050-32AAD2E4F3BF}"/>
              </a:ext>
            </a:extLst>
          </p:cNvPr>
          <p:cNvSpPr>
            <a:spLocks xmlns:a="http://schemas.openxmlformats.org/drawingml/2006/main" noGrp="1"/>
          </p:cNvSpPr>
          <p:nvPr/>
        </p:nvSpPr>
        <p:spPr>
          <a:xfrm xmlns:a="http://schemas.openxmlformats.org/drawingml/2006/main">
            <a:off x="400050" y="5869591"/>
            <a:ext cx="11391900" cy="1695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80" b="0">
                <a:solidFill>
                  <a:srgbClr val="505C6B"/>
                </a:solidFill>
                <a:latin typeface="Arial"/>
                <a:ea typeface="Arial"/>
                <a:cs typeface="Arial"/>
              </a:defRPr>
            </a:pPr>
            <a:r>
              <a:rPr sz="1080" b="0">
                <a:solidFill>
                  <a:srgbClr val="505C6B"/>
                </a:solidFill>
                <a:latin typeface="Arial"/>
                <a:ea typeface="Arial"/>
                <a:cs typeface="Arial"/>
              </a:rPr>
              <a:t>Modular commodity nodes enable zone-by-zone deployment and individual node replacement.</a:t>
            </a:r>
          </a:p>
        </p:txBody>
      </p:sp>
      <p:pic>
        <p:nvPicPr>
          <p:cNvPr id="17518" name=""/>
          <p:cNvPicPr>
            <a:picLocks xmlns:a="http://schemas.openxmlformats.org/drawingml/2006/main" noChangeAspect="1"/>
          </p:cNvPicPr>
          <p:nvPr/>
        </p:nvPicPr>
        <p:blipFill>
          <a:blip xmlns:r="http://schemas.openxmlformats.org/officeDocument/2006/relationships" xmlns:a="http://schemas.openxmlformats.org/drawingml/2006/main" r:embed="Rf259df71c63d4b82"/>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59" name="SIH team name">
            <a:extLst xmlns:a="http://schemas.openxmlformats.org/drawingml/2006/main">
              <a:ext uri="{FF2B5EF4-FFF2-40B4-BE49-F238E27FC236}">
                <a16:creationId xmlns:a16="http://schemas.microsoft.com/office/drawing/2014/main" id="{E64B1B55-926F-4AD3-921F-81853290051E}"/>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We</a:t>
            </a:r>
          </a:p>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Cook</a:t>
            </a:r>
          </a:p>
        </p:txBody>
      </p:sp>
      <p:sp>
        <p:nvSpPr>
          <p:cNvPr id="17460" name="text-218">
            <a:extLst xmlns:a="http://schemas.openxmlformats.org/drawingml/2006/main">
              <a:ext uri="{FF2B5EF4-FFF2-40B4-BE49-F238E27FC236}">
                <a16:creationId xmlns:a16="http://schemas.microsoft.com/office/drawing/2014/main" id="{F49AA50B-C677-4720-8B0E-7EC58DE90DF8}"/>
              </a:ext>
            </a:extLst>
          </p:cNvPr>
          <p:cNvSpPr>
            <a:spLocks xmlns:a="http://schemas.openxmlformats.org/drawingml/2006/main" noGrp="1"/>
          </p:cNvSpPr>
          <p:nvPr/>
        </p:nvSpPr>
        <p:spPr>
          <a:xfrm xmlns:a="http://schemas.openxmlformats.org/drawingml/2006/main">
            <a:off x="4648200" y="64674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61" name="frame-219">
            <a:extLst xmlns:a="http://schemas.openxmlformats.org/drawingml/2006/main">
              <a:ext uri="{FF2B5EF4-FFF2-40B4-BE49-F238E27FC236}">
                <a16:creationId xmlns:a16="http://schemas.microsoft.com/office/drawing/2014/main" id="{FA4D1993-8AFD-40D0-B1B2-E171D42E9B2E}"/>
              </a:ext>
            </a:extLst>
          </p:cNvPr>
          <p:cNvSpPr>
            <a:spLocks xmlns:a="http://schemas.openxmlformats.org/drawingml/2006/main" noGrp="1"/>
          </p:cNvSpPr>
          <p:nvPr/>
        </p:nvSpPr>
        <p:spPr>
          <a:xfrm xmlns:a="http://schemas.openxmlformats.org/drawingml/2006/main">
            <a:off x="2800350" y="6162675"/>
            <a:ext cx="219075" cy="114300"/>
          </a:xfrm>
          <a:prstGeom xmlns:a="http://schemas.openxmlformats.org/drawingml/2006/main" prst="rect">
            <a:avLst/>
          </a:prstGeom>
          <a:noFill xmlns:a="http://schemas.openxmlformats.org/drawingml/2006/main"/>
          <a:ln xmlns:a="http://schemas.openxmlformats.org/drawingml/2006/main" w="11430">
            <a:solidFill>
              <a:srgbClr val="214E85"/>
            </a:solidFill>
            <a:prstDash val="solid"/>
          </a:ln>
        </p:spPr>
      </p:sp>
      <p:sp>
        <p:nvSpPr>
          <p:cNvPr id="17462" name="text-220">
            <a:extLst xmlns:a="http://schemas.openxmlformats.org/drawingml/2006/main">
              <a:ext uri="{FF2B5EF4-FFF2-40B4-BE49-F238E27FC236}">
                <a16:creationId xmlns:a16="http://schemas.microsoft.com/office/drawing/2014/main" id="{0772195A-DF6C-4681-BC5B-839FADFC4943}"/>
              </a:ext>
            </a:extLst>
          </p:cNvPr>
          <p:cNvSpPr>
            <a:spLocks xmlns:a="http://schemas.openxmlformats.org/drawingml/2006/main" noGrp="1"/>
          </p:cNvSpPr>
          <p:nvPr/>
        </p:nvSpPr>
        <p:spPr>
          <a:xfrm xmlns:a="http://schemas.openxmlformats.org/drawingml/2006/main">
            <a:off x="3095625" y="6143625"/>
            <a:ext cx="2076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CURRENT PROTOTYPE</a:t>
            </a:r>
          </a:p>
        </p:txBody>
      </p:sp>
      <p:sp>
        <p:nvSpPr>
          <p:cNvPr id="17463" name="frame-221">
            <a:extLst xmlns:a="http://schemas.openxmlformats.org/drawingml/2006/main">
              <a:ext uri="{FF2B5EF4-FFF2-40B4-BE49-F238E27FC236}">
                <a16:creationId xmlns:a16="http://schemas.microsoft.com/office/drawing/2014/main" id="{261B8ED6-D532-45E0-B52B-A36DDF9DB4FA}"/>
              </a:ext>
            </a:extLst>
          </p:cNvPr>
          <p:cNvSpPr>
            <a:spLocks xmlns:a="http://schemas.openxmlformats.org/drawingml/2006/main" noGrp="1"/>
          </p:cNvSpPr>
          <p:nvPr/>
        </p:nvSpPr>
        <p:spPr>
          <a:xfrm xmlns:a="http://schemas.openxmlformats.org/drawingml/2006/main">
            <a:off x="5210175" y="6162675"/>
            <a:ext cx="219075" cy="114300"/>
          </a:xfrm>
          <a:prstGeom xmlns:a="http://schemas.openxmlformats.org/drawingml/2006/main" prst="rect">
            <a:avLst/>
          </a:prstGeom>
          <a:noFill xmlns:a="http://schemas.openxmlformats.org/drawingml/2006/main"/>
          <a:ln xmlns:a="http://schemas.openxmlformats.org/drawingml/2006/main" w="11430">
            <a:solidFill>
              <a:srgbClr val="0070C0"/>
            </a:solidFill>
            <a:prstDash val="dash"/>
          </a:ln>
        </p:spPr>
      </p:sp>
      <p:sp>
        <p:nvSpPr>
          <p:cNvPr id="17464" name="text-222">
            <a:extLst xmlns:a="http://schemas.openxmlformats.org/drawingml/2006/main">
              <a:ext uri="{FF2B5EF4-FFF2-40B4-BE49-F238E27FC236}">
                <a16:creationId xmlns:a16="http://schemas.microsoft.com/office/drawing/2014/main" id="{4FF145A8-E9B0-4F84-95C9-142479578F32}"/>
              </a:ext>
            </a:extLst>
          </p:cNvPr>
          <p:cNvSpPr>
            <a:spLocks xmlns:a="http://schemas.openxmlformats.org/drawingml/2006/main" noGrp="1"/>
          </p:cNvSpPr>
          <p:nvPr/>
        </p:nvSpPr>
        <p:spPr>
          <a:xfrm xmlns:a="http://schemas.openxmlformats.org/drawingml/2006/main">
            <a:off x="5505450" y="61436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PLANNED FIELD SYSTEM</a:t>
            </a:r>
          </a:p>
        </p:txBody>
      </p:sp>
      <p:sp>
        <p:nvSpPr>
          <p:cNvPr id="17465" name="frame-223">
            <a:extLst xmlns:a="http://schemas.openxmlformats.org/drawingml/2006/main">
              <a:ext uri="{FF2B5EF4-FFF2-40B4-BE49-F238E27FC236}">
                <a16:creationId xmlns:a16="http://schemas.microsoft.com/office/drawing/2014/main" id="{856C45A5-C966-427F-BC42-0E14E0E64375}"/>
              </a:ext>
            </a:extLst>
          </p:cNvPr>
          <p:cNvSpPr>
            <a:spLocks xmlns:a="http://schemas.openxmlformats.org/drawingml/2006/main" noGrp="1"/>
          </p:cNvSpPr>
          <p:nvPr/>
        </p:nvSpPr>
        <p:spPr>
          <a:xfrm xmlns:a="http://schemas.openxmlformats.org/drawingml/2006/main">
            <a:off x="7905750" y="6162675"/>
            <a:ext cx="219075" cy="114300"/>
          </a:xfrm>
          <a:prstGeom xmlns:a="http://schemas.openxmlformats.org/drawingml/2006/main" prst="rect">
            <a:avLst/>
          </a:prstGeom>
          <a:noFill xmlns:a="http://schemas.openxmlformats.org/drawingml/2006/main"/>
          <a:ln xmlns:a="http://schemas.openxmlformats.org/drawingml/2006/main" w="11430">
            <a:solidFill>
              <a:srgbClr val="8494A8"/>
            </a:solidFill>
            <a:prstDash val="dot"/>
          </a:ln>
        </p:spPr>
      </p:sp>
      <p:sp>
        <p:nvSpPr>
          <p:cNvPr id="17466" name="text-224">
            <a:extLst xmlns:a="http://schemas.openxmlformats.org/drawingml/2006/main">
              <a:ext uri="{FF2B5EF4-FFF2-40B4-BE49-F238E27FC236}">
                <a16:creationId xmlns:a16="http://schemas.microsoft.com/office/drawing/2014/main" id="{2CCEDF6F-3F8B-4A76-ABF6-438316FA11D6}"/>
              </a:ext>
            </a:extLst>
          </p:cNvPr>
          <p:cNvSpPr>
            <a:spLocks xmlns:a="http://schemas.openxmlformats.org/drawingml/2006/main" noGrp="1"/>
          </p:cNvSpPr>
          <p:nvPr/>
        </p:nvSpPr>
        <p:spPr>
          <a:xfrm xmlns:a="http://schemas.openxmlformats.org/drawingml/2006/main">
            <a:off x="8201025" y="6143625"/>
            <a:ext cx="1476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FUTURE R&amp;D</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8EF7AF5-E7E2-4F3C-9879-65B38DEEDA7E}"/>
              </a:ext>
            </a:extLst>
          </p:cNvPr>
          <p:cNvSpPr>
            <a:spLocks xmlns:a="http://schemas.openxmlformats.org/drawingml/2006/main" noGrp="1"/>
          </p:cNvSpPr>
          <p:nvPr>
            <p:ph type="title" idx="0"/>
          </p:nvPr>
        </p:nvSpPr>
        <p:spPr>
          <a:xfrm xmlns:a="http://schemas.openxmlformats.org/drawingml/2006/main">
            <a:off x="1657350" y="209550"/>
            <a:ext cx="8286750" cy="647700"/>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3E9277E7-59C4-46A3-BEF2-66981565AE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17410" name="text-155">
            <a:extLst xmlns:a="http://schemas.openxmlformats.org/drawingml/2006/main">
              <a:ext uri="{FF2B5EF4-FFF2-40B4-BE49-F238E27FC236}">
                <a16:creationId xmlns:a16="http://schemas.microsoft.com/office/drawing/2014/main" id="{BD6B2D5A-F3D8-4AF9-ABD4-7DDFB029982E}"/>
              </a:ext>
            </a:extLst>
          </p:cNvPr>
          <p:cNvSpPr>
            <a:spLocks xmlns:a="http://schemas.openxmlformats.org/drawingml/2006/main" noGrp="1"/>
          </p:cNvSpPr>
          <p:nvPr/>
        </p:nvSpPr>
        <p:spPr>
          <a:xfrm xmlns:a="http://schemas.openxmlformats.org/drawingml/2006/main">
            <a:off x="342900" y="1143000"/>
            <a:ext cx="1150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214E85"/>
                </a:solidFill>
                <a:latin typeface="Arial"/>
                <a:ea typeface="Arial"/>
                <a:cs typeface="Arial"/>
              </a:defRPr>
            </a:pPr>
            <a:r>
              <a:rPr sz="1875" b="1">
                <a:solidFill>
                  <a:srgbClr val="214E85"/>
                </a:solidFill>
                <a:latin typeface="Arial"/>
                <a:ea typeface="Arial"/>
                <a:cs typeface="Arial"/>
              </a:rPr>
              <a:t>Earlier evidence. Better-informed action.</a:t>
            </a:r>
          </a:p>
        </p:txBody>
      </p:sp>
      <p:sp>
        <p:nvSpPr>
          <p:cNvPr id="17411" name="text-156">
            <a:extLst xmlns:a="http://schemas.openxmlformats.org/drawingml/2006/main">
              <a:ext uri="{FF2B5EF4-FFF2-40B4-BE49-F238E27FC236}">
                <a16:creationId xmlns:a16="http://schemas.microsoft.com/office/drawing/2014/main" id="{C320BAB7-611C-4787-8539-F8075E903031}"/>
              </a:ext>
            </a:extLst>
          </p:cNvPr>
          <p:cNvSpPr>
            <a:spLocks xmlns:a="http://schemas.openxmlformats.org/drawingml/2006/main" noGrp="1"/>
          </p:cNvSpPr>
          <p:nvPr/>
        </p:nvSpPr>
        <p:spPr>
          <a:xfrm xmlns:a="http://schemas.openxmlformats.org/drawingml/2006/main">
            <a:off x="400050" y="1614011"/>
            <a:ext cx="50482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SAFETY / SOCIAL</a:t>
            </a:r>
          </a:p>
        </p:txBody>
      </p:sp>
      <p:sp>
        <p:nvSpPr>
          <p:cNvPr id="17412" name="text-157">
            <a:extLst xmlns:a="http://schemas.openxmlformats.org/drawingml/2006/main">
              <a:ext uri="{FF2B5EF4-FFF2-40B4-BE49-F238E27FC236}">
                <a16:creationId xmlns:a16="http://schemas.microsoft.com/office/drawing/2014/main" id="{1283C691-75C5-4E98-93B5-006D7FBC9943}"/>
              </a:ext>
            </a:extLst>
          </p:cNvPr>
          <p:cNvSpPr>
            <a:spLocks xmlns:a="http://schemas.openxmlformats.org/drawingml/2006/main" noGrp="1"/>
          </p:cNvSpPr>
          <p:nvPr/>
        </p:nvSpPr>
        <p:spPr>
          <a:xfrm xmlns:a="http://schemas.openxmlformats.org/drawingml/2006/main">
            <a:off x="400050" y="1868329"/>
            <a:ext cx="5267325" cy="7629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85" b="0">
                <a:solidFill>
                  <a:srgbClr val="141414"/>
                </a:solidFill>
                <a:latin typeface="Arial"/>
                <a:ea typeface="Arial"/>
                <a:cs typeface="Arial"/>
              </a:defRPr>
            </a:pPr>
            <a:r>
              <a:rPr sz="1485" b="0">
                <a:solidFill>
                  <a:srgbClr val="141414"/>
                </a:solidFill>
                <a:latin typeface="Arial"/>
                <a:ea typeface="Arial"/>
                <a:cs typeface="Arial"/>
              </a:rPr>
              <a:t>Continuous awareness of abnormal local change</a:t>
            </a:r>
          </a:p>
          <a:p xmlns:a="http://schemas.openxmlformats.org/drawingml/2006/main">
            <a:pPr algn="l">
              <a:defRPr sz="1485" b="0">
                <a:solidFill>
                  <a:srgbClr val="141414"/>
                </a:solidFill>
                <a:latin typeface="Arial"/>
                <a:ea typeface="Arial"/>
                <a:cs typeface="Arial"/>
              </a:defRPr>
            </a:pPr>
            <a:r>
              <a:rPr sz="1485" b="0">
                <a:solidFill>
                  <a:srgbClr val="141414"/>
                </a:solidFill>
                <a:latin typeface="Arial"/>
                <a:ea typeface="Arial"/>
                <a:cs typeface="Arial"/>
              </a:rPr>
              <a:t>Earlier prompt for inspection with a clear reason</a:t>
            </a:r>
          </a:p>
          <a:p xmlns:a="http://schemas.openxmlformats.org/drawingml/2006/main">
            <a:pPr algn="l">
              <a:defRPr sz="1485" b="0">
                <a:solidFill>
                  <a:srgbClr val="141414"/>
                </a:solidFill>
                <a:latin typeface="Arial"/>
                <a:ea typeface="Arial"/>
                <a:cs typeface="Arial"/>
              </a:defRPr>
            </a:pPr>
            <a:r>
              <a:rPr sz="1485" b="0">
                <a:solidFill>
                  <a:srgbClr val="141414"/>
                </a:solidFill>
                <a:latin typeface="Arial"/>
                <a:ea typeface="Arial"/>
                <a:cs typeface="Arial"/>
              </a:rPr>
              <a:t>Evidence to support safer decisions</a:t>
            </a:r>
          </a:p>
        </p:txBody>
      </p:sp>
      <p:sp>
        <p:nvSpPr>
          <p:cNvPr id="17413" name="text-158">
            <a:extLst xmlns:a="http://schemas.openxmlformats.org/drawingml/2006/main">
              <a:ext uri="{FF2B5EF4-FFF2-40B4-BE49-F238E27FC236}">
                <a16:creationId xmlns:a16="http://schemas.microsoft.com/office/drawing/2014/main" id="{6401A6B3-B6DA-41FB-8C1B-2135C0908EF6}"/>
              </a:ext>
            </a:extLst>
          </p:cNvPr>
          <p:cNvSpPr>
            <a:spLocks xmlns:a="http://schemas.openxmlformats.org/drawingml/2006/main" noGrp="1"/>
          </p:cNvSpPr>
          <p:nvPr/>
        </p:nvSpPr>
        <p:spPr>
          <a:xfrm xmlns:a="http://schemas.openxmlformats.org/drawingml/2006/main">
            <a:off x="6381750" y="1614011"/>
            <a:ext cx="53816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OPERATIONAL</a:t>
            </a:r>
          </a:p>
        </p:txBody>
      </p:sp>
      <p:sp>
        <p:nvSpPr>
          <p:cNvPr id="17414" name="text-159">
            <a:extLst xmlns:a="http://schemas.openxmlformats.org/drawingml/2006/main">
              <a:ext uri="{FF2B5EF4-FFF2-40B4-BE49-F238E27FC236}">
                <a16:creationId xmlns:a16="http://schemas.microsoft.com/office/drawing/2014/main" id="{61FC742C-B48C-47F3-AB0A-59D59CA6D580}"/>
              </a:ext>
            </a:extLst>
          </p:cNvPr>
          <p:cNvSpPr>
            <a:spLocks xmlns:a="http://schemas.openxmlformats.org/drawingml/2006/main" noGrp="1"/>
          </p:cNvSpPr>
          <p:nvPr/>
        </p:nvSpPr>
        <p:spPr>
          <a:xfrm xmlns:a="http://schemas.openxmlformats.org/drawingml/2006/main">
            <a:off x="6381750" y="1868329"/>
            <a:ext cx="5410200" cy="7629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85" b="0">
                <a:solidFill>
                  <a:srgbClr val="141414"/>
                </a:solidFill>
                <a:latin typeface="Arial"/>
                <a:ea typeface="Arial"/>
                <a:cs typeface="Arial"/>
              </a:defRPr>
            </a:pPr>
            <a:r>
              <a:rPr sz="1485" b="0">
                <a:solidFill>
                  <a:srgbClr val="141414"/>
                </a:solidFill>
                <a:latin typeface="Arial"/>
                <a:ea typeface="Arial"/>
                <a:cs typeface="Arial"/>
              </a:rPr>
              <a:t>Monitoring between periodic surveys</a:t>
            </a:r>
          </a:p>
          <a:p xmlns:a="http://schemas.openxmlformats.org/drawingml/2006/main">
            <a:pPr algn="l">
              <a:defRPr sz="1485" b="0">
                <a:solidFill>
                  <a:srgbClr val="141414"/>
                </a:solidFill>
                <a:latin typeface="Arial"/>
                <a:ea typeface="Arial"/>
                <a:cs typeface="Arial"/>
              </a:defRPr>
            </a:pPr>
            <a:r>
              <a:rPr sz="1485" b="0">
                <a:solidFill>
                  <a:srgbClr val="141414"/>
                </a:solidFill>
                <a:latin typeface="Arial"/>
                <a:ea typeface="Arial"/>
                <a:cs typeface="Arial"/>
              </a:rPr>
              <a:t>Node/link health distinguishes failure from movement</a:t>
            </a:r>
          </a:p>
          <a:p xmlns:a="http://schemas.openxmlformats.org/drawingml/2006/main">
            <a:pPr algn="l">
              <a:defRPr sz="1485" b="0">
                <a:solidFill>
                  <a:srgbClr val="141414"/>
                </a:solidFill>
                <a:latin typeface="Arial"/>
                <a:ea typeface="Arial"/>
                <a:cs typeface="Arial"/>
              </a:defRPr>
            </a:pPr>
            <a:r>
              <a:rPr sz="1485" b="0">
                <a:solidFill>
                  <a:srgbClr val="141414"/>
                </a:solidFill>
                <a:latin typeface="Arial"/>
                <a:ea typeface="Arial"/>
                <a:cs typeface="Arial"/>
              </a:rPr>
              <a:t>Planned event history and maintenance diagnostics</a:t>
            </a:r>
          </a:p>
        </p:txBody>
      </p:sp>
      <p:sp>
        <p:nvSpPr>
          <p:cNvPr id="17415" name="">
            <a:extLst xmlns:a="http://schemas.openxmlformats.org/drawingml/2006/main">
              <a:ext uri="{FF2B5EF4-FFF2-40B4-BE49-F238E27FC236}">
                <a16:creationId xmlns:a16="http://schemas.microsoft.com/office/drawing/2014/main" id="{7F729685-08C3-4296-9272-2FD1B49B3DC1}"/>
              </a:ext>
            </a:extLst>
          </p:cNvPr>
          <p:cNvSpPr>
            <a:spLocks xmlns:a="http://schemas.openxmlformats.org/drawingml/2006/main" noGrp="1"/>
          </p:cNvSpPr>
          <p:nvPr/>
        </p:nvSpPr>
        <p:spPr>
          <a:xfrm xmlns:a="http://schemas.openxmlformats.org/drawingml/2006/main">
            <a:off x="400050" y="2800826"/>
            <a:ext cx="11391900" cy="0"/>
          </a:xfrm>
          <a:prstGeom xmlns:a="http://schemas.openxmlformats.org/drawingml/2006/main" prst="line">
            <a:avLst/>
          </a:prstGeom>
          <a:noFill xmlns:a="http://schemas.openxmlformats.org/drawingml/2006/main"/>
          <a:ln xmlns:a="http://schemas.openxmlformats.org/drawingml/2006/main" w="9525">
            <a:solidFill>
              <a:srgbClr val="CCD4DE"/>
            </a:solidFill>
            <a:prstDash val="solid"/>
          </a:ln>
        </p:spPr>
      </p:sp>
      <p:sp>
        <p:nvSpPr>
          <p:cNvPr id="17416" name="frame-160">
            <a:extLst xmlns:a="http://schemas.openxmlformats.org/drawingml/2006/main">
              <a:ext uri="{FF2B5EF4-FFF2-40B4-BE49-F238E27FC236}">
                <a16:creationId xmlns:a16="http://schemas.microsoft.com/office/drawing/2014/main" id="{D76293AC-39F2-40D2-BFA0-322B669263BE}"/>
              </a:ext>
            </a:extLst>
          </p:cNvPr>
          <p:cNvSpPr>
            <a:spLocks xmlns:a="http://schemas.openxmlformats.org/drawingml/2006/main" noGrp="1"/>
          </p:cNvSpPr>
          <p:nvPr/>
        </p:nvSpPr>
        <p:spPr>
          <a:xfrm xmlns:a="http://schemas.openxmlformats.org/drawingml/2006/main">
            <a:off x="400050" y="3089053"/>
            <a:ext cx="2047875" cy="1008793"/>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17" name="text-161">
            <a:extLst xmlns:a="http://schemas.openxmlformats.org/drawingml/2006/main">
              <a:ext uri="{FF2B5EF4-FFF2-40B4-BE49-F238E27FC236}">
                <a16:creationId xmlns:a16="http://schemas.microsoft.com/office/drawing/2014/main" id="{B361F864-8397-479C-957A-011398E464DE}"/>
              </a:ext>
            </a:extLst>
          </p:cNvPr>
          <p:cNvSpPr>
            <a:spLocks xmlns:a="http://schemas.openxmlformats.org/drawingml/2006/main" noGrp="1"/>
          </p:cNvSpPr>
          <p:nvPr/>
        </p:nvSpPr>
        <p:spPr>
          <a:xfrm xmlns:a="http://schemas.openxmlformats.org/drawingml/2006/main">
            <a:off x="523875" y="3207734"/>
            <a:ext cx="180022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DETECT</a:t>
            </a:r>
          </a:p>
        </p:txBody>
      </p:sp>
      <p:sp>
        <p:nvSpPr>
          <p:cNvPr id="17418" name="text-162">
            <a:extLst xmlns:a="http://schemas.openxmlformats.org/drawingml/2006/main">
              <a:ext uri="{FF2B5EF4-FFF2-40B4-BE49-F238E27FC236}">
                <a16:creationId xmlns:a16="http://schemas.microsoft.com/office/drawing/2014/main" id="{B9B324B8-4EDD-4D9A-B3D2-7351819B8AF5}"/>
              </a:ext>
            </a:extLst>
          </p:cNvPr>
          <p:cNvSpPr>
            <a:spLocks xmlns:a="http://schemas.openxmlformats.org/drawingml/2006/main" noGrp="1"/>
          </p:cNvSpPr>
          <p:nvPr/>
        </p:nvSpPr>
        <p:spPr>
          <a:xfrm xmlns:a="http://schemas.openxmlformats.org/drawingml/2006/main">
            <a:off x="523875" y="3572256"/>
            <a:ext cx="1828800"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MOLE sensor</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network</a:t>
            </a:r>
          </a:p>
        </p:txBody>
      </p:sp>
      <p:sp>
        <p:nvSpPr>
          <p:cNvPr id="17419" name="">
            <a:extLst xmlns:a="http://schemas.openxmlformats.org/drawingml/2006/main">
              <a:ext uri="{FF2B5EF4-FFF2-40B4-BE49-F238E27FC236}">
                <a16:creationId xmlns:a16="http://schemas.microsoft.com/office/drawing/2014/main" id="{A99CBCC7-8B05-4899-86D4-5CF090C2F62F}"/>
              </a:ext>
            </a:extLst>
          </p:cNvPr>
          <p:cNvSpPr>
            <a:spLocks xmlns:a="http://schemas.openxmlformats.org/drawingml/2006/main" noGrp="1"/>
          </p:cNvSpPr>
          <p:nvPr/>
        </p:nvSpPr>
        <p:spPr>
          <a:xfrm xmlns:a="http://schemas.openxmlformats.org/drawingml/2006/main">
            <a:off x="2495550" y="3521393"/>
            <a:ext cx="19050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20" name="frame-163">
            <a:extLst xmlns:a="http://schemas.openxmlformats.org/drawingml/2006/main">
              <a:ext uri="{FF2B5EF4-FFF2-40B4-BE49-F238E27FC236}">
                <a16:creationId xmlns:a16="http://schemas.microsoft.com/office/drawing/2014/main" id="{67F1BA2B-9D24-4376-BD91-06A6FF49091E}"/>
              </a:ext>
            </a:extLst>
          </p:cNvPr>
          <p:cNvSpPr>
            <a:spLocks xmlns:a="http://schemas.openxmlformats.org/drawingml/2006/main" noGrp="1"/>
          </p:cNvSpPr>
          <p:nvPr/>
        </p:nvSpPr>
        <p:spPr>
          <a:xfrm xmlns:a="http://schemas.openxmlformats.org/drawingml/2006/main">
            <a:off x="2733675" y="3089053"/>
            <a:ext cx="2047875" cy="1008793"/>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21" name="text-164">
            <a:extLst xmlns:a="http://schemas.openxmlformats.org/drawingml/2006/main">
              <a:ext uri="{FF2B5EF4-FFF2-40B4-BE49-F238E27FC236}">
                <a16:creationId xmlns:a16="http://schemas.microsoft.com/office/drawing/2014/main" id="{32A39C44-0741-45F5-A59A-C96A015BA85E}"/>
              </a:ext>
            </a:extLst>
          </p:cNvPr>
          <p:cNvSpPr>
            <a:spLocks xmlns:a="http://schemas.openxmlformats.org/drawingml/2006/main" noGrp="1"/>
          </p:cNvSpPr>
          <p:nvPr/>
        </p:nvSpPr>
        <p:spPr>
          <a:xfrm xmlns:a="http://schemas.openxmlformats.org/drawingml/2006/main">
            <a:off x="2857500" y="3207734"/>
            <a:ext cx="180022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VERIFY</a:t>
            </a:r>
          </a:p>
        </p:txBody>
      </p:sp>
      <p:sp>
        <p:nvSpPr>
          <p:cNvPr id="17422" name="text-165">
            <a:extLst xmlns:a="http://schemas.openxmlformats.org/drawingml/2006/main">
              <a:ext uri="{FF2B5EF4-FFF2-40B4-BE49-F238E27FC236}">
                <a16:creationId xmlns:a16="http://schemas.microsoft.com/office/drawing/2014/main" id="{ACE8C0CC-85AF-4795-9745-9A2CCEC7F803}"/>
              </a:ext>
            </a:extLst>
          </p:cNvPr>
          <p:cNvSpPr>
            <a:spLocks xmlns:a="http://schemas.openxmlformats.org/drawingml/2006/main" noGrp="1"/>
          </p:cNvSpPr>
          <p:nvPr/>
        </p:nvSpPr>
        <p:spPr>
          <a:xfrm xmlns:a="http://schemas.openxmlformats.org/drawingml/2006/main">
            <a:off x="2857500" y="3572256"/>
            <a:ext cx="1828800"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Rules + evidence +</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authorized safety staff</a:t>
            </a:r>
          </a:p>
        </p:txBody>
      </p:sp>
      <p:sp>
        <p:nvSpPr>
          <p:cNvPr id="17423" name="">
            <a:extLst xmlns:a="http://schemas.openxmlformats.org/drawingml/2006/main">
              <a:ext uri="{FF2B5EF4-FFF2-40B4-BE49-F238E27FC236}">
                <a16:creationId xmlns:a16="http://schemas.microsoft.com/office/drawing/2014/main" id="{75C89905-2606-4BA5-A42A-A4BE8CDCBA20}"/>
              </a:ext>
            </a:extLst>
          </p:cNvPr>
          <p:cNvSpPr>
            <a:spLocks xmlns:a="http://schemas.openxmlformats.org/drawingml/2006/main" noGrp="1"/>
          </p:cNvSpPr>
          <p:nvPr/>
        </p:nvSpPr>
        <p:spPr>
          <a:xfrm xmlns:a="http://schemas.openxmlformats.org/drawingml/2006/main">
            <a:off x="4829175" y="3521393"/>
            <a:ext cx="19050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24" name="frame-166">
            <a:extLst xmlns:a="http://schemas.openxmlformats.org/drawingml/2006/main">
              <a:ext uri="{FF2B5EF4-FFF2-40B4-BE49-F238E27FC236}">
                <a16:creationId xmlns:a16="http://schemas.microsoft.com/office/drawing/2014/main" id="{0FD854E9-E761-44C4-9852-C2424EA9AA67}"/>
              </a:ext>
            </a:extLst>
          </p:cNvPr>
          <p:cNvSpPr>
            <a:spLocks xmlns:a="http://schemas.openxmlformats.org/drawingml/2006/main" noGrp="1"/>
          </p:cNvSpPr>
          <p:nvPr/>
        </p:nvSpPr>
        <p:spPr>
          <a:xfrm xmlns:a="http://schemas.openxmlformats.org/drawingml/2006/main">
            <a:off x="5067300" y="3089053"/>
            <a:ext cx="2047875" cy="1008793"/>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25" name="text-167">
            <a:extLst xmlns:a="http://schemas.openxmlformats.org/drawingml/2006/main">
              <a:ext uri="{FF2B5EF4-FFF2-40B4-BE49-F238E27FC236}">
                <a16:creationId xmlns:a16="http://schemas.microsoft.com/office/drawing/2014/main" id="{24AEA5DB-D44D-4323-9219-34F477C879C0}"/>
              </a:ext>
            </a:extLst>
          </p:cNvPr>
          <p:cNvSpPr>
            <a:spLocks xmlns:a="http://schemas.openxmlformats.org/drawingml/2006/main" noGrp="1"/>
          </p:cNvSpPr>
          <p:nvPr/>
        </p:nvSpPr>
        <p:spPr>
          <a:xfrm xmlns:a="http://schemas.openxmlformats.org/drawingml/2006/main">
            <a:off x="5191125" y="3207734"/>
            <a:ext cx="180022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LOCATE</a:t>
            </a:r>
          </a:p>
        </p:txBody>
      </p:sp>
      <p:sp>
        <p:nvSpPr>
          <p:cNvPr id="17426" name="text-168">
            <a:extLst xmlns:a="http://schemas.openxmlformats.org/drawingml/2006/main">
              <a:ext uri="{FF2B5EF4-FFF2-40B4-BE49-F238E27FC236}">
                <a16:creationId xmlns:a16="http://schemas.microsoft.com/office/drawing/2014/main" id="{E2FC0341-6B46-4033-823D-FDE137C61D68}"/>
              </a:ext>
            </a:extLst>
          </p:cNvPr>
          <p:cNvSpPr>
            <a:spLocks xmlns:a="http://schemas.openxmlformats.org/drawingml/2006/main" noGrp="1"/>
          </p:cNvSpPr>
          <p:nvPr/>
        </p:nvSpPr>
        <p:spPr>
          <a:xfrm xmlns:a="http://schemas.openxmlformats.org/drawingml/2006/main">
            <a:off x="5191125" y="3572256"/>
            <a:ext cx="1828800"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Node identity</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Planned GIS position</a:t>
            </a:r>
          </a:p>
        </p:txBody>
      </p:sp>
      <p:sp>
        <p:nvSpPr>
          <p:cNvPr id="17427" name="">
            <a:extLst xmlns:a="http://schemas.openxmlformats.org/drawingml/2006/main">
              <a:ext uri="{FF2B5EF4-FFF2-40B4-BE49-F238E27FC236}">
                <a16:creationId xmlns:a16="http://schemas.microsoft.com/office/drawing/2014/main" id="{7300C616-E0A0-4D56-93FA-1455A343FADE}"/>
              </a:ext>
            </a:extLst>
          </p:cNvPr>
          <p:cNvSpPr>
            <a:spLocks xmlns:a="http://schemas.openxmlformats.org/drawingml/2006/main" noGrp="1"/>
          </p:cNvSpPr>
          <p:nvPr/>
        </p:nvSpPr>
        <p:spPr>
          <a:xfrm xmlns:a="http://schemas.openxmlformats.org/drawingml/2006/main">
            <a:off x="7162800" y="3521393"/>
            <a:ext cx="19050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28" name="frame-169">
            <a:extLst xmlns:a="http://schemas.openxmlformats.org/drawingml/2006/main">
              <a:ext uri="{FF2B5EF4-FFF2-40B4-BE49-F238E27FC236}">
                <a16:creationId xmlns:a16="http://schemas.microsoft.com/office/drawing/2014/main" id="{77ED0639-9D04-4F4E-B981-9436AD18FC3F}"/>
              </a:ext>
            </a:extLst>
          </p:cNvPr>
          <p:cNvSpPr>
            <a:spLocks xmlns:a="http://schemas.openxmlformats.org/drawingml/2006/main" noGrp="1"/>
          </p:cNvSpPr>
          <p:nvPr/>
        </p:nvSpPr>
        <p:spPr>
          <a:xfrm xmlns:a="http://schemas.openxmlformats.org/drawingml/2006/main">
            <a:off x="7400925" y="3089053"/>
            <a:ext cx="2047875" cy="1008793"/>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29" name="text-170">
            <a:extLst xmlns:a="http://schemas.openxmlformats.org/drawingml/2006/main">
              <a:ext uri="{FF2B5EF4-FFF2-40B4-BE49-F238E27FC236}">
                <a16:creationId xmlns:a16="http://schemas.microsoft.com/office/drawing/2014/main" id="{1E4B5D2F-36B4-42DB-B9A0-9F15BC3EBE0A}"/>
              </a:ext>
            </a:extLst>
          </p:cNvPr>
          <p:cNvSpPr>
            <a:spLocks xmlns:a="http://schemas.openxmlformats.org/drawingml/2006/main" noGrp="1"/>
          </p:cNvSpPr>
          <p:nvPr/>
        </p:nvSpPr>
        <p:spPr>
          <a:xfrm xmlns:a="http://schemas.openxmlformats.org/drawingml/2006/main">
            <a:off x="7524750" y="3207734"/>
            <a:ext cx="180022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INSPECT</a:t>
            </a:r>
          </a:p>
        </p:txBody>
      </p:sp>
      <p:sp>
        <p:nvSpPr>
          <p:cNvPr id="17430" name="text-171">
            <a:extLst xmlns:a="http://schemas.openxmlformats.org/drawingml/2006/main">
              <a:ext uri="{FF2B5EF4-FFF2-40B4-BE49-F238E27FC236}">
                <a16:creationId xmlns:a16="http://schemas.microsoft.com/office/drawing/2014/main" id="{5774DEA3-EA36-4392-BEF7-00564D49E7CF}"/>
              </a:ext>
            </a:extLst>
          </p:cNvPr>
          <p:cNvSpPr>
            <a:spLocks xmlns:a="http://schemas.openxmlformats.org/drawingml/2006/main" noGrp="1"/>
          </p:cNvSpPr>
          <p:nvPr/>
        </p:nvSpPr>
        <p:spPr>
          <a:xfrm xmlns:a="http://schemas.openxmlformats.org/drawingml/2006/main">
            <a:off x="7524750" y="3572256"/>
            <a:ext cx="1828800"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Survey / geotechnical</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team; future rover assist</a:t>
            </a:r>
          </a:p>
        </p:txBody>
      </p:sp>
      <p:sp>
        <p:nvSpPr>
          <p:cNvPr id="17431" name="">
            <a:extLst xmlns:a="http://schemas.openxmlformats.org/drawingml/2006/main">
              <a:ext uri="{FF2B5EF4-FFF2-40B4-BE49-F238E27FC236}">
                <a16:creationId xmlns:a16="http://schemas.microsoft.com/office/drawing/2014/main" id="{C646D7B3-7EB6-415C-A6E8-E49EE6921BEC}"/>
              </a:ext>
            </a:extLst>
          </p:cNvPr>
          <p:cNvSpPr>
            <a:spLocks xmlns:a="http://schemas.openxmlformats.org/drawingml/2006/main" noGrp="1"/>
          </p:cNvSpPr>
          <p:nvPr/>
        </p:nvSpPr>
        <p:spPr>
          <a:xfrm xmlns:a="http://schemas.openxmlformats.org/drawingml/2006/main">
            <a:off x="9496425" y="3521393"/>
            <a:ext cx="190500" cy="104775"/>
          </a:xfrm>
          <a:prstGeom xmlns:a="http://schemas.openxmlformats.org/drawingml/2006/main" prst="rightArrow">
            <a:avLst/>
          </a:prstGeom>
          <a:solidFill xmlns:a="http://schemas.openxmlformats.org/drawingml/2006/main">
            <a:srgbClr val="214E85"/>
          </a:solidFill>
          <a:ln xmlns:a="http://schemas.openxmlformats.org/drawingml/2006/main" w="0">
            <a:noFill/>
          </a:ln>
        </p:spPr>
      </p:sp>
      <p:sp>
        <p:nvSpPr>
          <p:cNvPr id="17432" name="frame-172">
            <a:extLst xmlns:a="http://schemas.openxmlformats.org/drawingml/2006/main">
              <a:ext uri="{FF2B5EF4-FFF2-40B4-BE49-F238E27FC236}">
                <a16:creationId xmlns:a16="http://schemas.microsoft.com/office/drawing/2014/main" id="{7C263F1E-7FC2-4BBB-9BD5-B53338309062}"/>
              </a:ext>
            </a:extLst>
          </p:cNvPr>
          <p:cNvSpPr>
            <a:spLocks xmlns:a="http://schemas.openxmlformats.org/drawingml/2006/main" noGrp="1"/>
          </p:cNvSpPr>
          <p:nvPr/>
        </p:nvSpPr>
        <p:spPr>
          <a:xfrm xmlns:a="http://schemas.openxmlformats.org/drawingml/2006/main">
            <a:off x="9734550" y="3089053"/>
            <a:ext cx="2047875" cy="1008793"/>
          </a:xfrm>
          <a:prstGeom xmlns:a="http://schemas.openxmlformats.org/drawingml/2006/main" prst="rect">
            <a:avLst/>
          </a:prstGeom>
          <a:noFill xmlns:a="http://schemas.openxmlformats.org/drawingml/2006/main"/>
          <a:ln xmlns:a="http://schemas.openxmlformats.org/drawingml/2006/main" w="12383">
            <a:solidFill>
              <a:srgbClr val="214E85"/>
            </a:solidFill>
            <a:prstDash val="solid"/>
          </a:ln>
        </p:spPr>
      </p:sp>
      <p:sp>
        <p:nvSpPr>
          <p:cNvPr id="17433" name="text-173">
            <a:extLst xmlns:a="http://schemas.openxmlformats.org/drawingml/2006/main">
              <a:ext uri="{FF2B5EF4-FFF2-40B4-BE49-F238E27FC236}">
                <a16:creationId xmlns:a16="http://schemas.microsoft.com/office/drawing/2014/main" id="{CF2A87EE-EED3-40B3-832A-7B32337B023A}"/>
              </a:ext>
            </a:extLst>
          </p:cNvPr>
          <p:cNvSpPr>
            <a:spLocks xmlns:a="http://schemas.openxmlformats.org/drawingml/2006/main" noGrp="1"/>
          </p:cNvSpPr>
          <p:nvPr/>
        </p:nvSpPr>
        <p:spPr>
          <a:xfrm xmlns:a="http://schemas.openxmlformats.org/drawingml/2006/main">
            <a:off x="9858375" y="3207734"/>
            <a:ext cx="180022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88" b="1">
                <a:solidFill>
                  <a:srgbClr val="214E85"/>
                </a:solidFill>
                <a:latin typeface="Times New Roman"/>
                <a:ea typeface="Times New Roman"/>
                <a:cs typeface="Times New Roman"/>
              </a:defRPr>
            </a:pPr>
            <a:r>
              <a:rPr sz="1688" b="1">
                <a:solidFill>
                  <a:srgbClr val="214E85"/>
                </a:solidFill>
                <a:latin typeface="Times New Roman"/>
                <a:ea typeface="Times New Roman"/>
                <a:cs typeface="Times New Roman"/>
              </a:rPr>
              <a:t>RESPOND</a:t>
            </a:r>
          </a:p>
        </p:txBody>
      </p:sp>
      <p:sp>
        <p:nvSpPr>
          <p:cNvPr id="17434" name="text-174">
            <a:extLst xmlns:a="http://schemas.openxmlformats.org/drawingml/2006/main">
              <a:ext uri="{FF2B5EF4-FFF2-40B4-BE49-F238E27FC236}">
                <a16:creationId xmlns:a16="http://schemas.microsoft.com/office/drawing/2014/main" id="{1F3CE39F-8A30-40D4-B973-BEA8977B832B}"/>
              </a:ext>
            </a:extLst>
          </p:cNvPr>
          <p:cNvSpPr>
            <a:spLocks xmlns:a="http://schemas.openxmlformats.org/drawingml/2006/main" noGrp="1"/>
          </p:cNvSpPr>
          <p:nvPr/>
        </p:nvSpPr>
        <p:spPr>
          <a:xfrm xmlns:a="http://schemas.openxmlformats.org/drawingml/2006/main">
            <a:off x="9858375" y="3572256"/>
            <a:ext cx="1828800" cy="415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Authorized mine</a:t>
            </a:r>
          </a:p>
          <a:p xmlns:a="http://schemas.openxmlformats.org/drawingml/2006/main">
            <a:pPr algn="l">
              <a:defRPr sz="1215" b="0">
                <a:solidFill>
                  <a:srgbClr val="141414"/>
                </a:solidFill>
                <a:latin typeface="Arial"/>
                <a:ea typeface="Arial"/>
                <a:cs typeface="Arial"/>
              </a:defRPr>
            </a:pPr>
            <a:r>
              <a:rPr sz="1215" b="0">
                <a:solidFill>
                  <a:srgbClr val="141414"/>
                </a:solidFill>
                <a:latin typeface="Arial"/>
                <a:ea typeface="Arial"/>
                <a:cs typeface="Arial"/>
              </a:rPr>
              <a:t>personnel</a:t>
            </a:r>
          </a:p>
        </p:txBody>
      </p:sp>
      <p:sp>
        <p:nvSpPr>
          <p:cNvPr id="17435" name="">
            <a:extLst xmlns:a="http://schemas.openxmlformats.org/drawingml/2006/main">
              <a:ext uri="{FF2B5EF4-FFF2-40B4-BE49-F238E27FC236}">
                <a16:creationId xmlns:a16="http://schemas.microsoft.com/office/drawing/2014/main" id="{5CECA184-512E-4D6E-A9A6-9E8C0E125BDE}"/>
              </a:ext>
            </a:extLst>
          </p:cNvPr>
          <p:cNvSpPr>
            <a:spLocks xmlns:a="http://schemas.openxmlformats.org/drawingml/2006/main" noGrp="1"/>
          </p:cNvSpPr>
          <p:nvPr/>
        </p:nvSpPr>
        <p:spPr>
          <a:xfrm xmlns:a="http://schemas.openxmlformats.org/drawingml/2006/main">
            <a:off x="400050" y="4369118"/>
            <a:ext cx="11391900" cy="0"/>
          </a:xfrm>
          <a:prstGeom xmlns:a="http://schemas.openxmlformats.org/drawingml/2006/main" prst="line">
            <a:avLst/>
          </a:prstGeom>
          <a:noFill xmlns:a="http://schemas.openxmlformats.org/drawingml/2006/main"/>
          <a:ln xmlns:a="http://schemas.openxmlformats.org/drawingml/2006/main" w="9525">
            <a:solidFill>
              <a:srgbClr val="CCD4DE"/>
            </a:solidFill>
            <a:prstDash val="solid"/>
          </a:ln>
        </p:spPr>
      </p:sp>
      <p:sp>
        <p:nvSpPr>
          <p:cNvPr id="17436" name="text-175">
            <a:extLst xmlns:a="http://schemas.openxmlformats.org/drawingml/2006/main">
              <a:ext uri="{FF2B5EF4-FFF2-40B4-BE49-F238E27FC236}">
                <a16:creationId xmlns:a16="http://schemas.microsoft.com/office/drawing/2014/main" id="{8D55B7DA-A10D-4AAF-AE3F-E671048D6CBE}"/>
              </a:ext>
            </a:extLst>
          </p:cNvPr>
          <p:cNvSpPr>
            <a:spLocks xmlns:a="http://schemas.openxmlformats.org/drawingml/2006/main" noGrp="1"/>
          </p:cNvSpPr>
          <p:nvPr/>
        </p:nvSpPr>
        <p:spPr>
          <a:xfrm xmlns:a="http://schemas.openxmlformats.org/drawingml/2006/main">
            <a:off x="400050" y="4589526"/>
            <a:ext cx="53816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ECONOMIC</a:t>
            </a:r>
          </a:p>
        </p:txBody>
      </p:sp>
      <p:sp>
        <p:nvSpPr>
          <p:cNvPr id="17437" name="text-176">
            <a:extLst xmlns:a="http://schemas.openxmlformats.org/drawingml/2006/main">
              <a:ext uri="{FF2B5EF4-FFF2-40B4-BE49-F238E27FC236}">
                <a16:creationId xmlns:a16="http://schemas.microsoft.com/office/drawing/2014/main" id="{759BA72C-4418-457E-BB5B-928204411901}"/>
              </a:ext>
            </a:extLst>
          </p:cNvPr>
          <p:cNvSpPr>
            <a:spLocks xmlns:a="http://schemas.openxmlformats.org/drawingml/2006/main" noGrp="1"/>
          </p:cNvSpPr>
          <p:nvPr/>
        </p:nvSpPr>
        <p:spPr>
          <a:xfrm xmlns:a="http://schemas.openxmlformats.org/drawingml/2006/main">
            <a:off x="400050" y="4843844"/>
            <a:ext cx="5305425" cy="7459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18" b="0">
                <a:solidFill>
                  <a:srgbClr val="141414"/>
                </a:solidFill>
                <a:latin typeface="Arial"/>
                <a:ea typeface="Arial"/>
                <a:cs typeface="Arial"/>
              </a:defRPr>
            </a:pPr>
            <a:r>
              <a:rPr sz="1418" b="0">
                <a:solidFill>
                  <a:srgbClr val="141414"/>
                </a:solidFill>
                <a:latin typeface="Arial"/>
                <a:ea typeface="Arial"/>
                <a:cs typeface="Arial"/>
              </a:rPr>
              <a:t>Replace individual nodes as needed</a:t>
            </a:r>
          </a:p>
          <a:p xmlns:a="http://schemas.openxmlformats.org/drawingml/2006/main">
            <a:pPr algn="l">
              <a:defRPr sz="1418" b="0">
                <a:solidFill>
                  <a:srgbClr val="141414"/>
                </a:solidFill>
                <a:latin typeface="Arial"/>
                <a:ea typeface="Arial"/>
                <a:cs typeface="Arial"/>
              </a:defRPr>
            </a:pPr>
            <a:r>
              <a:rPr sz="1418" b="0">
                <a:solidFill>
                  <a:srgbClr val="141414"/>
                </a:solidFill>
                <a:latin typeface="Arial"/>
                <a:ea typeface="Arial"/>
                <a:cs typeface="Arial"/>
              </a:rPr>
              <a:t>Deploy first in priority zones and expand node by node</a:t>
            </a:r>
          </a:p>
          <a:p xmlns:a="http://schemas.openxmlformats.org/drawingml/2006/main">
            <a:pPr algn="l">
              <a:defRPr sz="1418" b="0">
                <a:solidFill>
                  <a:srgbClr val="141414"/>
                </a:solidFill>
                <a:latin typeface="Arial"/>
                <a:ea typeface="Arial"/>
                <a:cs typeface="Arial"/>
              </a:defRPr>
            </a:pPr>
            <a:r>
              <a:rPr sz="1418" b="0">
                <a:solidFill>
                  <a:srgbClr val="141414"/>
                </a:solidFill>
                <a:latin typeface="Arial"/>
                <a:ea typeface="Arial"/>
                <a:cs typeface="Arial"/>
              </a:rPr>
              <a:t>Use evidence to target inspection effort</a:t>
            </a:r>
          </a:p>
        </p:txBody>
      </p:sp>
      <p:sp>
        <p:nvSpPr>
          <p:cNvPr id="17438" name="text-177">
            <a:extLst xmlns:a="http://schemas.openxmlformats.org/drawingml/2006/main">
              <a:ext uri="{FF2B5EF4-FFF2-40B4-BE49-F238E27FC236}">
                <a16:creationId xmlns:a16="http://schemas.microsoft.com/office/drawing/2014/main" id="{A0916C27-C581-470A-ABFC-1E2F0390084C}"/>
              </a:ext>
            </a:extLst>
          </p:cNvPr>
          <p:cNvSpPr>
            <a:spLocks xmlns:a="http://schemas.openxmlformats.org/drawingml/2006/main" noGrp="1"/>
          </p:cNvSpPr>
          <p:nvPr/>
        </p:nvSpPr>
        <p:spPr>
          <a:xfrm xmlns:a="http://schemas.openxmlformats.org/drawingml/2006/main">
            <a:off x="6381750" y="4589526"/>
            <a:ext cx="5381625"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ENVIRONMENT / LAND</a:t>
            </a:r>
          </a:p>
        </p:txBody>
      </p:sp>
      <p:sp>
        <p:nvSpPr>
          <p:cNvPr id="17439" name="text-178">
            <a:extLst xmlns:a="http://schemas.openxmlformats.org/drawingml/2006/main">
              <a:ext uri="{FF2B5EF4-FFF2-40B4-BE49-F238E27FC236}">
                <a16:creationId xmlns:a16="http://schemas.microsoft.com/office/drawing/2014/main" id="{388B3984-29F3-4905-B44B-887499007B03}"/>
              </a:ext>
            </a:extLst>
          </p:cNvPr>
          <p:cNvSpPr>
            <a:spLocks xmlns:a="http://schemas.openxmlformats.org/drawingml/2006/main" noGrp="1"/>
          </p:cNvSpPr>
          <p:nvPr/>
        </p:nvSpPr>
        <p:spPr>
          <a:xfrm xmlns:a="http://schemas.openxmlformats.org/drawingml/2006/main">
            <a:off x="6381750" y="4843844"/>
            <a:ext cx="5410200" cy="7459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18" b="0">
                <a:solidFill>
                  <a:srgbClr val="141414"/>
                </a:solidFill>
                <a:latin typeface="Arial"/>
                <a:ea typeface="Arial"/>
                <a:cs typeface="Arial"/>
              </a:defRPr>
            </a:pPr>
            <a:r>
              <a:rPr sz="1418" b="0">
                <a:solidFill>
                  <a:srgbClr val="141414"/>
                </a:solidFill>
                <a:latin typeface="Arial"/>
                <a:ea typeface="Arial"/>
                <a:cs typeface="Arial"/>
              </a:rPr>
              <a:t>Observe land above underground workings</a:t>
            </a:r>
          </a:p>
          <a:p xmlns:a="http://schemas.openxmlformats.org/drawingml/2006/main">
            <a:pPr algn="l">
              <a:defRPr sz="1418" b="0">
                <a:solidFill>
                  <a:srgbClr val="141414"/>
                </a:solidFill>
                <a:latin typeface="Arial"/>
                <a:ea typeface="Arial"/>
                <a:cs typeface="Arial"/>
              </a:defRPr>
            </a:pPr>
            <a:r>
              <a:rPr sz="1418" b="0">
                <a:solidFill>
                  <a:srgbClr val="141414"/>
                </a:solidFill>
                <a:latin typeface="Arial"/>
                <a:ea typeface="Arial"/>
                <a:cs typeface="Arial"/>
              </a:rPr>
              <a:t>Flag zones needing closer inspection</a:t>
            </a:r>
          </a:p>
          <a:p xmlns:a="http://schemas.openxmlformats.org/drawingml/2006/main">
            <a:pPr algn="l">
              <a:defRPr sz="1418" b="0">
                <a:solidFill>
                  <a:srgbClr val="141414"/>
                </a:solidFill>
                <a:latin typeface="Arial"/>
                <a:ea typeface="Arial"/>
                <a:cs typeface="Arial"/>
              </a:defRPr>
            </a:pPr>
            <a:r>
              <a:rPr sz="1418" b="0">
                <a:solidFill>
                  <a:srgbClr val="141414"/>
                </a:solidFill>
                <a:latin typeface="Arial"/>
                <a:ea typeface="Arial"/>
                <a:cs typeface="Arial"/>
              </a:rPr>
              <a:t>Planned GIS assets; future remote-sensing fusion</a:t>
            </a:r>
          </a:p>
        </p:txBody>
      </p:sp>
      <p:sp>
        <p:nvSpPr>
          <p:cNvPr id="17440" name="text-179">
            <a:extLst xmlns:a="http://schemas.openxmlformats.org/drawingml/2006/main">
              <a:ext uri="{FF2B5EF4-FFF2-40B4-BE49-F238E27FC236}">
                <a16:creationId xmlns:a16="http://schemas.microsoft.com/office/drawing/2014/main" id="{5DFCAECC-608A-4546-8352-17210C23B9F7}"/>
              </a:ext>
            </a:extLst>
          </p:cNvPr>
          <p:cNvSpPr>
            <a:spLocks xmlns:a="http://schemas.openxmlformats.org/drawingml/2006/main" noGrp="1"/>
          </p:cNvSpPr>
          <p:nvPr/>
        </p:nvSpPr>
        <p:spPr>
          <a:xfrm xmlns:a="http://schemas.openxmlformats.org/drawingml/2006/main">
            <a:off x="400050" y="5750909"/>
            <a:ext cx="11391900" cy="262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rPr>
              <a:t>Decision support — field action remains with authorized mine personnel and approved safety procedures.</a:t>
            </a:r>
          </a:p>
        </p:txBody>
      </p:sp>
      <p:pic>
        <p:nvPicPr>
          <p:cNvPr id="17484" name=""/>
          <p:cNvPicPr>
            <a:picLocks xmlns:a="http://schemas.openxmlformats.org/drawingml/2006/main" noChangeAspect="1"/>
          </p:cNvPicPr>
          <p:nvPr/>
        </p:nvPicPr>
        <p:blipFill>
          <a:blip xmlns:r="http://schemas.openxmlformats.org/officeDocument/2006/relationships" xmlns:a="http://schemas.openxmlformats.org/drawingml/2006/main" r:embed="R083870251d3d44f3"/>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42" name="SIH team name">
            <a:extLst xmlns:a="http://schemas.openxmlformats.org/drawingml/2006/main">
              <a:ext uri="{FF2B5EF4-FFF2-40B4-BE49-F238E27FC236}">
                <a16:creationId xmlns:a16="http://schemas.microsoft.com/office/drawing/2014/main" id="{B158E48D-9E2E-4A65-8C09-AC30F7680F05}"/>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We</a:t>
            </a:r>
          </a:p>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Cook</a:t>
            </a:r>
          </a:p>
        </p:txBody>
      </p:sp>
      <p:sp>
        <p:nvSpPr>
          <p:cNvPr id="17443" name="text-225">
            <a:extLst xmlns:a="http://schemas.openxmlformats.org/drawingml/2006/main">
              <a:ext uri="{FF2B5EF4-FFF2-40B4-BE49-F238E27FC236}">
                <a16:creationId xmlns:a16="http://schemas.microsoft.com/office/drawing/2014/main" id="{7BCAB69D-8309-4B0E-B026-39CDF362E0D9}"/>
              </a:ext>
            </a:extLst>
          </p:cNvPr>
          <p:cNvSpPr>
            <a:spLocks xmlns:a="http://schemas.openxmlformats.org/drawingml/2006/main" noGrp="1"/>
          </p:cNvSpPr>
          <p:nvPr/>
        </p:nvSpPr>
        <p:spPr>
          <a:xfrm xmlns:a="http://schemas.openxmlformats.org/drawingml/2006/main">
            <a:off x="4648200" y="64674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44" name="frame-226">
            <a:extLst xmlns:a="http://schemas.openxmlformats.org/drawingml/2006/main">
              <a:ext uri="{FF2B5EF4-FFF2-40B4-BE49-F238E27FC236}">
                <a16:creationId xmlns:a16="http://schemas.microsoft.com/office/drawing/2014/main" id="{B43D0F00-6FFE-40E6-8602-39D1D0B5AAD4}"/>
              </a:ext>
            </a:extLst>
          </p:cNvPr>
          <p:cNvSpPr>
            <a:spLocks xmlns:a="http://schemas.openxmlformats.org/drawingml/2006/main" noGrp="1"/>
          </p:cNvSpPr>
          <p:nvPr/>
        </p:nvSpPr>
        <p:spPr>
          <a:xfrm xmlns:a="http://schemas.openxmlformats.org/drawingml/2006/main">
            <a:off x="2800350" y="6162675"/>
            <a:ext cx="219075" cy="114300"/>
          </a:xfrm>
          <a:prstGeom xmlns:a="http://schemas.openxmlformats.org/drawingml/2006/main" prst="rect">
            <a:avLst/>
          </a:prstGeom>
          <a:noFill xmlns:a="http://schemas.openxmlformats.org/drawingml/2006/main"/>
          <a:ln xmlns:a="http://schemas.openxmlformats.org/drawingml/2006/main" w="11430">
            <a:solidFill>
              <a:srgbClr val="214E85"/>
            </a:solidFill>
            <a:prstDash val="solid"/>
          </a:ln>
        </p:spPr>
      </p:sp>
      <p:sp>
        <p:nvSpPr>
          <p:cNvPr id="17445" name="text-227">
            <a:extLst xmlns:a="http://schemas.openxmlformats.org/drawingml/2006/main">
              <a:ext uri="{FF2B5EF4-FFF2-40B4-BE49-F238E27FC236}">
                <a16:creationId xmlns:a16="http://schemas.microsoft.com/office/drawing/2014/main" id="{EE3D15C8-5D72-475E-8EDF-DB0F719B1BD3}"/>
              </a:ext>
            </a:extLst>
          </p:cNvPr>
          <p:cNvSpPr>
            <a:spLocks xmlns:a="http://schemas.openxmlformats.org/drawingml/2006/main" noGrp="1"/>
          </p:cNvSpPr>
          <p:nvPr/>
        </p:nvSpPr>
        <p:spPr>
          <a:xfrm xmlns:a="http://schemas.openxmlformats.org/drawingml/2006/main">
            <a:off x="3095625" y="6143625"/>
            <a:ext cx="2076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CURRENT PROTOTYPE</a:t>
            </a:r>
          </a:p>
        </p:txBody>
      </p:sp>
      <p:sp>
        <p:nvSpPr>
          <p:cNvPr id="17446" name="frame-228">
            <a:extLst xmlns:a="http://schemas.openxmlformats.org/drawingml/2006/main">
              <a:ext uri="{FF2B5EF4-FFF2-40B4-BE49-F238E27FC236}">
                <a16:creationId xmlns:a16="http://schemas.microsoft.com/office/drawing/2014/main" id="{F374D547-2BAE-4690-BDF0-C7E90E79E56A}"/>
              </a:ext>
            </a:extLst>
          </p:cNvPr>
          <p:cNvSpPr>
            <a:spLocks xmlns:a="http://schemas.openxmlformats.org/drawingml/2006/main" noGrp="1"/>
          </p:cNvSpPr>
          <p:nvPr/>
        </p:nvSpPr>
        <p:spPr>
          <a:xfrm xmlns:a="http://schemas.openxmlformats.org/drawingml/2006/main">
            <a:off x="5210175" y="6162675"/>
            <a:ext cx="219075" cy="114300"/>
          </a:xfrm>
          <a:prstGeom xmlns:a="http://schemas.openxmlformats.org/drawingml/2006/main" prst="rect">
            <a:avLst/>
          </a:prstGeom>
          <a:noFill xmlns:a="http://schemas.openxmlformats.org/drawingml/2006/main"/>
          <a:ln xmlns:a="http://schemas.openxmlformats.org/drawingml/2006/main" w="11430">
            <a:solidFill>
              <a:srgbClr val="0070C0"/>
            </a:solidFill>
            <a:prstDash val="dash"/>
          </a:ln>
        </p:spPr>
      </p:sp>
      <p:sp>
        <p:nvSpPr>
          <p:cNvPr id="17447" name="text-229">
            <a:extLst xmlns:a="http://schemas.openxmlformats.org/drawingml/2006/main">
              <a:ext uri="{FF2B5EF4-FFF2-40B4-BE49-F238E27FC236}">
                <a16:creationId xmlns:a16="http://schemas.microsoft.com/office/drawing/2014/main" id="{CFADE2D0-C565-42FF-9D4A-701FE26AA282}"/>
              </a:ext>
            </a:extLst>
          </p:cNvPr>
          <p:cNvSpPr>
            <a:spLocks xmlns:a="http://schemas.openxmlformats.org/drawingml/2006/main" noGrp="1"/>
          </p:cNvSpPr>
          <p:nvPr/>
        </p:nvSpPr>
        <p:spPr>
          <a:xfrm xmlns:a="http://schemas.openxmlformats.org/drawingml/2006/main">
            <a:off x="5505450" y="61436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PLANNED FIELD SYSTEM</a:t>
            </a:r>
          </a:p>
        </p:txBody>
      </p:sp>
      <p:sp>
        <p:nvSpPr>
          <p:cNvPr id="17448" name="frame-230">
            <a:extLst xmlns:a="http://schemas.openxmlformats.org/drawingml/2006/main">
              <a:ext uri="{FF2B5EF4-FFF2-40B4-BE49-F238E27FC236}">
                <a16:creationId xmlns:a16="http://schemas.microsoft.com/office/drawing/2014/main" id="{3C061A9F-AA94-4D33-BD80-F4DC52F52D37}"/>
              </a:ext>
            </a:extLst>
          </p:cNvPr>
          <p:cNvSpPr>
            <a:spLocks xmlns:a="http://schemas.openxmlformats.org/drawingml/2006/main" noGrp="1"/>
          </p:cNvSpPr>
          <p:nvPr/>
        </p:nvSpPr>
        <p:spPr>
          <a:xfrm xmlns:a="http://schemas.openxmlformats.org/drawingml/2006/main">
            <a:off x="7905750" y="6162675"/>
            <a:ext cx="219075" cy="114300"/>
          </a:xfrm>
          <a:prstGeom xmlns:a="http://schemas.openxmlformats.org/drawingml/2006/main" prst="rect">
            <a:avLst/>
          </a:prstGeom>
          <a:noFill xmlns:a="http://schemas.openxmlformats.org/drawingml/2006/main"/>
          <a:ln xmlns:a="http://schemas.openxmlformats.org/drawingml/2006/main" w="11430">
            <a:solidFill>
              <a:srgbClr val="8494A8"/>
            </a:solidFill>
            <a:prstDash val="dot"/>
          </a:ln>
        </p:spPr>
      </p:sp>
      <p:sp>
        <p:nvSpPr>
          <p:cNvPr id="17449" name="text-231">
            <a:extLst xmlns:a="http://schemas.openxmlformats.org/drawingml/2006/main">
              <a:ext uri="{FF2B5EF4-FFF2-40B4-BE49-F238E27FC236}">
                <a16:creationId xmlns:a16="http://schemas.microsoft.com/office/drawing/2014/main" id="{A4C3C34A-275C-4B5D-B6AF-E7F403F1A859}"/>
              </a:ext>
            </a:extLst>
          </p:cNvPr>
          <p:cNvSpPr>
            <a:spLocks xmlns:a="http://schemas.openxmlformats.org/drawingml/2006/main" noGrp="1"/>
          </p:cNvSpPr>
          <p:nvPr/>
        </p:nvSpPr>
        <p:spPr>
          <a:xfrm xmlns:a="http://schemas.openxmlformats.org/drawingml/2006/main">
            <a:off x="8201025" y="6143625"/>
            <a:ext cx="1476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FUTURE R&amp;D</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D4BEEAC-B3A1-42F1-B357-4FBA960C7A6F}"/>
              </a:ext>
            </a:extLst>
          </p:cNvPr>
          <p:cNvSpPr>
            <a:spLocks xmlns:a="http://schemas.openxmlformats.org/drawingml/2006/main" noGrp="1"/>
          </p:cNvSpPr>
          <p:nvPr>
            <p:ph type="title" idx="0"/>
          </p:nvPr>
        </p:nvSpPr>
        <p:spPr>
          <a:xfrm xmlns:a="http://schemas.openxmlformats.org/drawingml/2006/main">
            <a:off x="1657350" y="209550"/>
            <a:ext cx="8286750" cy="647700"/>
          </a:xfrm>
        </p:spPr>
        <p:txBody>
          <a:bodyPr xmlns:a="http://schemas.openxmlformats.org/drawingml/2006/main" lIns="0" tIns="0" rIns="0" bIns="0" anchor="ctr">
            <a:noAutofit/>
          </a:bodyPr>
          <a:lstStyle xmlns:a="http://schemas.openxmlformats.org/drawingml/2006/main"/>
          <a:p xmlns:a="http://schemas.openxmlformats.org/drawingml/2006/main">
            <a:pPr algn="ctr">
              <a:buNone/>
              <a:defRPr sz="3225" b="1">
                <a:solidFill>
                  <a:srgbClr val="000000"/>
                </a:solidFill>
                <a:latin typeface="Times New Roman"/>
                <a:ea typeface="Times New Roman"/>
                <a:cs typeface="Times New Roman"/>
              </a:defRPr>
            </a:pPr>
            <a:r>
              <a:rPr sz="32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FA7BCDFC-0286-44AB-A651-6CA3DF7D6F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17410" name="text-180">
            <a:extLst xmlns:a="http://schemas.openxmlformats.org/drawingml/2006/main">
              <a:ext uri="{FF2B5EF4-FFF2-40B4-BE49-F238E27FC236}">
                <a16:creationId xmlns:a16="http://schemas.microsoft.com/office/drawing/2014/main" id="{977E4930-E8A2-4869-BBBE-3F88FD816EDB}"/>
              </a:ext>
            </a:extLst>
          </p:cNvPr>
          <p:cNvSpPr>
            <a:spLocks xmlns:a="http://schemas.openxmlformats.org/drawingml/2006/main" noGrp="1"/>
          </p:cNvSpPr>
          <p:nvPr/>
        </p:nvSpPr>
        <p:spPr>
          <a:xfrm xmlns:a="http://schemas.openxmlformats.org/drawingml/2006/main">
            <a:off x="342900" y="1143000"/>
            <a:ext cx="1150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214E85"/>
                </a:solidFill>
                <a:latin typeface="Arial"/>
                <a:ea typeface="Arial"/>
                <a:cs typeface="Arial"/>
              </a:defRPr>
            </a:pPr>
            <a:r>
              <a:rPr sz="1875" b="1">
                <a:solidFill>
                  <a:srgbClr val="214E85"/>
                </a:solidFill>
                <a:latin typeface="Arial"/>
                <a:ea typeface="Arial"/>
                <a:cs typeface="Arial"/>
              </a:rPr>
              <a:t>Source → engineering decision</a:t>
            </a:r>
          </a:p>
        </p:txBody>
      </p:sp>
      <p:sp>
        <p:nvSpPr>
          <p:cNvPr id="17411" name="text-181">
            <a:extLst xmlns:a="http://schemas.openxmlformats.org/drawingml/2006/main">
              <a:ext uri="{FF2B5EF4-FFF2-40B4-BE49-F238E27FC236}">
                <a16:creationId xmlns:a16="http://schemas.microsoft.com/office/drawing/2014/main" id="{67C304CE-0DFD-4302-835D-2A2988257F35}"/>
              </a:ext>
            </a:extLst>
          </p:cNvPr>
          <p:cNvSpPr>
            <a:spLocks xmlns:a="http://schemas.openxmlformats.org/drawingml/2006/main" noGrp="1"/>
          </p:cNvSpPr>
          <p:nvPr/>
        </p:nvSpPr>
        <p:spPr>
          <a:xfrm xmlns:a="http://schemas.openxmlformats.org/drawingml/2006/main">
            <a:off x="400050" y="1571625"/>
            <a:ext cx="52387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DOMAIN RESEARCH</a:t>
            </a:r>
          </a:p>
        </p:txBody>
      </p:sp>
      <p:sp>
        <p:nvSpPr>
          <p:cNvPr id="17412" name="text-182">
            <a:extLst xmlns:a="http://schemas.openxmlformats.org/drawingml/2006/main">
              <a:ext uri="{FF2B5EF4-FFF2-40B4-BE49-F238E27FC236}">
                <a16:creationId xmlns:a16="http://schemas.microsoft.com/office/drawing/2014/main" id="{718D9EFA-8AFE-432D-8F32-D5F3A387DF96}"/>
              </a:ext>
            </a:extLst>
          </p:cNvPr>
          <p:cNvSpPr>
            <a:spLocks xmlns:a="http://schemas.openxmlformats.org/drawingml/2006/main" noGrp="1"/>
          </p:cNvSpPr>
          <p:nvPr/>
        </p:nvSpPr>
        <p:spPr>
          <a:xfrm xmlns:a="http://schemas.openxmlformats.org/drawingml/2006/main">
            <a:off x="400050" y="1859852"/>
            <a:ext cx="5286375" cy="21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hlinkClick xmlns:r="http://schemas.openxmlformats.org/officeDocument/2006/relationships" r:id="R204921fcec4a4105"/>
              </a:rPr>
              <a:t>Official SIH26025</a:t>
            </a:r>
          </a:p>
        </p:txBody>
      </p:sp>
      <p:sp>
        <p:nvSpPr>
          <p:cNvPr id="17413" name="text-183">
            <a:extLst xmlns:a="http://schemas.openxmlformats.org/drawingml/2006/main">
              <a:ext uri="{FF2B5EF4-FFF2-40B4-BE49-F238E27FC236}">
                <a16:creationId xmlns:a16="http://schemas.microsoft.com/office/drawing/2014/main" id="{873A81DC-B3B4-4300-A704-F2CEC9DB2F75}"/>
              </a:ext>
            </a:extLst>
          </p:cNvPr>
          <p:cNvSpPr>
            <a:spLocks xmlns:a="http://schemas.openxmlformats.org/drawingml/2006/main" noGrp="1"/>
          </p:cNvSpPr>
          <p:nvPr/>
        </p:nvSpPr>
        <p:spPr>
          <a:xfrm xmlns:a="http://schemas.openxmlformats.org/drawingml/2006/main">
            <a:off x="400050" y="2080260"/>
            <a:ext cx="528637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Exact problem scope</a:t>
            </a:r>
          </a:p>
        </p:txBody>
      </p:sp>
      <p:sp>
        <p:nvSpPr>
          <p:cNvPr id="17414" name="text-184">
            <a:extLst xmlns:a="http://schemas.openxmlformats.org/drawingml/2006/main">
              <a:ext uri="{FF2B5EF4-FFF2-40B4-BE49-F238E27FC236}">
                <a16:creationId xmlns:a16="http://schemas.microsoft.com/office/drawing/2014/main" id="{0F6F28CD-804D-4B9D-BB82-F3E416D7266B}"/>
              </a:ext>
            </a:extLst>
          </p:cNvPr>
          <p:cNvSpPr>
            <a:spLocks xmlns:a="http://schemas.openxmlformats.org/drawingml/2006/main" noGrp="1"/>
          </p:cNvSpPr>
          <p:nvPr/>
        </p:nvSpPr>
        <p:spPr>
          <a:xfrm xmlns:a="http://schemas.openxmlformats.org/drawingml/2006/main">
            <a:off x="400050" y="2317623"/>
            <a:ext cx="5286375" cy="21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hlinkClick xmlns:r="http://schemas.openxmlformats.org/officeDocument/2006/relationships" r:id="Rb0dcc948befd4437"/>
              </a:rPr>
              <a:t>CSIR-CIMFR Mine Planning &amp; Surveying</a:t>
            </a:r>
          </a:p>
        </p:txBody>
      </p:sp>
      <p:sp>
        <p:nvSpPr>
          <p:cNvPr id="17415" name="text-185">
            <a:extLst xmlns:a="http://schemas.openxmlformats.org/drawingml/2006/main">
              <a:ext uri="{FF2B5EF4-FFF2-40B4-BE49-F238E27FC236}">
                <a16:creationId xmlns:a16="http://schemas.microsoft.com/office/drawing/2014/main" id="{8A418082-46F6-41B8-A227-09AF238402D2}"/>
              </a:ext>
            </a:extLst>
          </p:cNvPr>
          <p:cNvSpPr>
            <a:spLocks xmlns:a="http://schemas.openxmlformats.org/drawingml/2006/main" noGrp="1"/>
          </p:cNvSpPr>
          <p:nvPr/>
        </p:nvSpPr>
        <p:spPr>
          <a:xfrm xmlns:a="http://schemas.openxmlformats.org/drawingml/2006/main">
            <a:off x="400050" y="2538032"/>
            <a:ext cx="528637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Indian subsidence / geotechnical monitoring</a:t>
            </a:r>
          </a:p>
        </p:txBody>
      </p:sp>
      <p:sp>
        <p:nvSpPr>
          <p:cNvPr id="17416" name="text-186">
            <a:extLst xmlns:a="http://schemas.openxmlformats.org/drawingml/2006/main">
              <a:ext uri="{FF2B5EF4-FFF2-40B4-BE49-F238E27FC236}">
                <a16:creationId xmlns:a16="http://schemas.microsoft.com/office/drawing/2014/main" id="{0983F868-7B2F-482F-9A96-18A06AAED0F8}"/>
              </a:ext>
            </a:extLst>
          </p:cNvPr>
          <p:cNvSpPr>
            <a:spLocks xmlns:a="http://schemas.openxmlformats.org/drawingml/2006/main" noGrp="1"/>
          </p:cNvSpPr>
          <p:nvPr/>
        </p:nvSpPr>
        <p:spPr>
          <a:xfrm xmlns:a="http://schemas.openxmlformats.org/drawingml/2006/main">
            <a:off x="400050" y="2775395"/>
            <a:ext cx="5286375" cy="21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hlinkClick xmlns:r="http://schemas.openxmlformats.org/officeDocument/2006/relationships" r:id="R163ab37b23cf4832"/>
              </a:rPr>
              <a:t>ISRO / NRSC / BCCL / CMPDI</a:t>
            </a:r>
          </a:p>
        </p:txBody>
      </p:sp>
      <p:sp>
        <p:nvSpPr>
          <p:cNvPr id="17417" name="text-187">
            <a:extLst xmlns:a="http://schemas.openxmlformats.org/drawingml/2006/main">
              <a:ext uri="{FF2B5EF4-FFF2-40B4-BE49-F238E27FC236}">
                <a16:creationId xmlns:a16="http://schemas.microsoft.com/office/drawing/2014/main" id="{92BA02C3-65FE-4711-A732-56B76E1A5D29}"/>
              </a:ext>
            </a:extLst>
          </p:cNvPr>
          <p:cNvSpPr>
            <a:spLocks xmlns:a="http://schemas.openxmlformats.org/drawingml/2006/main" noGrp="1"/>
          </p:cNvSpPr>
          <p:nvPr/>
        </p:nvSpPr>
        <p:spPr>
          <a:xfrm xmlns:a="http://schemas.openxmlformats.org/drawingml/2006/main">
            <a:off x="400050" y="2995803"/>
            <a:ext cx="528637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Remote sensing and coalfield monitoring</a:t>
            </a:r>
          </a:p>
        </p:txBody>
      </p:sp>
      <p:sp>
        <p:nvSpPr>
          <p:cNvPr id="17418" name="text-188">
            <a:extLst xmlns:a="http://schemas.openxmlformats.org/drawingml/2006/main">
              <a:ext uri="{FF2B5EF4-FFF2-40B4-BE49-F238E27FC236}">
                <a16:creationId xmlns:a16="http://schemas.microsoft.com/office/drawing/2014/main" id="{AC1175BA-C986-40DD-9AE4-6C7799863609}"/>
              </a:ext>
            </a:extLst>
          </p:cNvPr>
          <p:cNvSpPr>
            <a:spLocks xmlns:a="http://schemas.openxmlformats.org/drawingml/2006/main" noGrp="1"/>
          </p:cNvSpPr>
          <p:nvPr/>
        </p:nvSpPr>
        <p:spPr>
          <a:xfrm xmlns:a="http://schemas.openxmlformats.org/drawingml/2006/main">
            <a:off x="400050" y="3233166"/>
            <a:ext cx="5286375" cy="21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hlinkClick xmlns:r="http://schemas.openxmlformats.org/officeDocument/2006/relationships" r:id="Rfbd8f409b3264b11"/>
              </a:rPr>
              <a:t>DGMS approval policy</a:t>
            </a:r>
          </a:p>
        </p:txBody>
      </p:sp>
      <p:sp>
        <p:nvSpPr>
          <p:cNvPr id="17419" name="text-189">
            <a:extLst xmlns:a="http://schemas.openxmlformats.org/drawingml/2006/main">
              <a:ext uri="{FF2B5EF4-FFF2-40B4-BE49-F238E27FC236}">
                <a16:creationId xmlns:a16="http://schemas.microsoft.com/office/drawing/2014/main" id="{A0102142-52C0-4E5B-BC0C-AFB7C76E1875}"/>
              </a:ext>
            </a:extLst>
          </p:cNvPr>
          <p:cNvSpPr>
            <a:spLocks xmlns:a="http://schemas.openxmlformats.org/drawingml/2006/main" noGrp="1"/>
          </p:cNvSpPr>
          <p:nvPr/>
        </p:nvSpPr>
        <p:spPr>
          <a:xfrm xmlns:a="http://schemas.openxmlformats.org/drawingml/2006/main">
            <a:off x="400050" y="3453575"/>
            <a:ext cx="528637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Mine equipment and safety approval context</a:t>
            </a:r>
          </a:p>
        </p:txBody>
      </p:sp>
      <p:sp>
        <p:nvSpPr>
          <p:cNvPr id="17420" name="text-190">
            <a:extLst xmlns:a="http://schemas.openxmlformats.org/drawingml/2006/main">
              <a:ext uri="{FF2B5EF4-FFF2-40B4-BE49-F238E27FC236}">
                <a16:creationId xmlns:a16="http://schemas.microsoft.com/office/drawing/2014/main" id="{88D1CB47-DF15-4EDD-AEE7-4A9DF800200E}"/>
              </a:ext>
            </a:extLst>
          </p:cNvPr>
          <p:cNvSpPr>
            <a:spLocks xmlns:a="http://schemas.openxmlformats.org/drawingml/2006/main" noGrp="1"/>
          </p:cNvSpPr>
          <p:nvPr/>
        </p:nvSpPr>
        <p:spPr>
          <a:xfrm xmlns:a="http://schemas.openxmlformats.org/drawingml/2006/main">
            <a:off x="400050" y="3690938"/>
            <a:ext cx="5286375" cy="21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hlinkClick xmlns:r="http://schemas.openxmlformats.org/officeDocument/2006/relationships" r:id="Rf9903dd268e64304"/>
              </a:rPr>
              <a:t>Espressif ESP32 / ESP-NOW</a:t>
            </a:r>
          </a:p>
        </p:txBody>
      </p:sp>
      <p:sp>
        <p:nvSpPr>
          <p:cNvPr id="17421" name="text-191">
            <a:extLst xmlns:a="http://schemas.openxmlformats.org/drawingml/2006/main">
              <a:ext uri="{FF2B5EF4-FFF2-40B4-BE49-F238E27FC236}">
                <a16:creationId xmlns:a16="http://schemas.microsoft.com/office/drawing/2014/main" id="{7F4B5757-4046-4C1F-8B92-0E8462D1B70D}"/>
              </a:ext>
            </a:extLst>
          </p:cNvPr>
          <p:cNvSpPr>
            <a:spLocks xmlns:a="http://schemas.openxmlformats.org/drawingml/2006/main" noGrp="1"/>
          </p:cNvSpPr>
          <p:nvPr/>
        </p:nvSpPr>
        <p:spPr>
          <a:xfrm xmlns:a="http://schemas.openxmlformats.org/drawingml/2006/main">
            <a:off x="400050" y="3911346"/>
            <a:ext cx="528637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Current direct wireless link and receiver</a:t>
            </a:r>
          </a:p>
        </p:txBody>
      </p:sp>
      <p:sp>
        <p:nvSpPr>
          <p:cNvPr id="17422" name="text-192">
            <a:extLst xmlns:a="http://schemas.openxmlformats.org/drawingml/2006/main">
              <a:ext uri="{FF2B5EF4-FFF2-40B4-BE49-F238E27FC236}">
                <a16:creationId xmlns:a16="http://schemas.microsoft.com/office/drawing/2014/main" id="{77BD2E99-E5EA-4D5C-BD20-8D22A25DDBF2}"/>
              </a:ext>
            </a:extLst>
          </p:cNvPr>
          <p:cNvSpPr>
            <a:spLocks xmlns:a="http://schemas.openxmlformats.org/drawingml/2006/main" noGrp="1"/>
          </p:cNvSpPr>
          <p:nvPr/>
        </p:nvSpPr>
        <p:spPr>
          <a:xfrm xmlns:a="http://schemas.openxmlformats.org/drawingml/2006/main">
            <a:off x="400050" y="4148709"/>
            <a:ext cx="5286375" cy="21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hlinkClick xmlns:r="http://schemas.openxmlformats.org/officeDocument/2006/relationships" r:id="R0e217f063c614a0a"/>
              </a:rPr>
              <a:t>Bosch Sensortec BME280</a:t>
            </a:r>
          </a:p>
        </p:txBody>
      </p:sp>
      <p:sp>
        <p:nvSpPr>
          <p:cNvPr id="17423" name="text-193">
            <a:extLst xmlns:a="http://schemas.openxmlformats.org/drawingml/2006/main">
              <a:ext uri="{FF2B5EF4-FFF2-40B4-BE49-F238E27FC236}">
                <a16:creationId xmlns:a16="http://schemas.microsoft.com/office/drawing/2014/main" id="{176951F0-66BB-4212-815C-7799DF03CA5A}"/>
              </a:ext>
            </a:extLst>
          </p:cNvPr>
          <p:cNvSpPr>
            <a:spLocks xmlns:a="http://schemas.openxmlformats.org/drawingml/2006/main" noGrp="1"/>
          </p:cNvSpPr>
          <p:nvPr/>
        </p:nvSpPr>
        <p:spPr>
          <a:xfrm xmlns:a="http://schemas.openxmlformats.org/drawingml/2006/main">
            <a:off x="400050" y="4369118"/>
            <a:ext cx="528637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Environmental sensor limits and documentation</a:t>
            </a:r>
          </a:p>
        </p:txBody>
      </p:sp>
      <p:sp>
        <p:nvSpPr>
          <p:cNvPr id="17424" name="text-194">
            <a:extLst xmlns:a="http://schemas.openxmlformats.org/drawingml/2006/main">
              <a:ext uri="{FF2B5EF4-FFF2-40B4-BE49-F238E27FC236}">
                <a16:creationId xmlns:a16="http://schemas.microsoft.com/office/drawing/2014/main" id="{FE1347AC-0CB7-4FD4-90D4-8C2F9B7ADD25}"/>
              </a:ext>
            </a:extLst>
          </p:cNvPr>
          <p:cNvSpPr>
            <a:spLocks xmlns:a="http://schemas.openxmlformats.org/drawingml/2006/main" noGrp="1"/>
          </p:cNvSpPr>
          <p:nvPr/>
        </p:nvSpPr>
        <p:spPr>
          <a:xfrm xmlns:a="http://schemas.openxmlformats.org/drawingml/2006/main">
            <a:off x="400050" y="4606481"/>
            <a:ext cx="5286375" cy="21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14E85"/>
                </a:solidFill>
                <a:latin typeface="Arial"/>
                <a:ea typeface="Arial"/>
                <a:cs typeface="Arial"/>
              </a:defRPr>
            </a:pPr>
            <a:r>
              <a:rPr sz="1350" b="1">
                <a:solidFill>
                  <a:srgbClr val="214E85"/>
                </a:solidFill>
                <a:latin typeface="Arial"/>
                <a:ea typeface="Arial"/>
                <a:cs typeface="Arial"/>
                <a:hlinkClick xmlns:r="http://schemas.openxmlformats.org/officeDocument/2006/relationships" r:id="R4ccabbb426344af5"/>
              </a:rPr>
              <a:t>LoRa Alliance</a:t>
            </a:r>
          </a:p>
        </p:txBody>
      </p:sp>
      <p:sp>
        <p:nvSpPr>
          <p:cNvPr id="17425" name="text-195">
            <a:extLst xmlns:a="http://schemas.openxmlformats.org/drawingml/2006/main">
              <a:ext uri="{FF2B5EF4-FFF2-40B4-BE49-F238E27FC236}">
                <a16:creationId xmlns:a16="http://schemas.microsoft.com/office/drawing/2014/main" id="{E3135500-283F-482F-B5C3-2CE075CE82D6}"/>
              </a:ext>
            </a:extLst>
          </p:cNvPr>
          <p:cNvSpPr>
            <a:spLocks xmlns:a="http://schemas.openxmlformats.org/drawingml/2006/main" noGrp="1"/>
          </p:cNvSpPr>
          <p:nvPr/>
        </p:nvSpPr>
        <p:spPr>
          <a:xfrm xmlns:a="http://schemas.openxmlformats.org/drawingml/2006/main">
            <a:off x="400050" y="4826889"/>
            <a:ext cx="5286375" cy="1949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Planned field-network architecture reference</a:t>
            </a:r>
          </a:p>
        </p:txBody>
      </p:sp>
      <p:sp>
        <p:nvSpPr>
          <p:cNvPr id="17426" name="text-196">
            <a:extLst xmlns:a="http://schemas.openxmlformats.org/drawingml/2006/main">
              <a:ext uri="{FF2B5EF4-FFF2-40B4-BE49-F238E27FC236}">
                <a16:creationId xmlns:a16="http://schemas.microsoft.com/office/drawing/2014/main" id="{2693E363-3D11-4859-B87F-F5E587DC91CA}"/>
              </a:ext>
            </a:extLst>
          </p:cNvPr>
          <p:cNvSpPr>
            <a:spLocks xmlns:a="http://schemas.openxmlformats.org/drawingml/2006/main" noGrp="1"/>
          </p:cNvSpPr>
          <p:nvPr/>
        </p:nvSpPr>
        <p:spPr>
          <a:xfrm xmlns:a="http://schemas.openxmlformats.org/drawingml/2006/main">
            <a:off x="400050" y="5242274"/>
            <a:ext cx="533400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505C6B"/>
                </a:solidFill>
                <a:latin typeface="Arial"/>
                <a:ea typeface="Arial"/>
                <a:cs typeface="Arial"/>
              </a:defRPr>
            </a:pPr>
            <a:r>
              <a:rPr sz="1013" b="1">
                <a:solidFill>
                  <a:srgbClr val="505C6B"/>
                </a:solidFill>
                <a:latin typeface="Arial"/>
                <a:ea typeface="Arial"/>
                <a:cs typeface="Arial"/>
              </a:rPr>
              <a:t>PEER-REVIEWED SUBSIDENCE PAPERS</a:t>
            </a:r>
          </a:p>
        </p:txBody>
      </p:sp>
      <p:sp>
        <p:nvSpPr>
          <p:cNvPr id="17427" name="">
            <a:extLst xmlns:a="http://schemas.openxmlformats.org/drawingml/2006/main">
              <a:ext uri="{FF2B5EF4-FFF2-40B4-BE49-F238E27FC236}">
                <a16:creationId xmlns:a16="http://schemas.microsoft.com/office/drawing/2014/main" id="{F7B654C1-A260-41A8-82F5-4B2C2AA5E3F7}"/>
              </a:ext>
            </a:extLst>
          </p:cNvPr>
          <p:cNvSpPr>
            <a:spLocks xmlns:a="http://schemas.openxmlformats.org/drawingml/2006/main" noGrp="1"/>
          </p:cNvSpPr>
          <p:nvPr/>
        </p:nvSpPr>
        <p:spPr>
          <a:xfrm xmlns:a="http://schemas.openxmlformats.org/drawingml/2006/main">
            <a:off x="400050" y="5606796"/>
            <a:ext cx="5286375" cy="0"/>
          </a:xfrm>
          <a:prstGeom xmlns:a="http://schemas.openxmlformats.org/drawingml/2006/main" prst="line">
            <a:avLst/>
          </a:prstGeom>
          <a:noFill xmlns:a="http://schemas.openxmlformats.org/drawingml/2006/main"/>
          <a:ln xmlns:a="http://schemas.openxmlformats.org/drawingml/2006/main" w="9525">
            <a:solidFill>
              <a:srgbClr val="CCD4DE"/>
            </a:solidFill>
            <a:prstDash val="solid"/>
          </a:ln>
        </p:spPr>
      </p:sp>
      <p:sp>
        <p:nvSpPr>
          <p:cNvPr id="17428" name="">
            <a:extLst xmlns:a="http://schemas.openxmlformats.org/drawingml/2006/main">
              <a:ext uri="{FF2B5EF4-FFF2-40B4-BE49-F238E27FC236}">
                <a16:creationId xmlns:a16="http://schemas.microsoft.com/office/drawing/2014/main" id="{B1E97C3B-C561-4860-A425-DAF327C3F2D9}"/>
              </a:ext>
            </a:extLst>
          </p:cNvPr>
          <p:cNvSpPr>
            <a:spLocks xmlns:a="http://schemas.openxmlformats.org/drawingml/2006/main" noGrp="1"/>
          </p:cNvSpPr>
          <p:nvPr/>
        </p:nvSpPr>
        <p:spPr>
          <a:xfrm xmlns:a="http://schemas.openxmlformats.org/drawingml/2006/main">
            <a:off x="400050" y="5886545"/>
            <a:ext cx="5286375" cy="0"/>
          </a:xfrm>
          <a:prstGeom xmlns:a="http://schemas.openxmlformats.org/drawingml/2006/main" prst="line">
            <a:avLst/>
          </a:prstGeom>
          <a:noFill xmlns:a="http://schemas.openxmlformats.org/drawingml/2006/main"/>
          <a:ln xmlns:a="http://schemas.openxmlformats.org/drawingml/2006/main" w="9525">
            <a:solidFill>
              <a:srgbClr val="CCD4DE"/>
            </a:solidFill>
            <a:prstDash val="solid"/>
          </a:ln>
        </p:spPr>
      </p:sp>
      <p:sp>
        <p:nvSpPr>
          <p:cNvPr id="17429" name="text-197">
            <a:extLst xmlns:a="http://schemas.openxmlformats.org/drawingml/2006/main">
              <a:ext uri="{FF2B5EF4-FFF2-40B4-BE49-F238E27FC236}">
                <a16:creationId xmlns:a16="http://schemas.microsoft.com/office/drawing/2014/main" id="{172E954E-2430-4666-92E8-C5436BD37832}"/>
              </a:ext>
            </a:extLst>
          </p:cNvPr>
          <p:cNvSpPr>
            <a:spLocks xmlns:a="http://schemas.openxmlformats.org/drawingml/2006/main" noGrp="1"/>
          </p:cNvSpPr>
          <p:nvPr/>
        </p:nvSpPr>
        <p:spPr>
          <a:xfrm xmlns:a="http://schemas.openxmlformats.org/drawingml/2006/main">
            <a:off x="6134100" y="1571625"/>
            <a:ext cx="56578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13" b="1">
                <a:solidFill>
                  <a:srgbClr val="214E85"/>
                </a:solidFill>
                <a:latin typeface="Arial"/>
                <a:ea typeface="Arial"/>
                <a:cs typeface="Arial"/>
              </a:defRPr>
            </a:pPr>
            <a:r>
              <a:rPr sz="1013" b="1">
                <a:solidFill>
                  <a:srgbClr val="214E85"/>
                </a:solidFill>
                <a:latin typeface="Arial"/>
                <a:ea typeface="Arial"/>
                <a:cs typeface="Arial"/>
              </a:rPr>
              <a:t>PROTOTYPE PROOF</a:t>
            </a:r>
          </a:p>
        </p:txBody>
      </p:sp>
      <p:sp>
        <p:nvSpPr>
          <p:cNvPr id="17430" name="prototype-video-qr">
            <a:extLst xmlns:a="http://schemas.openxmlformats.org/drawingml/2006/main">
              <a:ext uri="{FF2B5EF4-FFF2-40B4-BE49-F238E27FC236}">
                <a16:creationId xmlns:a16="http://schemas.microsoft.com/office/drawing/2014/main" id="{B5F18573-1F35-4268-8699-CF9A1B03DB48}"/>
              </a:ext>
            </a:extLst>
          </p:cNvPr>
          <p:cNvSpPr>
            <a:spLocks xmlns:a="http://schemas.openxmlformats.org/drawingml/2006/main" noGrp="1"/>
          </p:cNvSpPr>
          <p:nvPr/>
        </p:nvSpPr>
        <p:spPr>
          <a:xfrm xmlns:a="http://schemas.openxmlformats.org/drawingml/2006/main">
            <a:off x="6134100" y="1868329"/>
            <a:ext cx="1457325" cy="1297019"/>
          </a:xfrm>
          <a:prstGeom xmlns:a="http://schemas.openxmlformats.org/drawingml/2006/main" prst="rect">
            <a:avLst/>
          </a:prstGeom>
          <a:solidFill xmlns:a="http://schemas.openxmlformats.org/drawingml/2006/main">
            <a:srgbClr val="FFFFFF"/>
          </a:solidFill>
          <a:ln xmlns:a="http://schemas.openxmlformats.org/drawingml/2006/main" w="12383">
            <a:solidFill>
              <a:srgbClr val="CCD4DE"/>
            </a:solidFill>
            <a:prstDash val="solid"/>
          </a:ln>
        </p:spPr>
      </p:sp>
      <p:sp>
        <p:nvSpPr>
          <p:cNvPr id="17431" name="text-198">
            <a:extLst xmlns:a="http://schemas.openxmlformats.org/drawingml/2006/main">
              <a:ext uri="{FF2B5EF4-FFF2-40B4-BE49-F238E27FC236}">
                <a16:creationId xmlns:a16="http://schemas.microsoft.com/office/drawing/2014/main" id="{F3D16A96-B225-459F-BA6E-B1A849784B85}"/>
              </a:ext>
            </a:extLst>
          </p:cNvPr>
          <p:cNvSpPr>
            <a:spLocks xmlns:a="http://schemas.openxmlformats.org/drawingml/2006/main" noGrp="1"/>
          </p:cNvSpPr>
          <p:nvPr/>
        </p:nvSpPr>
        <p:spPr>
          <a:xfrm xmlns:a="http://schemas.openxmlformats.org/drawingml/2006/main">
            <a:off x="7820025" y="1885283"/>
            <a:ext cx="3971925" cy="228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18" b="1">
                <a:solidFill>
                  <a:srgbClr val="141414"/>
                </a:solidFill>
                <a:latin typeface="Arial"/>
                <a:ea typeface="Arial"/>
                <a:cs typeface="Arial"/>
              </a:defRPr>
            </a:pPr>
            <a:r>
              <a:rPr sz="1418" b="1">
                <a:solidFill>
                  <a:srgbClr val="141414"/>
                </a:solidFill>
                <a:latin typeface="Arial"/>
                <a:ea typeface="Arial"/>
                <a:cs typeface="Arial"/>
              </a:rPr>
              <a:t>WORKING PROTOTYPE VIDEO</a:t>
            </a:r>
          </a:p>
        </p:txBody>
      </p:sp>
      <p:sp>
        <p:nvSpPr>
          <p:cNvPr id="17432" name="text-199">
            <a:extLst xmlns:a="http://schemas.openxmlformats.org/drawingml/2006/main">
              <a:ext uri="{FF2B5EF4-FFF2-40B4-BE49-F238E27FC236}">
                <a16:creationId xmlns:a16="http://schemas.microsoft.com/office/drawing/2014/main" id="{48746FC9-9E13-45B7-9849-5EB895619F2E}"/>
              </a:ext>
            </a:extLst>
          </p:cNvPr>
          <p:cNvSpPr>
            <a:spLocks xmlns:a="http://schemas.openxmlformats.org/drawingml/2006/main" noGrp="1"/>
          </p:cNvSpPr>
          <p:nvPr/>
        </p:nvSpPr>
        <p:spPr>
          <a:xfrm xmlns:a="http://schemas.openxmlformats.org/drawingml/2006/main">
            <a:off x="7820025" y="2232851"/>
            <a:ext cx="3971925" cy="4577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Movement → detection → data transfer</a:t>
            </a:r>
          </a:p>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 warning → fault test</a:t>
            </a:r>
          </a:p>
        </p:txBody>
      </p:sp>
      <p:sp>
        <p:nvSpPr>
          <p:cNvPr id="17433" name="text-200">
            <a:extLst xmlns:a="http://schemas.openxmlformats.org/drawingml/2006/main">
              <a:ext uri="{FF2B5EF4-FFF2-40B4-BE49-F238E27FC236}">
                <a16:creationId xmlns:a16="http://schemas.microsoft.com/office/drawing/2014/main" id="{7962E373-5DA1-4564-9EB4-8C14C71BB99B}"/>
              </a:ext>
            </a:extLst>
          </p:cNvPr>
          <p:cNvSpPr>
            <a:spLocks xmlns:a="http://schemas.openxmlformats.org/drawingml/2006/main" noGrp="1"/>
          </p:cNvSpPr>
          <p:nvPr/>
        </p:nvSpPr>
        <p:spPr>
          <a:xfrm xmlns:a="http://schemas.openxmlformats.org/drawingml/2006/main">
            <a:off x="7820025" y="2885599"/>
            <a:ext cx="3971925" cy="2288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0">
                <a:solidFill>
                  <a:srgbClr val="505C6B"/>
                </a:solidFill>
                <a:latin typeface="Arial"/>
                <a:ea typeface="Arial"/>
                <a:cs typeface="Arial"/>
              </a:defRPr>
            </a:pPr>
            <a:r>
              <a:rPr sz="1148" b="0">
                <a:solidFill>
                  <a:srgbClr val="505C6B"/>
                </a:solidFill>
                <a:latin typeface="Arial"/>
                <a:ea typeface="Arial"/>
                <a:cs typeface="Arial"/>
              </a:rPr>
              <a:t>2–3 minute demonstration</a:t>
            </a:r>
          </a:p>
        </p:txBody>
      </p:sp>
      <p:sp>
        <p:nvSpPr>
          <p:cNvPr id="17434" name="engineering-evidence-qr">
            <a:extLst xmlns:a="http://schemas.openxmlformats.org/drawingml/2006/main">
              <a:ext uri="{FF2B5EF4-FFF2-40B4-BE49-F238E27FC236}">
                <a16:creationId xmlns:a16="http://schemas.microsoft.com/office/drawing/2014/main" id="{DD0FD802-383A-46D3-919C-57708C6A8A38}"/>
              </a:ext>
            </a:extLst>
          </p:cNvPr>
          <p:cNvSpPr>
            <a:spLocks xmlns:a="http://schemas.openxmlformats.org/drawingml/2006/main" noGrp="1"/>
          </p:cNvSpPr>
          <p:nvPr/>
        </p:nvSpPr>
        <p:spPr>
          <a:xfrm xmlns:a="http://schemas.openxmlformats.org/drawingml/2006/main">
            <a:off x="6134100" y="3385757"/>
            <a:ext cx="1228725" cy="1093565"/>
          </a:xfrm>
          <a:prstGeom xmlns:a="http://schemas.openxmlformats.org/drawingml/2006/main" prst="rect">
            <a:avLst/>
          </a:prstGeom>
          <a:solidFill xmlns:a="http://schemas.openxmlformats.org/drawingml/2006/main">
            <a:srgbClr val="FFFFFF"/>
          </a:solidFill>
          <a:ln xmlns:a="http://schemas.openxmlformats.org/drawingml/2006/main" w="12383">
            <a:solidFill>
              <a:srgbClr val="CCD4DE"/>
            </a:solidFill>
            <a:prstDash val="solid"/>
          </a:ln>
        </p:spPr>
      </p:sp>
      <p:sp>
        <p:nvSpPr>
          <p:cNvPr id="17435" name="text-201">
            <a:extLst xmlns:a="http://schemas.openxmlformats.org/drawingml/2006/main">
              <a:ext uri="{FF2B5EF4-FFF2-40B4-BE49-F238E27FC236}">
                <a16:creationId xmlns:a16="http://schemas.microsoft.com/office/drawing/2014/main" id="{5CAA22A7-0D84-490C-8767-17A8738294D7}"/>
              </a:ext>
            </a:extLst>
          </p:cNvPr>
          <p:cNvSpPr>
            <a:spLocks xmlns:a="http://schemas.openxmlformats.org/drawingml/2006/main" noGrp="1"/>
          </p:cNvSpPr>
          <p:nvPr/>
        </p:nvSpPr>
        <p:spPr>
          <a:xfrm xmlns:a="http://schemas.openxmlformats.org/drawingml/2006/main">
            <a:off x="7610475" y="3394234"/>
            <a:ext cx="4181475" cy="254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18" b="1">
                <a:solidFill>
                  <a:srgbClr val="141414"/>
                </a:solidFill>
                <a:latin typeface="Arial"/>
                <a:ea typeface="Arial"/>
                <a:cs typeface="Arial"/>
              </a:defRPr>
            </a:pPr>
            <a:r>
              <a:rPr sz="1418" b="1">
                <a:solidFill>
                  <a:srgbClr val="141414"/>
                </a:solidFill>
                <a:latin typeface="Arial"/>
                <a:ea typeface="Arial"/>
                <a:cs typeface="Arial"/>
              </a:rPr>
              <a:t>GITHUB / ENGINEERING EVIDENCE</a:t>
            </a:r>
          </a:p>
        </p:txBody>
      </p:sp>
      <p:sp>
        <p:nvSpPr>
          <p:cNvPr id="17436" name="text-202">
            <a:extLst xmlns:a="http://schemas.openxmlformats.org/drawingml/2006/main">
              <a:ext uri="{FF2B5EF4-FFF2-40B4-BE49-F238E27FC236}">
                <a16:creationId xmlns:a16="http://schemas.microsoft.com/office/drawing/2014/main" id="{01493F06-B46A-4A20-B1C0-8FA7D081DF6F}"/>
              </a:ext>
            </a:extLst>
          </p:cNvPr>
          <p:cNvSpPr>
            <a:spLocks xmlns:a="http://schemas.openxmlformats.org/drawingml/2006/main" noGrp="1"/>
          </p:cNvSpPr>
          <p:nvPr/>
        </p:nvSpPr>
        <p:spPr>
          <a:xfrm xmlns:a="http://schemas.openxmlformats.org/drawingml/2006/main">
            <a:off x="7610475" y="3750278"/>
            <a:ext cx="4181475" cy="6697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Firmware, wiring and architecture</a:t>
            </a:r>
          </a:p>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Test logs and prototype photographs</a:t>
            </a:r>
          </a:p>
          <a:p xmlns:a="http://schemas.openxmlformats.org/drawingml/2006/main">
            <a:pPr algn="l">
              <a:defRPr sz="1350" b="0">
                <a:solidFill>
                  <a:srgbClr val="141414"/>
                </a:solidFill>
                <a:latin typeface="Arial"/>
                <a:ea typeface="Arial"/>
                <a:cs typeface="Arial"/>
              </a:defRPr>
            </a:pPr>
            <a:r>
              <a:rPr sz="1350" b="0">
                <a:solidFill>
                  <a:srgbClr val="141414"/>
                </a:solidFill>
                <a:latin typeface="Arial"/>
                <a:ea typeface="Arial"/>
                <a:cs typeface="Arial"/>
              </a:rPr>
              <a:t>Calibration and limitations</a:t>
            </a:r>
          </a:p>
        </p:txBody>
      </p:sp>
      <p:sp>
        <p:nvSpPr>
          <p:cNvPr id="17437" name="measured-result-evidence">
            <a:extLst xmlns:a="http://schemas.openxmlformats.org/drawingml/2006/main">
              <a:ext uri="{FF2B5EF4-FFF2-40B4-BE49-F238E27FC236}">
                <a16:creationId xmlns:a16="http://schemas.microsoft.com/office/drawing/2014/main" id="{B1021473-68EB-4A26-BB74-589E8F0D04AD}"/>
              </a:ext>
            </a:extLst>
          </p:cNvPr>
          <p:cNvSpPr>
            <a:spLocks xmlns:a="http://schemas.openxmlformats.org/drawingml/2006/main" noGrp="1"/>
          </p:cNvSpPr>
          <p:nvPr/>
        </p:nvSpPr>
        <p:spPr>
          <a:xfrm xmlns:a="http://schemas.openxmlformats.org/drawingml/2006/main">
            <a:off x="6134100" y="4733639"/>
            <a:ext cx="5657850" cy="949452"/>
          </a:xfrm>
          <a:prstGeom xmlns:a="http://schemas.openxmlformats.org/drawingml/2006/main" prst="rect">
            <a:avLst/>
          </a:prstGeom>
          <a:solidFill xmlns:a="http://schemas.openxmlformats.org/drawingml/2006/main">
            <a:srgbClr val="FFFFFF"/>
          </a:solidFill>
          <a:ln xmlns:a="http://schemas.openxmlformats.org/drawingml/2006/main" w="12383">
            <a:solidFill>
              <a:srgbClr val="CCD4DE"/>
            </a:solidFill>
            <a:prstDash val="solid"/>
          </a:ln>
        </p:spPr>
      </p:sp>
      <p:sp>
        <p:nvSpPr>
          <p:cNvPr id="17438" name="text-203">
            <a:extLst xmlns:a="http://schemas.openxmlformats.org/drawingml/2006/main">
              <a:ext uri="{FF2B5EF4-FFF2-40B4-BE49-F238E27FC236}">
                <a16:creationId xmlns:a16="http://schemas.microsoft.com/office/drawing/2014/main" id="{997B9B40-8396-4954-A4E6-EE40FD4C7454}"/>
              </a:ext>
            </a:extLst>
          </p:cNvPr>
          <p:cNvSpPr>
            <a:spLocks xmlns:a="http://schemas.openxmlformats.org/drawingml/2006/main" noGrp="1"/>
          </p:cNvSpPr>
          <p:nvPr/>
        </p:nvSpPr>
        <p:spPr>
          <a:xfrm xmlns:a="http://schemas.openxmlformats.org/drawingml/2006/main">
            <a:off x="6134100" y="5742432"/>
            <a:ext cx="5657850" cy="2034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45" b="0">
                <a:solidFill>
                  <a:srgbClr val="505C6B"/>
                </a:solidFill>
                <a:latin typeface="Arial"/>
                <a:ea typeface="Arial"/>
                <a:cs typeface="Arial"/>
              </a:defRPr>
            </a:pPr>
            <a:r>
              <a:rPr sz="945" b="0">
                <a:solidFill>
                  <a:srgbClr val="505C6B"/>
                </a:solidFill>
                <a:latin typeface="Arial"/>
                <a:ea typeface="Arial"/>
                <a:cs typeface="Arial"/>
              </a:rPr>
              <a:t>Measured result / FAULT–STALE or LCD evidence</a:t>
            </a:r>
          </a:p>
        </p:txBody>
      </p:sp>
      <p:pic>
        <p:nvPicPr>
          <p:cNvPr id="17480" name=""/>
          <p:cNvPicPr>
            <a:picLocks xmlns:a="http://schemas.openxmlformats.org/drawingml/2006/main" noChangeAspect="1"/>
          </p:cNvPicPr>
          <p:nvPr/>
        </p:nvPicPr>
        <p:blipFill>
          <a:blip xmlns:r="http://schemas.openxmlformats.org/officeDocument/2006/relationships" xmlns:a="http://schemas.openxmlformats.org/drawingml/2006/main" r:embed="R4dfb207cf6934956"/>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40" name="SIH team name">
            <a:extLst xmlns:a="http://schemas.openxmlformats.org/drawingml/2006/main">
              <a:ext uri="{FF2B5EF4-FFF2-40B4-BE49-F238E27FC236}">
                <a16:creationId xmlns:a16="http://schemas.microsoft.com/office/drawing/2014/main" id="{E6DD185E-097C-4C2F-84E1-9898B3FFA7BD}"/>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We</a:t>
            </a:r>
          </a:p>
          <a:p xmlns:a="http://schemas.openxmlformats.org/drawingml/2006/main">
            <a:pPr algn="ctr">
              <a:defRPr sz="1800">
                <a:solidFill>
                  <a:srgbClr val="000000"/>
                </a:solidFill>
                <a:latin typeface="Calibri"/>
                <a:ea typeface="Calibri"/>
                <a:cs typeface="Calibri"/>
              </a:defRPr>
            </a:pPr>
            <a:r>
              <a:rPr sz="1800">
                <a:solidFill>
                  <a:srgbClr val="000000"/>
                </a:solidFill>
                <a:latin typeface="Calibri"/>
                <a:ea typeface="Calibri"/>
                <a:cs typeface="Calibri"/>
              </a:rPr>
              <a:t>Cook</a:t>
            </a:r>
          </a:p>
        </p:txBody>
      </p:sp>
      <p:sp>
        <p:nvSpPr>
          <p:cNvPr id="17441" name="text-232">
            <a:extLst xmlns:a="http://schemas.openxmlformats.org/drawingml/2006/main">
              <a:ext uri="{FF2B5EF4-FFF2-40B4-BE49-F238E27FC236}">
                <a16:creationId xmlns:a16="http://schemas.microsoft.com/office/drawing/2014/main" id="{2C0E41C2-3051-4B0F-AA36-7BD390A55B5D}"/>
              </a:ext>
            </a:extLst>
          </p:cNvPr>
          <p:cNvSpPr>
            <a:spLocks xmlns:a="http://schemas.openxmlformats.org/drawingml/2006/main" noGrp="1"/>
          </p:cNvSpPr>
          <p:nvPr/>
        </p:nvSpPr>
        <p:spPr>
          <a:xfrm xmlns:a="http://schemas.openxmlformats.org/drawingml/2006/main">
            <a:off x="4648200" y="6467475"/>
            <a:ext cx="32040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0">
                <a:solidFill>
                  <a:srgbClr val="FFFFFF"/>
                </a:solidFill>
                <a:latin typeface="Calibri"/>
                <a:ea typeface="Calibri"/>
                <a:cs typeface="Calibri"/>
              </a:defRPr>
            </a:pPr>
            <a:r>
              <a:rPr sz="1125" b="0">
                <a:solidFill>
                  <a:srgbClr val="FFFFFF"/>
                </a:solidFill>
                <a:latin typeface="Calibri"/>
                <a:ea typeface="Calibri"/>
                <a:cs typeface="Calibri"/>
              </a:rPr>
              <a:t>@SIH Idea submission- Template</a:t>
            </a:r>
          </a:p>
        </p:txBody>
      </p:sp>
      <p:sp>
        <p:nvSpPr>
          <p:cNvPr id="17442" name="frame-233">
            <a:extLst xmlns:a="http://schemas.openxmlformats.org/drawingml/2006/main">
              <a:ext uri="{FF2B5EF4-FFF2-40B4-BE49-F238E27FC236}">
                <a16:creationId xmlns:a16="http://schemas.microsoft.com/office/drawing/2014/main" id="{DFE4E30E-08AB-4A2C-8CB1-EC88B2644FA2}"/>
              </a:ext>
            </a:extLst>
          </p:cNvPr>
          <p:cNvSpPr>
            <a:spLocks xmlns:a="http://schemas.openxmlformats.org/drawingml/2006/main" noGrp="1"/>
          </p:cNvSpPr>
          <p:nvPr/>
        </p:nvSpPr>
        <p:spPr>
          <a:xfrm xmlns:a="http://schemas.openxmlformats.org/drawingml/2006/main">
            <a:off x="2800350" y="6162675"/>
            <a:ext cx="219075" cy="114300"/>
          </a:xfrm>
          <a:prstGeom xmlns:a="http://schemas.openxmlformats.org/drawingml/2006/main" prst="rect">
            <a:avLst/>
          </a:prstGeom>
          <a:noFill xmlns:a="http://schemas.openxmlformats.org/drawingml/2006/main"/>
          <a:ln xmlns:a="http://schemas.openxmlformats.org/drawingml/2006/main" w="11430">
            <a:solidFill>
              <a:srgbClr val="214E85"/>
            </a:solidFill>
            <a:prstDash val="solid"/>
          </a:ln>
        </p:spPr>
      </p:sp>
      <p:sp>
        <p:nvSpPr>
          <p:cNvPr id="17443" name="text-234">
            <a:extLst xmlns:a="http://schemas.openxmlformats.org/drawingml/2006/main">
              <a:ext uri="{FF2B5EF4-FFF2-40B4-BE49-F238E27FC236}">
                <a16:creationId xmlns:a16="http://schemas.microsoft.com/office/drawing/2014/main" id="{5F3454D4-DC06-4BBE-90CD-F4C31A1C1E98}"/>
              </a:ext>
            </a:extLst>
          </p:cNvPr>
          <p:cNvSpPr>
            <a:spLocks xmlns:a="http://schemas.openxmlformats.org/drawingml/2006/main" noGrp="1"/>
          </p:cNvSpPr>
          <p:nvPr/>
        </p:nvSpPr>
        <p:spPr>
          <a:xfrm xmlns:a="http://schemas.openxmlformats.org/drawingml/2006/main">
            <a:off x="3095625" y="6143625"/>
            <a:ext cx="2076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CURRENT PROTOTYPE</a:t>
            </a:r>
          </a:p>
        </p:txBody>
      </p:sp>
      <p:sp>
        <p:nvSpPr>
          <p:cNvPr id="17444" name="frame-235">
            <a:extLst xmlns:a="http://schemas.openxmlformats.org/drawingml/2006/main">
              <a:ext uri="{FF2B5EF4-FFF2-40B4-BE49-F238E27FC236}">
                <a16:creationId xmlns:a16="http://schemas.microsoft.com/office/drawing/2014/main" id="{6B974E66-6C47-4BFB-A236-C22426AC3BED}"/>
              </a:ext>
            </a:extLst>
          </p:cNvPr>
          <p:cNvSpPr>
            <a:spLocks xmlns:a="http://schemas.openxmlformats.org/drawingml/2006/main" noGrp="1"/>
          </p:cNvSpPr>
          <p:nvPr/>
        </p:nvSpPr>
        <p:spPr>
          <a:xfrm xmlns:a="http://schemas.openxmlformats.org/drawingml/2006/main">
            <a:off x="5210175" y="6162675"/>
            <a:ext cx="219075" cy="114300"/>
          </a:xfrm>
          <a:prstGeom xmlns:a="http://schemas.openxmlformats.org/drawingml/2006/main" prst="rect">
            <a:avLst/>
          </a:prstGeom>
          <a:noFill xmlns:a="http://schemas.openxmlformats.org/drawingml/2006/main"/>
          <a:ln xmlns:a="http://schemas.openxmlformats.org/drawingml/2006/main" w="11430">
            <a:solidFill>
              <a:srgbClr val="0070C0"/>
            </a:solidFill>
            <a:prstDash val="dash"/>
          </a:ln>
        </p:spPr>
      </p:sp>
      <p:sp>
        <p:nvSpPr>
          <p:cNvPr id="17445" name="text-236">
            <a:extLst xmlns:a="http://schemas.openxmlformats.org/drawingml/2006/main">
              <a:ext uri="{FF2B5EF4-FFF2-40B4-BE49-F238E27FC236}">
                <a16:creationId xmlns:a16="http://schemas.microsoft.com/office/drawing/2014/main" id="{75169CE7-2CA8-4538-AADD-8BBA33C7BB07}"/>
              </a:ext>
            </a:extLst>
          </p:cNvPr>
          <p:cNvSpPr>
            <a:spLocks xmlns:a="http://schemas.openxmlformats.org/drawingml/2006/main" noGrp="1"/>
          </p:cNvSpPr>
          <p:nvPr/>
        </p:nvSpPr>
        <p:spPr>
          <a:xfrm xmlns:a="http://schemas.openxmlformats.org/drawingml/2006/main">
            <a:off x="5505450" y="61436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PLANNED FIELD SYSTEM</a:t>
            </a:r>
          </a:p>
        </p:txBody>
      </p:sp>
      <p:sp>
        <p:nvSpPr>
          <p:cNvPr id="17446" name="frame-237">
            <a:extLst xmlns:a="http://schemas.openxmlformats.org/drawingml/2006/main">
              <a:ext uri="{FF2B5EF4-FFF2-40B4-BE49-F238E27FC236}">
                <a16:creationId xmlns:a16="http://schemas.microsoft.com/office/drawing/2014/main" id="{1AC0AAB7-5F0D-4020-ADCC-C958AA2A3921}"/>
              </a:ext>
            </a:extLst>
          </p:cNvPr>
          <p:cNvSpPr>
            <a:spLocks xmlns:a="http://schemas.openxmlformats.org/drawingml/2006/main" noGrp="1"/>
          </p:cNvSpPr>
          <p:nvPr/>
        </p:nvSpPr>
        <p:spPr>
          <a:xfrm xmlns:a="http://schemas.openxmlformats.org/drawingml/2006/main">
            <a:off x="7905750" y="6162675"/>
            <a:ext cx="219075" cy="114300"/>
          </a:xfrm>
          <a:prstGeom xmlns:a="http://schemas.openxmlformats.org/drawingml/2006/main" prst="rect">
            <a:avLst/>
          </a:prstGeom>
          <a:noFill xmlns:a="http://schemas.openxmlformats.org/drawingml/2006/main"/>
          <a:ln xmlns:a="http://schemas.openxmlformats.org/drawingml/2006/main" w="11430">
            <a:solidFill>
              <a:srgbClr val="8494A8"/>
            </a:solidFill>
            <a:prstDash val="dot"/>
          </a:ln>
        </p:spPr>
      </p:sp>
      <p:sp>
        <p:nvSpPr>
          <p:cNvPr id="17447" name="text-238">
            <a:extLst xmlns:a="http://schemas.openxmlformats.org/drawingml/2006/main">
              <a:ext uri="{FF2B5EF4-FFF2-40B4-BE49-F238E27FC236}">
                <a16:creationId xmlns:a16="http://schemas.microsoft.com/office/drawing/2014/main" id="{37CFE440-8B1C-431B-A527-8D13AE508DED}"/>
              </a:ext>
            </a:extLst>
          </p:cNvPr>
          <p:cNvSpPr>
            <a:spLocks xmlns:a="http://schemas.openxmlformats.org/drawingml/2006/main" noGrp="1"/>
          </p:cNvSpPr>
          <p:nvPr/>
        </p:nvSpPr>
        <p:spPr>
          <a:xfrm xmlns:a="http://schemas.openxmlformats.org/drawingml/2006/main">
            <a:off x="8201025" y="6143625"/>
            <a:ext cx="1476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505C6B"/>
                </a:solidFill>
                <a:latin typeface="Arial"/>
                <a:ea typeface="Arial"/>
                <a:cs typeface="Arial"/>
              </a:defRPr>
            </a:pPr>
            <a:r>
              <a:rPr sz="900" b="0">
                <a:solidFill>
                  <a:srgbClr val="505C6B"/>
                </a:solidFill>
                <a:latin typeface="Arial"/>
                <a:ea typeface="Arial"/>
                <a:cs typeface="Arial"/>
              </a:rPr>
              <a:t>FUTURE R&amp;D</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2026-09-29T01:54:41.6370000Z</dcterms:created>
  <dcterms:modified xsi:type="dcterms:W3CDTF">2026-09-29T01:54:41.6370000Z</dcterms:modified>
</coreProperties>
</file>